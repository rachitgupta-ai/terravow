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5.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82" r:id="rId2"/>
    <p:sldId id="256" r:id="rId3"/>
    <p:sldId id="257" r:id="rId4"/>
    <p:sldId id="258" r:id="rId5"/>
    <p:sldId id="259" r:id="rId6"/>
    <p:sldId id="260" r:id="rId7"/>
    <p:sldId id="270" r:id="rId8"/>
    <p:sldId id="261" r:id="rId9"/>
    <p:sldId id="262" r:id="rId10"/>
    <p:sldId id="263" r:id="rId11"/>
    <p:sldId id="264" r:id="rId12"/>
    <p:sldId id="265" r:id="rId13"/>
    <p:sldId id="266" r:id="rId14"/>
    <p:sldId id="267" r:id="rId15"/>
    <p:sldId id="268" r:id="rId16"/>
    <p:sldId id="269" r:id="rId17"/>
    <p:sldId id="271" r:id="rId18"/>
    <p:sldId id="272" r:id="rId19"/>
    <p:sldId id="273"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56"/>
  </p:normalViewPr>
  <p:slideViewPr>
    <p:cSldViewPr snapToGrid="0" snapToObjects="1">
      <p:cViewPr varScale="1">
        <p:scale>
          <a:sx n="112" d="100"/>
          <a:sy n="112" d="100"/>
        </p:scale>
        <p:origin x="76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Share of 2019 net global GHG emissions (%)</c:v>
                </c:pt>
              </c:strCache>
            </c:strRef>
          </c:tx>
          <c:spPr>
            <a:solidFill>
              <a:srgbClr val="4A5B6B"/>
            </a:solidFill>
          </c:spPr>
          <c:invertIfNegative val="1"/>
          <c:dPt>
            <c:idx val="1"/>
            <c:invertIfNegative val="1"/>
            <c:bubble3D val="0"/>
            <c:spPr>
              <a:solidFill>
                <a:srgbClr val="FF7A7A"/>
              </a:solidFill>
            </c:spPr>
            <c:extLst>
              <c:ext xmlns:c16="http://schemas.microsoft.com/office/drawing/2014/chart" uri="{C3380CC4-5D6E-409C-BE32-E72D297353CC}">
                <c16:uniqueId val="{00000001-8789-1848-9EDF-906B1F1D62D8}"/>
              </c:ext>
            </c:extLst>
          </c:dPt>
          <c:dLbls>
            <c:numFmt formatCode="0&quot;%&quot;" sourceLinked="0"/>
            <c:spPr>
              <a:noFill/>
              <a:ln>
                <a:noFill/>
              </a:ln>
              <a:effectLst/>
            </c:spPr>
            <c:txPr>
              <a:bodyPr/>
              <a:lstStyle/>
              <a:p>
                <a:pPr>
                  <a:defRPr sz="1300" b="1">
                    <a:solidFill>
                      <a:srgbClr val="F0F4F8"/>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Energy supply</c:v>
                </c:pt>
                <c:pt idx="1">
                  <c:v>Industry</c:v>
                </c:pt>
                <c:pt idx="2">
                  <c:v>Agriculture, land use</c:v>
                </c:pt>
                <c:pt idx="3">
                  <c:v>Transport</c:v>
                </c:pt>
                <c:pt idx="4">
                  <c:v>Buildings</c:v>
                </c:pt>
              </c:strCache>
            </c:strRef>
          </c:cat>
          <c:val>
            <c:numRef>
              <c:f>Sheet1!$B$2:$B$6</c:f>
              <c:numCache>
                <c:formatCode>General</c:formatCode>
                <c:ptCount val="5"/>
                <c:pt idx="0">
                  <c:v>34</c:v>
                </c:pt>
                <c:pt idx="1">
                  <c:v>24</c:v>
                </c:pt>
                <c:pt idx="2">
                  <c:v>22</c:v>
                </c:pt>
                <c:pt idx="3">
                  <c:v>15</c:v>
                </c:pt>
                <c:pt idx="4">
                  <c:v>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8789-1848-9EDF-906B1F1D62D8}"/>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3A4F61"/>
            </a:solidFill>
          </a:ln>
        </c:spPr>
        <c:txPr>
          <a:bodyPr/>
          <a:lstStyle/>
          <a:p>
            <a:pPr>
              <a:defRPr sz="1200">
                <a:solidFill>
                  <a:srgbClr val="F0F4F8"/>
                </a:solidFill>
                <a:latin typeface="Calibri"/>
              </a:defRPr>
            </a:pPr>
            <a:endParaRPr lang="en-US"/>
          </a:p>
        </c:txPr>
        <c:crossAx val="-2113994440"/>
        <c:crosses val="autoZero"/>
        <c:auto val="1"/>
        <c:lblAlgn val="ctr"/>
        <c:lblOffset val="100"/>
        <c:noMultiLvlLbl val="0"/>
      </c:catAx>
      <c:valAx>
        <c:axId val="-2113994440"/>
        <c:scaling>
          <c:orientation val="minMax"/>
          <c:max val="42"/>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Health score (0-100)</c:v>
                </c:pt>
              </c:strCache>
            </c:strRef>
          </c:tx>
          <c:spPr>
            <a:ln w="34925">
              <a:solidFill>
                <a:srgbClr val="3DDC97"/>
              </a:solidFill>
            </a:ln>
          </c:spPr>
          <c:marker>
            <c:spPr>
              <a:solidFill>
                <a:srgbClr val="3DDC97"/>
              </a:solidFill>
              <a:ln>
                <a:solidFill>
                  <a:srgbClr val="3DDC97"/>
                </a:solidFill>
              </a:ln>
            </c:spPr>
          </c:marker>
          <c:dLbls>
            <c:dLbl>
              <c:idx val="11"/>
              <c:tx>
                <c:rich>
                  <a:bodyPr/>
                  <a:lstStyle/>
                  <a:p>
                    <a:r>
                      <a:rPr lang="en-US" sz="1300" b="1">
                        <a:solidFill>
                          <a:srgbClr val="3DDC97"/>
                        </a:solidFill>
                      </a:rPr>
                      <a:t>28.4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380-9442-9D25-2C935FBB581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Sheet1!$B$2:$B$13</c:f>
              <c:numCache>
                <c:formatCode>General</c:formatCode>
                <c:ptCount val="12"/>
                <c:pt idx="0">
                  <c:v>66.8</c:v>
                </c:pt>
                <c:pt idx="1">
                  <c:v>82.7</c:v>
                </c:pt>
                <c:pt idx="2">
                  <c:v>82.3</c:v>
                </c:pt>
                <c:pt idx="3">
                  <c:v>79.400000000000006</c:v>
                </c:pt>
                <c:pt idx="4">
                  <c:v>79.099999999999994</c:v>
                </c:pt>
                <c:pt idx="5">
                  <c:v>78.7</c:v>
                </c:pt>
                <c:pt idx="6">
                  <c:v>65.8</c:v>
                </c:pt>
                <c:pt idx="7">
                  <c:v>71.400000000000006</c:v>
                </c:pt>
                <c:pt idx="8">
                  <c:v>71.099999999999994</c:v>
                </c:pt>
                <c:pt idx="9">
                  <c:v>57.2</c:v>
                </c:pt>
                <c:pt idx="10">
                  <c:v>43.3</c:v>
                </c:pt>
                <c:pt idx="11">
                  <c:v>28.4</c:v>
                </c:pt>
              </c:numCache>
            </c:numRef>
          </c:val>
          <c:smooth val="0"/>
          <c:extLst>
            <c:ext xmlns:c16="http://schemas.microsoft.com/office/drawing/2014/chart" uri="{C3380CC4-5D6E-409C-BE32-E72D297353CC}">
              <c16:uniqueId val="{00000001-3380-9442-9D25-2C935FBB5819}"/>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3A4F61"/>
            </a:solidFill>
          </a:ln>
        </c:spPr>
        <c:txPr>
          <a:bodyPr/>
          <a:lstStyle/>
          <a:p>
            <a:pPr>
              <a:defRPr sz="1000">
                <a:solidFill>
                  <a:srgbClr val="9FB3C8"/>
                </a:solidFill>
                <a:latin typeface="Calibri"/>
              </a:defRPr>
            </a:pPr>
            <a:endParaRPr lang="en-US"/>
          </a:p>
        </c:txPr>
        <c:crossAx val="2140495176"/>
        <c:crosses val="autoZero"/>
        <c:auto val="1"/>
        <c:lblAlgn val="ctr"/>
        <c:lblOffset val="100"/>
        <c:noMultiLvlLbl val="0"/>
      </c:catAx>
      <c:valAx>
        <c:axId val="2140495176"/>
        <c:scaling>
          <c:orientation val="minMax"/>
          <c:max val="90"/>
          <c:min val="20"/>
        </c:scaling>
        <c:delete val="0"/>
        <c:axPos val="l"/>
        <c:majorGridlines>
          <c:spPr>
            <a:ln w="9525">
              <a:solidFill>
                <a:srgbClr val="22323F"/>
              </a:solidFill>
            </a:ln>
          </c:spPr>
        </c:majorGridlines>
        <c:numFmt formatCode="General" sourceLinked="1"/>
        <c:majorTickMark val="out"/>
        <c:minorTickMark val="none"/>
        <c:tickLblPos val="nextTo"/>
        <c:spPr>
          <a:ln>
            <a:noFill/>
          </a:ln>
        </c:spPr>
        <c:txPr>
          <a:bodyPr/>
          <a:lstStyle/>
          <a:p>
            <a:pPr>
              <a:defRPr sz="1000">
                <a:solidFill>
                  <a:srgbClr val="9FB3C8"/>
                </a:solidFill>
                <a:latin typeface="Calibri"/>
              </a:defRPr>
            </a:pPr>
            <a:endParaRPr lang="en-US"/>
          </a:p>
        </c:txPr>
        <c:crossAx val="2118791784"/>
        <c:crosses val="autoZero"/>
        <c:crossBetween val="between"/>
      </c:valAx>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Effluent, m3 per day</c:v>
                </c:pt>
              </c:strCache>
            </c:strRef>
          </c:tx>
          <c:spPr>
            <a:ln w="34925">
              <a:solidFill>
                <a:srgbClr val="FF7A7A"/>
              </a:solidFill>
            </a:ln>
          </c:spPr>
          <c:marker>
            <c:spPr>
              <a:solidFill>
                <a:srgbClr val="FF7A7A"/>
              </a:solidFill>
              <a:ln>
                <a:solidFill>
                  <a:srgbClr val="FF7A7A"/>
                </a:solidFill>
              </a:ln>
            </c:spPr>
          </c:marker>
          <c:dLbls>
            <c:dLbl>
              <c:idx val="11"/>
              <c:tx>
                <c:rich>
                  <a:bodyPr/>
                  <a:lstStyle/>
                  <a:p>
                    <a:r>
                      <a:rPr lang="en-US" sz="1300" b="1">
                        <a:solidFill>
                          <a:srgbClr val="FF7A7A"/>
                        </a:solidFill>
                      </a:rPr>
                      <a:t>918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A049-3C47-B316-AC2D8A763F8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Sheet1!$B$2:$B$13</c:f>
              <c:numCache>
                <c:formatCode>General</c:formatCode>
                <c:ptCount val="12"/>
                <c:pt idx="0">
                  <c:v>841.98</c:v>
                </c:pt>
                <c:pt idx="1">
                  <c:v>824.57</c:v>
                </c:pt>
                <c:pt idx="2">
                  <c:v>824.9</c:v>
                </c:pt>
                <c:pt idx="3">
                  <c:v>827.35</c:v>
                </c:pt>
                <c:pt idx="4">
                  <c:v>827.67</c:v>
                </c:pt>
                <c:pt idx="5">
                  <c:v>828</c:v>
                </c:pt>
                <c:pt idx="6">
                  <c:v>843.25</c:v>
                </c:pt>
                <c:pt idx="7">
                  <c:v>835.82</c:v>
                </c:pt>
                <c:pt idx="8">
                  <c:v>836.32</c:v>
                </c:pt>
                <c:pt idx="9">
                  <c:v>854.92</c:v>
                </c:pt>
                <c:pt idx="10">
                  <c:v>880.83</c:v>
                </c:pt>
                <c:pt idx="11">
                  <c:v>918.44</c:v>
                </c:pt>
              </c:numCache>
            </c:numRef>
          </c:val>
          <c:smooth val="0"/>
          <c:extLst>
            <c:ext xmlns:c16="http://schemas.microsoft.com/office/drawing/2014/chart" uri="{C3380CC4-5D6E-409C-BE32-E72D297353CC}">
              <c16:uniqueId val="{00000001-A049-3C47-B316-AC2D8A763F8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3A4F61"/>
            </a:solidFill>
          </a:ln>
        </c:spPr>
        <c:txPr>
          <a:bodyPr/>
          <a:lstStyle/>
          <a:p>
            <a:pPr>
              <a:defRPr sz="1000">
                <a:solidFill>
                  <a:srgbClr val="9FB3C8"/>
                </a:solidFill>
                <a:latin typeface="Calibri"/>
              </a:defRPr>
            </a:pPr>
            <a:endParaRPr lang="en-US"/>
          </a:p>
        </c:txPr>
        <c:crossAx val="2140495176"/>
        <c:crosses val="autoZero"/>
        <c:auto val="1"/>
        <c:lblAlgn val="ctr"/>
        <c:lblOffset val="100"/>
        <c:noMultiLvlLbl val="0"/>
      </c:catAx>
      <c:valAx>
        <c:axId val="2140495176"/>
        <c:scaling>
          <c:orientation val="minMax"/>
          <c:max val="940"/>
          <c:min val="780"/>
        </c:scaling>
        <c:delete val="0"/>
        <c:axPos val="l"/>
        <c:majorGridlines>
          <c:spPr>
            <a:ln w="9525">
              <a:solidFill>
                <a:srgbClr val="22323F"/>
              </a:solidFill>
            </a:ln>
          </c:spPr>
        </c:majorGridlines>
        <c:numFmt formatCode="General" sourceLinked="1"/>
        <c:majorTickMark val="out"/>
        <c:minorTickMark val="none"/>
        <c:tickLblPos val="nextTo"/>
        <c:spPr>
          <a:ln>
            <a:noFill/>
          </a:ln>
        </c:spPr>
        <c:txPr>
          <a:bodyPr/>
          <a:lstStyle/>
          <a:p>
            <a:pPr>
              <a:defRPr sz="1000">
                <a:solidFill>
                  <a:srgbClr val="9FB3C8"/>
                </a:solidFill>
                <a:latin typeface="Calibri"/>
              </a:defRPr>
            </a:pPr>
            <a:endParaRPr lang="en-US"/>
          </a:p>
        </c:txPr>
        <c:crossAx val="2118791784"/>
        <c:crosses val="autoZero"/>
        <c:crossBetween val="between"/>
      </c:valAx>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Health</c:v>
                </c:pt>
              </c:strCache>
            </c:strRef>
          </c:tx>
          <c:spPr>
            <a:ln w="31750">
              <a:solidFill>
                <a:srgbClr val="3DDC97"/>
              </a:solidFill>
            </a:ln>
          </c:spPr>
          <c:marker>
            <c:spPr>
              <a:solidFill>
                <a:srgbClr val="3DDC97"/>
              </a:solidFill>
              <a:ln>
                <a:solidFill>
                  <a:srgbClr val="3DDC97"/>
                </a:solidFill>
              </a:ln>
            </c:spPr>
          </c:marker>
          <c:cat>
            <c:strRef>
              <c:f>Sheet1!$A$2:$A$13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Sheet1!$B$2:$B$13</c:f>
              <c:numCache>
                <c:formatCode>General</c:formatCode>
                <c:ptCount val="12"/>
                <c:pt idx="0">
                  <c:v>66.8</c:v>
                </c:pt>
                <c:pt idx="1">
                  <c:v>82.7</c:v>
                </c:pt>
                <c:pt idx="2">
                  <c:v>82.3</c:v>
                </c:pt>
                <c:pt idx="3">
                  <c:v>79.400000000000006</c:v>
                </c:pt>
                <c:pt idx="4">
                  <c:v>79.099999999999994</c:v>
                </c:pt>
                <c:pt idx="5">
                  <c:v>78.7</c:v>
                </c:pt>
                <c:pt idx="6">
                  <c:v>65.8</c:v>
                </c:pt>
                <c:pt idx="7">
                  <c:v>71.400000000000006</c:v>
                </c:pt>
                <c:pt idx="8">
                  <c:v>71.099999999999994</c:v>
                </c:pt>
                <c:pt idx="9">
                  <c:v>57.2</c:v>
                </c:pt>
                <c:pt idx="10">
                  <c:v>43.3</c:v>
                </c:pt>
                <c:pt idx="11">
                  <c:v>28.4</c:v>
                </c:pt>
              </c:numCache>
            </c:numRef>
          </c:val>
          <c:smooth val="0"/>
          <c:extLst>
            <c:ext xmlns:c16="http://schemas.microsoft.com/office/drawing/2014/chart" uri="{C3380CC4-5D6E-409C-BE32-E72D297353CC}">
              <c16:uniqueId val="{00000000-185C-344C-A17E-51F095E7BBC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3A4F61"/>
            </a:solidFill>
          </a:ln>
        </c:spPr>
        <c:txPr>
          <a:bodyPr/>
          <a:lstStyle/>
          <a:p>
            <a:pPr>
              <a:defRPr sz="900">
                <a:solidFill>
                  <a:srgbClr val="9FB3C8"/>
                </a:solidFill>
                <a:latin typeface="Calibri"/>
              </a:defRPr>
            </a:pPr>
            <a:endParaRPr lang="en-US"/>
          </a:p>
        </c:txPr>
        <c:crossAx val="2140495176"/>
        <c:crosses val="autoZero"/>
        <c:auto val="1"/>
        <c:lblAlgn val="ctr"/>
        <c:lblOffset val="100"/>
        <c:noMultiLvlLbl val="0"/>
      </c:catAx>
      <c:valAx>
        <c:axId val="2140495176"/>
        <c:scaling>
          <c:orientation val="minMax"/>
          <c:max val="100"/>
          <c:min val="20"/>
        </c:scaling>
        <c:delete val="0"/>
        <c:axPos val="l"/>
        <c:majorGridlines>
          <c:spPr>
            <a:ln w="9525">
              <a:solidFill>
                <a:srgbClr val="22323F"/>
              </a:solidFill>
            </a:ln>
          </c:spPr>
        </c:majorGridlines>
        <c:numFmt formatCode="General" sourceLinked="1"/>
        <c:majorTickMark val="out"/>
        <c:minorTickMark val="none"/>
        <c:tickLblPos val="nextTo"/>
        <c:spPr>
          <a:ln>
            <a:noFill/>
          </a:ln>
        </c:spPr>
        <c:txPr>
          <a:bodyPr/>
          <a:lstStyle/>
          <a:p>
            <a:pPr>
              <a:defRPr sz="900">
                <a:solidFill>
                  <a:srgbClr val="9FB3C8"/>
                </a:solidFill>
                <a:latin typeface="Calibri"/>
              </a:defRPr>
            </a:pPr>
            <a:endParaRPr lang="en-US"/>
          </a:p>
        </c:txPr>
        <c:crossAx val="2118791784"/>
        <c:crosses val="autoZero"/>
        <c:crossBetween val="between"/>
        <c:majorUnit val="40"/>
      </c:valAx>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Cash payback</c:v>
                </c:pt>
              </c:strCache>
            </c:strRef>
          </c:tx>
          <c:spPr>
            <a:solidFill>
              <a:srgbClr val="4DA3F0"/>
            </a:solidFill>
          </c:spPr>
          <c:invertIfNegative val="1"/>
          <c:dLbls>
            <c:numFmt formatCode="0.0" sourceLinked="0"/>
            <c:spPr>
              <a:noFill/>
              <a:ln>
                <a:noFill/>
              </a:ln>
              <a:effectLst/>
            </c:spPr>
            <c:txPr>
              <a:bodyPr/>
              <a:lstStyle/>
              <a:p>
                <a:pPr>
                  <a:defRPr sz="1200" b="1">
                    <a:solidFill>
                      <a:srgbClr val="F0F4F8"/>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Dust suppression + closed-circuit grinding</c:v>
                </c:pt>
                <c:pt idx="1">
                  <c:v>High-efficiency kiln, heat recovery</c:v>
                </c:pt>
                <c:pt idx="2">
                  <c:v>Remanufacture worn components</c:v>
                </c:pt>
                <c:pt idx="3">
                  <c:v>Electric / hybrid drive</c:v>
                </c:pt>
              </c:strCache>
            </c:strRef>
          </c:cat>
          <c:val>
            <c:numRef>
              <c:f>Sheet1!$B$2:$B$5</c:f>
              <c:numCache>
                <c:formatCode>General</c:formatCode>
                <c:ptCount val="4"/>
                <c:pt idx="0">
                  <c:v>5.67</c:v>
                </c:pt>
                <c:pt idx="1">
                  <c:v>15.1</c:v>
                </c:pt>
                <c:pt idx="2">
                  <c:v>22.18</c:v>
                </c:pt>
                <c:pt idx="3">
                  <c:v>28.78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5FB-F648-9EEF-1EE5DBF76F78}"/>
            </c:ext>
          </c:extLst>
        </c:ser>
        <c:ser>
          <c:idx val="1"/>
          <c:order val="1"/>
          <c:tx>
            <c:strRef>
              <c:f>Sheet1!$C$1</c:f>
              <c:strCache>
                <c:ptCount val="1"/>
                <c:pt idx="0">
                  <c:v>Including exposure proxy (not cash)</c:v>
                </c:pt>
              </c:strCache>
            </c:strRef>
          </c:tx>
          <c:spPr>
            <a:solidFill>
              <a:srgbClr val="3DDC97"/>
            </a:solidFill>
          </c:spPr>
          <c:invertIfNegative val="1"/>
          <c:dLbls>
            <c:numFmt formatCode="0.0" sourceLinked="0"/>
            <c:spPr>
              <a:noFill/>
              <a:ln>
                <a:noFill/>
              </a:ln>
              <a:effectLst/>
            </c:spPr>
            <c:txPr>
              <a:bodyPr/>
              <a:lstStyle/>
              <a:p>
                <a:pPr>
                  <a:defRPr sz="1200" b="1">
                    <a:solidFill>
                      <a:srgbClr val="F0F4F8"/>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Dust suppression + closed-circuit grinding</c:v>
                </c:pt>
                <c:pt idx="1">
                  <c:v>High-efficiency kiln, heat recovery</c:v>
                </c:pt>
                <c:pt idx="2">
                  <c:v>Remanufacture worn components</c:v>
                </c:pt>
                <c:pt idx="3">
                  <c:v>Electric / hybrid drive</c:v>
                </c:pt>
              </c:strCache>
            </c:strRef>
          </c:cat>
          <c:val>
            <c:numRef>
              <c:f>Sheet1!$C$2:$C$5</c:f>
              <c:numCache>
                <c:formatCode>General</c:formatCode>
                <c:ptCount val="4"/>
                <c:pt idx="0">
                  <c:v>3.39</c:v>
                </c:pt>
                <c:pt idx="1">
                  <c:v>10.41</c:v>
                </c:pt>
                <c:pt idx="2">
                  <c:v>11.88</c:v>
                </c:pt>
                <c:pt idx="3">
                  <c:v>12.92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5FB-F648-9EEF-1EE5DBF76F78}"/>
            </c:ext>
          </c:extLst>
        </c:ser>
        <c:dLbls>
          <c:dLblPos val="outEnd"/>
          <c:showLegendKey val="0"/>
          <c:showVal val="1"/>
          <c:showCatName val="0"/>
          <c:showSerName val="0"/>
          <c:showPercent val="0"/>
          <c:showBubbleSize val="0"/>
        </c:dLbls>
        <c:gapWidth val="55"/>
        <c:overlap val="-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3A4F61"/>
            </a:solidFill>
          </a:ln>
        </c:spPr>
        <c:txPr>
          <a:bodyPr/>
          <a:lstStyle/>
          <a:p>
            <a:pPr>
              <a:defRPr sz="1200">
                <a:solidFill>
                  <a:srgbClr val="F0F4F8"/>
                </a:solidFill>
                <a:latin typeface="Calibri"/>
              </a:defRPr>
            </a:pPr>
            <a:endParaRPr lang="en-US"/>
          </a:p>
        </c:txPr>
        <c:crossAx val="-2113994440"/>
        <c:crosses val="autoZero"/>
        <c:auto val="1"/>
        <c:lblAlgn val="ctr"/>
        <c:lblOffset val="100"/>
        <c:noMultiLvlLbl val="0"/>
      </c:catAx>
      <c:valAx>
        <c:axId val="-2113994440"/>
        <c:scaling>
          <c:orientation val="minMax"/>
          <c:max val="35"/>
          <c:min val="0"/>
        </c:scaling>
        <c:delete val="0"/>
        <c:axPos val="t"/>
        <c:majorGridlines>
          <c:spPr>
            <a:ln w="9525">
              <a:solidFill>
                <a:srgbClr val="22323F"/>
              </a:solidFill>
            </a:ln>
          </c:spPr>
        </c:majorGridlines>
        <c:numFmt formatCode="General" sourceLinked="1"/>
        <c:majorTickMark val="out"/>
        <c:minorTickMark val="none"/>
        <c:tickLblPos val="nextTo"/>
        <c:spPr>
          <a:ln>
            <a:noFill/>
          </a:ln>
        </c:spPr>
        <c:txPr>
          <a:bodyPr/>
          <a:lstStyle/>
          <a:p>
            <a:pPr>
              <a:defRPr sz="1100">
                <a:solidFill>
                  <a:srgbClr val="9FB3C8"/>
                </a:solidFill>
                <a:latin typeface="Calibri"/>
              </a:defRPr>
            </a:pPr>
            <a:endParaRPr lang="en-US"/>
          </a:p>
        </c:txPr>
        <c:crossAx val="-2068027336"/>
        <c:crosses val="autoZero"/>
        <c:crossBetween val="between"/>
        <c:majorUnit val="5"/>
      </c:valAx>
    </c:plotArea>
    <c:legend>
      <c:legendPos val="b"/>
      <c:overlay val="0"/>
      <c:txPr>
        <a:bodyPr/>
        <a:lstStyle/>
        <a:p>
          <a:pPr>
            <a:defRPr sz="1200">
              <a:solidFill>
                <a:srgbClr val="F0F4F8"/>
              </a:solidFill>
            </a:defRPr>
          </a:pPr>
          <a:endParaRPr lang="en-US"/>
        </a:p>
      </c:txPr>
    </c:legend>
    <c:plotVisOnly val="1"/>
    <c:dispBlanksAs val="gap"/>
    <c:showDLblsOverMax val="1"/>
  </c:chart>
  <c:spPr>
    <a:noFill/>
    <a:ln>
      <a:noFill/>
    </a:ln>
  </c:spPr>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234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hook, slowly: everything in this room was made in a factory. Phones, medicines, the clothes we are wearing. Factories are the growth engine of the world, and they are also among its biggest polluters. TerraVow is the bridge between the two. It links the health of a machine to the pollution it creates, tells the operator what to fix and when, and shows greener options with the incentives that can pay for them. We built it on Google Cloud with Gemini, and every number you will see comes from a deterministic engine, not from the model. In the next three minutes we will show the problem, the product running, and why you can trust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paradox. On the left, the growth engine: manufacturing is about 15 percent of world GDP according to the World Bank, 16 to 17 percent of India's GDP according to the Press Information Bureau, and in India small and medium enterprises make about 35 percent of manufacturing output. On the right, the cost. The IPCC says industry produced 24 percent of global greenhouse gas emissions in 2019, and 34 percent once the electricity factories use is attributed to them. That makes it the largest end-use share. And carbon is only one part: factories also release into air, water, chemicals and soil. Caveat for the careful: the World Bank figure is manufacturing only, the IPCC figure is the wider industry sector, so the two shares are not like for like. The point is that both are true, and factories cannot simply switch off.</a:t>
            </a:r>
          </a:p>
          <a:p>
            <a:endParaRPr/>
          </a:p>
          <a:p>
            <a:r>
              <a:t>Sources:</a:t>
            </a:r>
          </a:p>
          <a:p>
            <a:r>
              <a:t>World Bank: https://data.worldbank.org/indicator/NV.IND.MANF.ZS</a:t>
            </a:r>
          </a:p>
          <a:p>
            <a:r>
              <a:t>IPCC AR6 WGIII SPM B.2.1: https://www.ipcc.ch/report/ar6/wg3/chapter/summary-for-policymakers/</a:t>
            </a:r>
          </a:p>
          <a:p>
            <a:r>
              <a:t>PIB manufacturing: https://www.pib.gov.in/PressNoteDetails.aspx?ModuleId=3&amp;NoteId=160457&amp;id=160457</a:t>
            </a:r>
          </a:p>
          <a:p>
            <a:r>
              <a:t>PIB MSME: https://static.pib.gov.in/WriteReadData/specificdocs/documents/2026/may/doc2026514869801.pdf</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part nobody sees. A worn seal lets air in, a drifting burner makes soot, a clogged filter forces the fan to work harder. Each one is a small maintenance snag, and each one makes the machine burn more fuel and release more per tonne of output. On the left is a kiln from our synthetic demo fleet. Over twelve months its health score falls from the high seventies to 28, and its effluent per day climbs from the healthy baseline of 800 cubic metres to about 918. That is an illustrative model, not a measurement, and we say so on every screen. For an outside anchor: the US Department of Energy estimates that operations and maintenance programs aimed at energy efficiency can save 5 to 20 percent on energy bills without significant capital. That is a US federal-sites guide, so read it as direction, not a promise for any one plant.</a:t>
            </a:r>
          </a:p>
          <a:p>
            <a:endParaRPr/>
          </a:p>
          <a:p>
            <a:r>
              <a:t>Sources:</a:t>
            </a:r>
          </a:p>
          <a:p>
            <a:r>
              <a:t>US DOE FEMP O&amp;M Best Practices Guide: https://www1.eere.energy.gov/femp/pdfs/OandM.pdf</a:t>
            </a:r>
          </a:p>
          <a:p>
            <a:r>
              <a:t>Prototype figures: TerraVow engine (prototype/app/engine.py) on seeded machine K-4, GET /api/machines/K-4/health, run 2026-10-18</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why does this go unseen? Because each team owns one piece. Maintenance systems track work orders and downtime cost, not emissions. ESG and carbon-accounting tools report what you already emitted, using industry-average factors rather than the state of your machine. Compliance and monitoring tools tell you whether a reading is above or below a limit, not why. And a plain chatbot sounds confident but cannot show a calculation you can audit. Nobody connects 'we deferred this repair' to 'we just created avoidable emissions and cost'. And the factory cannot simply stop. Output, jobs and customers depend on it. It needs a practical path that keeps it running while it gets cleaner. These categories come from our competitive review; vendor claims there should be re-verified before quoting.</a:t>
            </a:r>
          </a:p>
          <a:p>
            <a:endParaRPr/>
          </a:p>
          <a:p>
            <a:r>
              <a:t>Sources:</a:t>
            </a:r>
          </a:p>
          <a:p>
            <a:r>
              <a:t>docs/competitive-landscape.md and docs/overview.md in the TerraVow repo (category-level assessment; vendor positioning to be re-verified)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TerraVow in one line of flow. Step one, people on the shop floor report snags against a specific machine model. Step two, a deterministic engine turns that snag history into a health score and an estimate of remaining life. Step three, the health score is linked to pollution intensity across air, water, chemical and soil. Step four, TerraVow recommends greener machines and process changes. Step five, it shows payback with the Indian incentives that may apply, for a small enterprise or a large one, and labels what is unverified. Underneath all of it sit three promises: a safety gate that vetoes anything that adds or merely moves pollution, an audit trail you can verify, and a clean split where Gemini reasons and writes while the engine does the maths.</a:t>
            </a:r>
          </a:p>
          <a:p>
            <a:endParaRPr/>
          </a:p>
          <a:p>
            <a:r>
              <a:t>Sources:</a:t>
            </a:r>
          </a:p>
          <a:p>
            <a:r>
              <a:t>docs/overview.md, docs/product-features.md (TerraVow repo)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are we different? We assessed five neighbouring categories. Predictive-maintenance and CMMS tools know machine health but do not price pollution or recommend greener alternatives. ESG and carbon accounting are ledger-grade for what you have emitted, but they use average factors, not your machine's state. EHS and monitoring tools capture readings and paperwork, but not the why. A plain chatbot can suggest ideas but cannot give you auditable numbers or a safety veto. TerraVow combines per-machine health, pollution linkage, greener options with payback, Indian incentive adjustment, deterministic auditable numbers, and a hard veto in one flow. In the interest of honesty: predictive-maintenance vendors have large data moats we do not, and our incentive row is only partial because the scheme values are illustrative. This table is a category-level judgement from our competitive review, not a claim about any one vendor.</a:t>
            </a:r>
          </a:p>
          <a:p>
            <a:endParaRPr/>
          </a:p>
          <a:p>
            <a:r>
              <a:t>Sources:</a:t>
            </a:r>
          </a:p>
          <a:p>
            <a:r>
              <a:t>docs/competitive-landscape.md in the TerraVow repo (categories and vendor sources linked there; re-verify before quoting)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flow works across four heavy industries, and each declares which pollution domains it touches. Textile dyeing and finishing is air, water and chemical. Metals, steel and foundry, is air, water and soil. Chemicals and fertiliser touches all four. Mining and mineral processing is air, water and soil. The prototype ships a sample catalogue of twenty machine models, five per industry. It is sample data, not an authoritative manufacturer database, and labelled that way. If a model is missing, the user adds it manually and Gemini with Google Search looks up the specs. These are also industries India's pollution regulator watches closely: the Central Pollution Control Board lists seventeen highly polluting categories including dyes, fertiliser, iron and steel, and cement, and 4,578 highly polluting units were reported in a December 2022 parliamentary answer.</a:t>
            </a:r>
          </a:p>
          <a:p>
            <a:endParaRPr/>
          </a:p>
          <a:p>
            <a:r>
              <a:t>Sources:</a:t>
            </a:r>
          </a:p>
          <a:p>
            <a:r>
              <a:t>CPCB 17 categories, Rajya Sabha Q101: https://sansad.in/getFile/annex/258/AS101.pdf?source=pqars</a:t>
            </a:r>
          </a:p>
          <a:p>
            <a:r>
              <a:t>prototype/data/industries.json, catalogue.json (TerraVow repo)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product, running. This is the Report a snag tab. The reporter picks an industry and searches the catalogue, with autocomplete. If the model is not listed, they add it manually, and Gemini with Google Search grounding looks up the public specs, flagged as AI retrieved and unverified. The first time any user opens a model, Gemini drafts a deep template: at least six job types, twelve snag types, eight operating parameters and the pollutant capture fields for that industry. It is generated once and cached, so the next user gets it instantly. In this screenshot Gemini is not configured, so you are seeing the fallback: a clearly labelled generic industry template. The product still works end to end. Free text is cleaned of phone numbers and emails before it is saved.</a:t>
            </a:r>
          </a:p>
          <a:p>
            <a:endParaRPr/>
          </a:p>
          <a:p>
            <a:r>
              <a:t>Sources:</a:t>
            </a:r>
          </a:p>
          <a:p>
            <a:r>
              <a:t>Live prototype screenshot (local run, Gemini not configured). docs/user-flow.md Reporter journey; docs/product-features.md sections 2-4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the resolver. The queue lists open and assigned snags with the highest severity first. Each card carries guidance: the recommended job, the immediate action, time to fix, safety hazards and when to escalate. The resolver accepts, resolves with notes, downtime and cost, then closes. Closing is where the loop pays off: it recomputes the machine's health from its full snag history and writes an audit entry. Honest note: the Reporter and Resolver switch is workflow guidance, not access control. The prototype has no authentication, and a production system would add proper role-based access. These are synthetic seeded snags, labelled as such.</a:t>
            </a:r>
          </a:p>
          <a:p>
            <a:endParaRPr/>
          </a:p>
          <a:p>
            <a:r>
              <a:t>Sources:</a:t>
            </a:r>
          </a:p>
          <a:p>
            <a:r>
              <a:t>Live prototype screenshot (local run). docs/user-flow.md Resolver journey; docs/product-features.md section 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TerraVow earns its name. Every closed or open snag feeds a deterministic health score. For Kiln K-4 in our synthetic fleet it is 28.4 out of 100, Critical. From that and the machine's age against its design life, the engine estimates about 342 days of remaining life, with a range, and labels it as an estimate, not a prediction of failure. The table links health to pollution intensity across air, water and soil: effluent is about 918 cubic metres a day against an 800 healthy reference. The chart shows health over twelve months, and the pollution trend mirrors it. All of this is plain code, with a visible How this is calculated panel. The language model never computes these numbers. Everything is labelled illustrative.</a:t>
            </a:r>
          </a:p>
          <a:p>
            <a:endParaRPr/>
          </a:p>
          <a:p>
            <a:r>
              <a:t>Sources:</a:t>
            </a:r>
          </a:p>
          <a:p>
            <a:r>
              <a:t>Live prototype screenshots (local run) of GET /api/machines/K-4/health; formulas in prototype/app/engine.py; docs/product-features.md sections 7-8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step in the walkthrough: Sustainability. For the selected machine, TerraVow lists greener machine alternatives, operating changes and assembly-stage changes. For each it shows capex, cash benefit and two paybacks: cash payback, and payback including a notional exposure proxy that is not cash. It does not hide bad news: this electric drive shows a payback beyond the 25-year design life on cash alone, around 28.8 years even after the illustrative incentive. A toggle switches between small, MSME, and large enterprise and recomputes incentive-adjusted capex and payback. India schemes in the demo are mostly qualitative and marked UNVERIFIED or illustrative; the quantified subsidies are demo-synthetic values and are labelled that way. Every option passes the Decision Gate, and in this demo each one lands on Needs confirmation, meaning a human decides.</a:t>
            </a:r>
          </a:p>
          <a:p>
            <a:endParaRPr/>
          </a:p>
          <a:p>
            <a:r>
              <a:t>Sources:</a:t>
            </a:r>
          </a:p>
          <a:p>
            <a:r>
              <a:t>Live prototype screenshot (local run) of POST /api/machines/K-4/recommendations, MSME; prototype/app/engine.py candidate_economics; docs/user-flow.md Sustainability journey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how it fits together, simplified. A single-page app talks to one FastAPI service, designed for Cloud Run. Inside it, a workflow layer handles reporters and resolvers; a deterministic engine computes health, lifespan, pollution intensity and economics; the Decision Gate vets every recommendation; and a cache-once layer decides when Gemini is allowed to be called at all. Gemini 2.5 Flash, through AI Studio or Vertex AI, drafts templates, looks up specs with Google Search grounding, and suggests alternatives. Firestore stores everything, with an in-memory fallback so the demo runs anywhere. Being honest about the Google stack: Gemini, Google Search grounding, Firestore and Cloud Run are what the prototype uses. BigQuery, Vertex AI Search, Agent Engine, Pub/Sub and Cloud Storage are in the full design, and a Java reference engine exists, but they are not in the demo path.</a:t>
            </a:r>
          </a:p>
          <a:p>
            <a:endParaRPr/>
          </a:p>
          <a:p>
            <a:r>
              <a:t>Sources:</a:t>
            </a:r>
          </a:p>
          <a:p>
            <a:r>
              <a:t>docs/system-architecture.md; prototype/README.md 'What actually runs' and 'What is NOT built'; prototype/deploy.sh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technical heart. Generating a deep, model-specific template with Gemini is slow and costs tokens, so it must happen at most once per model, even when many users arrive at once. Step one: read the store; a hit returns immediately. Step two: on a miss, join a single flight, so one request becomes leader and the others wait and share its result. Step three: the leader re-reads the store, a double-checked read. Step four: only now call Gemini, up to three attempts, validating against ten structural rules and sending the errors back as a hint. Step five: create-if-absent is the final guard; if another writer won, ours is discarded and we return theirs. Step six: return generated or cache-hit. If Gemini is unavailable, or the output stays invalid, a deterministic fallback template is returned and never stored, so a bad day cannot poison the cache. Being straight about limits: this guarantees one stored document, but the cross-replica lease is not built yet. Two replicas could both call Gemini; only one result is kept.</a:t>
            </a:r>
          </a:p>
          <a:p>
            <a:endParaRPr/>
          </a:p>
          <a:p>
            <a:r>
              <a:t>Sources:</a:t>
            </a:r>
          </a:p>
          <a:p>
            <a:r>
              <a:t>docs/system-architecture.md 'Cache-Once Create-If-Absent Sequence'; docs/user-flow.md 'Template Ensure Cache Sequence'; prototype/app/cache_once.py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is Gemini essential here, and why can you trust the output? Machine templates differ by model and by industry: a jet dyeing machine and a rotary kiln fail in completely different ways. Nobody can hand-write thousands of those taxonomies, but Gemini can draft one for any model, grounded with Google Search for specs. It also suggests greener alternatives and explains results in plain language. But the model never computes. Everything it returns passes through validation: schema checks, bounds, and a rule that invalid candidates are dropped, never quietly clamped into something else. Gemini gives ranges; the engine takes the midpoint and calculates capex, avoided emissions and payback. On the right, the engine owns health, lifespan, intensity, economics and the gate verdict. And if there is no Gemini key at all, the product degrades to a generic template and curated alternatives, with the same engine and the same gate.</a:t>
            </a:r>
          </a:p>
          <a:p>
            <a:endParaRPr/>
          </a:p>
          <a:p>
            <a:r>
              <a:t>Sources:</a:t>
            </a:r>
          </a:p>
          <a:p>
            <a:r>
              <a:t>docs/system-architecture.md 'Deterministic-Numbers-vs-LLM Boundary' and 'Graceful Degradation'; prototype/app/engine.py, gemini_client.py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Safety here is structural, not a disclaimer. Every recommendation passes the Decision Gate in a fixed order. First, a hard veto: if the option would increase total emissions, or merely shift pollution from one medium to another, say from air into water, it is blocked, however confident the model is. Second, confidence: at or above 0.80 allow, at or above 0.60 ask a human, below that block. Third, a trust cap that can only lower a verdict. Fourth, an audit entry is written to a hash-chained log before the response returns. In the demo, nothing reaches Allow: AI-suggested options carry confidence 0.55 and curated ones 0.70, so a person always confirms. Around the gate: estimate and illustrative labels everywhere, personal data stripped from free text, vendor validation required for AI suggestions, and plain honesty that the demo has no authentication.</a:t>
            </a:r>
          </a:p>
          <a:p>
            <a:endParaRPr/>
          </a:p>
          <a:p>
            <a:r>
              <a:t>Sources:</a:t>
            </a:r>
          </a:p>
          <a:p>
            <a:r>
              <a:t>docs/overview.md 'Decision Gate'; docs/user-flow.md Sustainability journey; prototype/app/gate.py; prototype/README.md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worked example from the synthetic demo fleet, so treat every number as illustrative. Kiln K-4 has fallen to a health of 28.4, Critical, with roughly 342 days of estimated life left. Against its healthy reference it is running about 14.8 percent higher on effluent, around 118 cubic metres a day, and 5.4 percent higher on CO2e, roughly 2.3 tonnes a day. Now the options, for a small enterprise with the illustrative MSME subsidy. Dust suppression and closed-circuit grinding pays back in about 5.7 years on cash and 3.4 including the exposure proxy. A high-efficiency kiln about 15 years; remanufacture about 22; an electric drive reaches 28.8 years on cash, beyond the design life, though about 12.9 including the exposure proxy. And dry-stack tailings with water recycling has no payback at all. We show that rather than hide it, because trust is the product. Prioritising by health and payback is how a plant with limited capital chooses where to start.</a:t>
            </a:r>
          </a:p>
          <a:p>
            <a:endParaRPr/>
          </a:p>
          <a:p>
            <a:r>
              <a:t>Sources:</a:t>
            </a:r>
          </a:p>
          <a:p>
            <a:r>
              <a:t>Prototype run: GET /api/machines/K-4/health and POST /api/machines/K-4/recommendations (MSME), 2026-10-18; prototype/app/engine.py. Demo-synthetic MSME subsidy; curated illustrative alternatives.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Who is this for? India is the natural first market because the incentive logic is built in. The Press Information Bureau reports more than 7.47 crore MSMEs, across manufacturing, services and trade, contributing about 35 percent of manufacturing output. The pollution regulator has identified seventeen highly polluting categories and 4,578 such units, as of a December 2022 parliamentary answer. Those units are our beachhead; MSME clusters are the long tail. We are deliberately not quoting a total addressable market in dollars: we have not found a number we can defend, and we would rather leave it out than invent one. On the right is our business-model hypothesis, not yet validated: a per-machine subscription for plants, an advisory and financing partnership that turns verified upgrade plans into funded projects, and vendor partnerships. Pricing is to be tested with pilot plants.</a:t>
            </a:r>
          </a:p>
          <a:p>
            <a:endParaRPr/>
          </a:p>
          <a:p>
            <a:r>
              <a:t>Sources:</a:t>
            </a:r>
          </a:p>
          <a:p>
            <a:r>
              <a:t>PIB MSME backgrounder: https://static.pib.gov.in/WriteReadData/specificdocs/documents/2026/may/doc2026514869801.pdf</a:t>
            </a:r>
          </a:p>
          <a:p>
            <a:r>
              <a:t>CPCB categories and unit count (Rajya Sabha Q101): https://sansad.in/getFile/annex/258/AS101.pdf?source=pqars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straight view of where we are. Done: four industries, a twenty-model sample catalogue, the cache-once AI template, the reporter and resolver workflow, the deterministic health, lifespan and pollution engine, sustainable alternatives with incentives, the Decision Gate and a hash-chained audit trail. The prototype has 151 automated tests and we ran them all green. Next, in priority order: the cross-replica lease so only one replica ever calls Gemini for a key, a request deadline and waiter cap, verifying every India scheme with its issuing authority, real role-based access, and measuring template depth and latency with a live key. Later: sensor ingestion, regulation-grounded retrieval, the data integrity gate that checks sources and baselines, and a supply-chain footprint passport. And what is out of scope for now: official certification and a public registry. The score is an evidence record, not a certificate.</a:t>
            </a:r>
          </a:p>
          <a:p>
            <a:endParaRPr dirty="0"/>
          </a:p>
          <a:p>
            <a:r>
              <a:rPr dirty="0"/>
              <a:t>Sources:</a:t>
            </a:r>
          </a:p>
          <a:p>
            <a:r>
              <a:rPr dirty="0"/>
              <a:t>prototype/</a:t>
            </a:r>
            <a:r>
              <a:rPr dirty="0" err="1"/>
              <a:t>README.md</a:t>
            </a:r>
            <a:r>
              <a:rPr dirty="0"/>
              <a:t> ('What is NOT built'); docs/system-</a:t>
            </a:r>
            <a:r>
              <a:rPr dirty="0" err="1"/>
              <a:t>architecture.md</a:t>
            </a:r>
            <a:r>
              <a:rPr dirty="0"/>
              <a:t> ('Not Yet Implemented', 'Multi-Replica Safety'); </a:t>
            </a:r>
            <a:r>
              <a:rPr dirty="0" err="1"/>
              <a:t>pytest</a:t>
            </a:r>
            <a:r>
              <a:rPr dirty="0"/>
              <a:t> run: 151 passed (2026-10-18)</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line. Factories will keep growing, and they should: they are how the world makes things. What changes is how. Fix the machine, cut the smoke, keep the growth. TerraVow gives every plant a way to see what a worn machine is really costing, in rupees and in emissions, to choose a greener fix that a human approves, and to see how incentives could pay for it. What we need next: a pilot plant in a highly polluting sector, help verifying India scheme terms with the issuing authorities, and your feedback today. Please try it live. The link, the repo and the video are on the screen. Thank you.</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for technical questions. This is the as-built component map of the Python prototype, drawn as layers. The single-page app calls FastAPI routes. Below them sit the domain modules: industries, catalogue, templates, snags, sustainability, and the deterministic engine. Underneath are the shared services: cache_once, which is the only path to Gemini for templates, specs and alternatives; the Gemini client; the Decision Gate; the store with memory and Firestore backends; and idempotent seeding. Externally there is Gemini 2.5 Flash with Google Search grounding, and nine Firestore collections. The full Mermaid rendering is in docs/deck/assets/diagram_components.png.</a:t>
            </a:r>
          </a:p>
          <a:p>
            <a:endParaRPr/>
          </a:p>
          <a:p>
            <a:r>
              <a:t>Sources:</a:t>
            </a:r>
          </a:p>
          <a:p>
            <a:r>
              <a:t>docs/system-architecture.md component map (full Mermaid render: docs/deck/assets/diagram_components.png)</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on data. Nine collections hold everything. Industries and the sample catalogue are reference data. Templates and alternatives are the cached AI outputs, and both refuse to store any document whose source is not AI, so a fallback can never poison the cache. Snag history holds one header per machine and snags hold the append-only event log. Incentives are seeded and labelled unverified or illustrative. Seed metadata drives idempotent seeding and demo reset, and the audit collection is an append-only hash chain that survives a reset. The full entity-relationship diagram is in docs/deck/assets/diagram_datamodel.png.</a:t>
            </a:r>
          </a:p>
          <a:p>
            <a:endParaRPr/>
          </a:p>
          <a:p>
            <a:r>
              <a:t>Sources:</a:t>
            </a:r>
          </a:p>
          <a:p>
            <a:r>
              <a:t>docs/system-architecture.md Data Model and Collection Details (full ER render: docs/deck/assets/diagram_datamodel.png)</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with the four flows from the repo's user-flow document, condensed into lanes. Reporter: choose an industry, search or add the machine, get the template through the cache-once path, pick or register an instance, fill the dynamic form, validation and redaction, then a guidance card. Resolver: open the severity-first queue, accept, resolve with notes, downtime and cost, close, which writes the audit entry and recomputes health. Health: replay the snag history, compute score, lifespan, pollution intensity and a twelve-point timeline. Sustainability: choose machine and enterprise size, get cached AI or curated alternatives, compute economics in the engine, pass the Decision Gate, apply incentives, show adjusted payback. Blue steps involve Gemini, green steps are the deterministic engine, amber steps are fallbacks and red steps are the safety gate. The complete flowcharts are in docs/user-flow.md and rendered in docs/deck/assets/diagram_*.png.</a:t>
            </a:r>
          </a:p>
          <a:p>
            <a:endParaRPr/>
          </a:p>
          <a:p>
            <a:r>
              <a:t>Sources:</a:t>
            </a:r>
          </a:p>
          <a:p>
            <a:r>
              <a:t>docs/user-flow.md (full Mermaid renders: docs/deck/assets/diagram_reporter.png, diagram_resolver.png, diagram_health.png, diagram_sustain.png)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listing the HTTP API. Industries and catalogue; the template ensure endpoint, which is the cache-once entry point, and a fetch-only twin that never calls Gemini; machine instances and snags with the role-gated accept, resolve and close transitions; the resolver queue; health, which returns score, lifespan, pollution and a twelve-point timeline; recommendations and incentives; and system endpoints for health, demo reset and audit chain integrity. All write endpoints validate every field and return field-level errors.</a:t>
            </a:r>
          </a:p>
          <a:p>
            <a:endParaRPr/>
          </a:p>
          <a:p>
            <a:r>
              <a:t>Sources:</a:t>
            </a:r>
          </a:p>
          <a:p>
            <a:r>
              <a:t>prototype/README.md 'API Endpoints'; docs/system-architecture.md 'Key API Endpoints'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on what we have not done and what could go wrong. On the left, limitations of the prototype: the numbers are illustrative models, the catalogue is sample data, India incentives are mostly unverified, there is no authentication, cache-once is not safe across replicas yet, cached AI alternatives never expire, template latency has not been measured with a live key, and the Java reference engine is separate from the Python demo path. On the right, product risks and how we would address them: incumbents adding emissions modules, cold-start on real data, and over-trust in AI output. Our mitigations are the deterministic engine, the gate, the labels and human confirmation.</a:t>
            </a:r>
          </a:p>
          <a:p>
            <a:endParaRPr/>
          </a:p>
          <a:p>
            <a:r>
              <a:t>Sources:</a:t>
            </a:r>
          </a:p>
          <a:p>
            <a:r>
              <a:t>prototype/README.md 'What is NOT built' and 'Honesty'; docs/product-features.md section 10; docs/competitive-landscape.md 'Where we have real competitors'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9" name="TextBox 8">
            <a:extLst>
              <a:ext uri="{FF2B5EF4-FFF2-40B4-BE49-F238E27FC236}">
                <a16:creationId xmlns:a16="http://schemas.microsoft.com/office/drawing/2014/main" id="{4042AEB0-B8D1-A7B6-BEEA-24D523364697}"/>
              </a:ext>
            </a:extLst>
          </p:cNvPr>
          <p:cNvSpPr txBox="1"/>
          <p:nvPr userDrawn="1">
            <p:extLst>
              <p:ext uri="{1162E1C5-73C7-4A58-AE30-91384D911F3F}">
                <p184:classification xmlns:p184="http://schemas.microsoft.com/office/powerpoint/2018/4/main" val="hdr"/>
              </p:ext>
            </p:extLst>
          </p:nvPr>
        </p:nvSpPr>
        <p:spPr>
          <a:xfrm>
            <a:off x="11674475" y="63500"/>
            <a:ext cx="485775" cy="137160"/>
          </a:xfrm>
          <a:prstGeom prst="rect">
            <a:avLst/>
          </a:prstGeom>
        </p:spPr>
        <p:txBody>
          <a:bodyPr horzOverflow="overflow" lIns="0" tIns="0" rIns="0" bIns="0">
            <a:spAutoFit/>
          </a:bodyPr>
          <a:lstStyle/>
          <a:p>
            <a:pPr algn="l"/>
            <a:r>
              <a:rPr lang="en-US" sz="900">
                <a:solidFill>
                  <a:srgbClr val="5514B4">
                    <a:alpha val="50000"/>
                  </a:srgbClr>
                </a:solidFill>
                <a:latin typeface="Century Gothic" panose="020B0502020202020204" pitchFamily="34" charset="0"/>
              </a:rPr>
              <a:t>General</a:t>
            </a:r>
          </a:p>
        </p:txBody>
      </p:sp>
      <p:sp>
        <p:nvSpPr>
          <p:cNvPr id="10" name="TextBox 9">
            <a:extLst>
              <a:ext uri="{FF2B5EF4-FFF2-40B4-BE49-F238E27FC236}">
                <a16:creationId xmlns:a16="http://schemas.microsoft.com/office/drawing/2014/main" id="{44625E5C-1769-659B-CAE0-B61809AE2AF1}"/>
              </a:ext>
            </a:extLst>
          </p:cNvPr>
          <p:cNvSpPr txBox="1"/>
          <p:nvPr userDrawn="1">
            <p:extLst>
              <p:ext uri="{1162E1C5-73C7-4A58-AE30-91384D911F3F}">
                <p184:classification xmlns:p184="http://schemas.microsoft.com/office/powerpoint/2018/4/main" val="ftr"/>
              </p:ext>
            </p:extLst>
          </p:nvPr>
        </p:nvSpPr>
        <p:spPr>
          <a:xfrm>
            <a:off x="11674475" y="6657340"/>
            <a:ext cx="485775" cy="137160"/>
          </a:xfrm>
          <a:prstGeom prst="rect">
            <a:avLst/>
          </a:prstGeom>
        </p:spPr>
        <p:txBody>
          <a:bodyPr horzOverflow="overflow" lIns="0" tIns="0" rIns="0" bIns="0">
            <a:spAutoFit/>
          </a:bodyPr>
          <a:lstStyle/>
          <a:p>
            <a:pPr algn="l"/>
            <a:r>
              <a:rPr lang="en-US" sz="900">
                <a:solidFill>
                  <a:srgbClr val="5514B4">
                    <a:alpha val="50000"/>
                  </a:srgbClr>
                </a:solidFill>
                <a:latin typeface="Century Gothic" panose="020B0502020202020204" pitchFamily="34" charset="0"/>
              </a:rPr>
              <a:t>General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terravow-qqd2ckoqhq-el.a.run.app/"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github.com/rachitGupta-ai/TerraVow" TargetMode="Externa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95467" y="3870259"/>
            <a:ext cx="11680000" cy="2671600"/>
          </a:xfrm>
          <a:prstGeom prst="rect">
            <a:avLst/>
          </a:prstGeom>
          <a:noFill/>
          <a:ln>
            <a:noFill/>
          </a:ln>
        </p:spPr>
        <p:txBody>
          <a:bodyPr spcFirstLastPara="1" wrap="square" lIns="121900" tIns="121900" rIns="121900" bIns="121900" anchor="t" anchorCtr="0">
            <a:noAutofit/>
          </a:bodyPr>
          <a:lstStyle/>
          <a:p>
            <a:r>
              <a:rPr lang="en-GB" sz="2800" dirty="0">
                <a:latin typeface="Google Sans Flex SemiBold"/>
                <a:ea typeface="Google Sans Flex SemiBold"/>
                <a:cs typeface="Google Sans Flex SemiBold"/>
                <a:sym typeface="Google Sans Flex SemiBold"/>
              </a:rPr>
              <a:t>Team Details</a:t>
            </a:r>
            <a:endParaRPr sz="2800" dirty="0">
              <a:latin typeface="Google Sans Flex SemiBold"/>
              <a:ea typeface="Google Sans Flex SemiBold"/>
              <a:cs typeface="Google Sans Flex SemiBold"/>
              <a:sym typeface="Google Sans Flex SemiBold"/>
            </a:endParaRPr>
          </a:p>
          <a:p>
            <a:endParaRPr sz="2400" dirty="0">
              <a:latin typeface="Google Sans Flex Medium"/>
              <a:ea typeface="Google Sans Flex Medium"/>
              <a:cs typeface="Google Sans Flex Medium"/>
              <a:sym typeface="Google Sans Flex Medium"/>
            </a:endParaRPr>
          </a:p>
          <a:p>
            <a:pPr marL="1219170" lvl="1" indent="-457189">
              <a:buSzPts val="1800"/>
              <a:buFont typeface="Google Sans Flex"/>
              <a:buAutoNum type="alphaLcPeriod"/>
            </a:pPr>
            <a:r>
              <a:rPr lang="en-GB" sz="2400" dirty="0">
                <a:latin typeface="Google Sans Flex"/>
                <a:ea typeface="Google Sans Flex"/>
                <a:cs typeface="Google Sans Flex"/>
                <a:sym typeface="Google Sans Flex"/>
              </a:rPr>
              <a:t>Team name: TERRAVOW</a:t>
            </a:r>
            <a:endParaRPr sz="2400" dirty="0">
              <a:latin typeface="Google Sans Flex"/>
              <a:ea typeface="Google Sans Flex"/>
              <a:cs typeface="Google Sans Flex"/>
              <a:sym typeface="Google Sans Flex"/>
            </a:endParaRPr>
          </a:p>
          <a:p>
            <a:pPr marL="1219170" lvl="1" indent="-457189">
              <a:buSzPts val="1800"/>
              <a:buFont typeface="Google Sans Flex"/>
              <a:buAutoNum type="alphaLcPeriod"/>
            </a:pPr>
            <a:r>
              <a:rPr lang="en-GB" sz="2400" dirty="0">
                <a:latin typeface="Google Sans Flex"/>
                <a:ea typeface="Google Sans Flex"/>
                <a:cs typeface="Google Sans Flex"/>
                <a:sym typeface="Google Sans Flex"/>
              </a:rPr>
              <a:t>Team leader name: RACHIT GUPTA</a:t>
            </a:r>
            <a:endParaRPr sz="2400" dirty="0">
              <a:latin typeface="Google Sans Flex"/>
              <a:ea typeface="Google Sans Flex"/>
              <a:cs typeface="Google Sans Flex"/>
              <a:sym typeface="Google Sans Flex"/>
            </a:endParaRPr>
          </a:p>
          <a:p>
            <a:pPr marL="1219170" lvl="1" indent="-457189">
              <a:buSzPts val="1800"/>
              <a:buFont typeface="Google Sans Flex"/>
              <a:buAutoNum type="alphaLcPeriod"/>
            </a:pPr>
            <a:r>
              <a:rPr lang="en-GB" sz="2400" dirty="0">
                <a:latin typeface="Google Sans Flex"/>
                <a:ea typeface="Google Sans Flex"/>
                <a:cs typeface="Google Sans Flex"/>
                <a:sym typeface="Google Sans Flex"/>
              </a:rPr>
              <a:t>Problem Statement: Sustainability &amp; Social Impact + </a:t>
            </a:r>
            <a:br>
              <a:rPr lang="en-GB" sz="2400" dirty="0">
                <a:latin typeface="Google Sans Flex"/>
                <a:ea typeface="Google Sans Flex"/>
                <a:cs typeface="Google Sans Flex"/>
                <a:sym typeface="Google Sans Flex"/>
              </a:rPr>
            </a:br>
            <a:r>
              <a:rPr lang="en-GB" sz="2400" dirty="0">
                <a:latin typeface="Google Sans Flex"/>
                <a:ea typeface="Google Sans Flex"/>
                <a:cs typeface="Google Sans Flex"/>
                <a:sym typeface="Google Sans Flex"/>
              </a:rPr>
              <a:t>Manufacturing: Intelligent Operations and Efficiency</a:t>
            </a:r>
            <a:endParaRPr sz="2400" dirty="0">
              <a:latin typeface="Google Sans Flex"/>
              <a:ea typeface="Google Sans Flex"/>
              <a:cs typeface="Google Sans Flex"/>
              <a:sym typeface="Google Sans Flex"/>
            </a:endParaRPr>
          </a:p>
          <a:p>
            <a:endParaRPr sz="2400" dirty="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4"/>
            <a:ext cx="12192000" cy="3620701"/>
          </a:xfrm>
          <a:prstGeom prst="rect">
            <a:avLst/>
          </a:prstGeom>
          <a:noFill/>
          <a:ln>
            <a:noFill/>
          </a:ln>
        </p:spPr>
      </p:pic>
      <p:pic>
        <p:nvPicPr>
          <p:cNvPr id="56" name="Google Shape;56;p13" title="Frame 144.png"/>
          <p:cNvPicPr preferRelativeResize="0"/>
          <p:nvPr/>
        </p:nvPicPr>
        <p:blipFill rotWithShape="1">
          <a:blip r:embed="rId4">
            <a:alphaModFix/>
          </a:blip>
          <a:srcRect b="98001"/>
          <a:stretch/>
        </p:blipFill>
        <p:spPr>
          <a:xfrm>
            <a:off x="0" y="6791417"/>
            <a:ext cx="12192000" cy="7236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Oval 1"/>
          <p:cNvSpPr/>
          <p:nvPr/>
        </p:nvSpPr>
        <p:spPr>
          <a:xfrm>
            <a:off x="6949440" y="822960"/>
            <a:ext cx="4937760" cy="4937760"/>
          </a:xfrm>
          <a:prstGeom prst="ellipse">
            <a:avLst/>
          </a:prstGeom>
          <a:no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315200" y="1188720"/>
            <a:ext cx="4206240" cy="4206240"/>
          </a:xfrm>
          <a:prstGeom prst="ellipse">
            <a:avLst/>
          </a:prstGeom>
          <a:noFill/>
          <a:ln w="9525">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4114800"/>
            <a:ext cx="4206240" cy="1371600"/>
          </a:xfrm>
          <a:prstGeom prst="rect">
            <a:avLst/>
          </a:prstGeom>
          <a:solidFill>
            <a:srgbClr val="17232E"/>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ight Triangle 4"/>
          <p:cNvSpPr/>
          <p:nvPr/>
        </p:nvSpPr>
        <p:spPr>
          <a:xfrm>
            <a:off x="7452360" y="3520440"/>
            <a:ext cx="1005840" cy="594360"/>
          </a:xfrm>
          <a:prstGeom prst="rtTriangle">
            <a:avLst/>
          </a:prstGeom>
          <a:solidFill>
            <a:srgbClr val="17232E"/>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8458200" y="3520440"/>
            <a:ext cx="1005840" cy="594360"/>
          </a:xfrm>
          <a:prstGeom prst="rtTriangle">
            <a:avLst/>
          </a:prstGeom>
          <a:solidFill>
            <a:srgbClr val="17232E"/>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ight Triangle 6"/>
          <p:cNvSpPr/>
          <p:nvPr/>
        </p:nvSpPr>
        <p:spPr>
          <a:xfrm>
            <a:off x="9464040" y="3520440"/>
            <a:ext cx="1005840" cy="594360"/>
          </a:xfrm>
          <a:prstGeom prst="rtTriangle">
            <a:avLst/>
          </a:prstGeom>
          <a:solidFill>
            <a:srgbClr val="17232E"/>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ight Triangle 7"/>
          <p:cNvSpPr/>
          <p:nvPr/>
        </p:nvSpPr>
        <p:spPr>
          <a:xfrm>
            <a:off x="10469880" y="3520440"/>
            <a:ext cx="1005840" cy="594360"/>
          </a:xfrm>
          <a:prstGeom prst="rtTriangle">
            <a:avLst/>
          </a:prstGeom>
          <a:solidFill>
            <a:srgbClr val="17232E"/>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698480" y="2468880"/>
            <a:ext cx="347472" cy="1645920"/>
          </a:xfrm>
          <a:prstGeom prst="rect">
            <a:avLst/>
          </a:prstGeom>
          <a:solidFill>
            <a:srgbClr val="1D2C39"/>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104120" y="2926080"/>
            <a:ext cx="310896" cy="1188720"/>
          </a:xfrm>
          <a:prstGeom prst="rect">
            <a:avLst/>
          </a:prstGeom>
          <a:solidFill>
            <a:srgbClr val="1D2C39"/>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488167" y="1847088"/>
            <a:ext cx="694944" cy="694944"/>
          </a:xfrm>
          <a:prstGeom prst="ellipse">
            <a:avLst/>
          </a:prstGeom>
          <a:solidFill>
            <a:srgbClr val="6B7C8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607040" y="1325880"/>
            <a:ext cx="914400" cy="914400"/>
          </a:xfrm>
          <a:prstGeom prst="ellipse">
            <a:avLst/>
          </a:prstGeom>
          <a:solidFill>
            <a:srgbClr val="6B7C8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66959" y="2377440"/>
            <a:ext cx="548640" cy="548640"/>
          </a:xfrm>
          <a:prstGeom prst="ellipse">
            <a:avLst/>
          </a:prstGeom>
          <a:solidFill>
            <a:srgbClr val="6B7C8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35240" y="4434840"/>
            <a:ext cx="292608" cy="201168"/>
          </a:xfrm>
          <a:prstGeom prst="rect">
            <a:avLst/>
          </a:prstGeom>
          <a:solidFill>
            <a:srgbClr val="F2B84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75319" y="4434840"/>
            <a:ext cx="292608" cy="201168"/>
          </a:xfrm>
          <a:prstGeom prst="rect">
            <a:avLst/>
          </a:prstGeom>
          <a:solidFill>
            <a:srgbClr val="3DDC97">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915400" y="4434840"/>
            <a:ext cx="292608" cy="201168"/>
          </a:xfrm>
          <a:prstGeom prst="rect">
            <a:avLst/>
          </a:prstGeom>
          <a:solidFill>
            <a:srgbClr val="3DDC97">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555480" y="4434840"/>
            <a:ext cx="292608" cy="201168"/>
          </a:xfrm>
          <a:prstGeom prst="rect">
            <a:avLst/>
          </a:prstGeom>
          <a:solidFill>
            <a:srgbClr val="F2B84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195559" y="4434840"/>
            <a:ext cx="292608" cy="201168"/>
          </a:xfrm>
          <a:prstGeom prst="rect">
            <a:avLst/>
          </a:prstGeom>
          <a:solidFill>
            <a:srgbClr val="3DDC97">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835640" y="4434840"/>
            <a:ext cx="292608" cy="201168"/>
          </a:xfrm>
          <a:prstGeom prst="rect">
            <a:avLst/>
          </a:prstGeom>
          <a:solidFill>
            <a:srgbClr val="3DDC97">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772400" y="5623560"/>
            <a:ext cx="3291840" cy="36576"/>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640080"/>
            <a:ext cx="5486400" cy="365760"/>
          </a:xfrm>
          <a:prstGeom prst="rect">
            <a:avLst/>
          </a:prstGeom>
          <a:noFill/>
        </p:spPr>
        <p:txBody>
          <a:bodyPr wrap="square" lIns="45720" tIns="27432" rIns="45720" bIns="27432" anchor="t">
            <a:spAutoFit/>
          </a:bodyPr>
          <a:lstStyle/>
          <a:p>
            <a:pPr algn="l">
              <a:spcAft>
                <a:spcPts val="0"/>
              </a:spcAft>
            </a:pPr>
            <a:r>
              <a:rPr sz="1300" b="1" i="0">
                <a:solidFill>
                  <a:srgbClr val="3DDC97"/>
                </a:solidFill>
                <a:latin typeface="Calibri"/>
              </a:rPr>
              <a:t>AI FOR GREENER FACTORIES</a:t>
            </a:r>
          </a:p>
        </p:txBody>
      </p:sp>
      <p:sp>
        <p:nvSpPr>
          <p:cNvPr id="22" name="TextBox 21"/>
          <p:cNvSpPr txBox="1"/>
          <p:nvPr/>
        </p:nvSpPr>
        <p:spPr>
          <a:xfrm>
            <a:off x="548640" y="1234440"/>
            <a:ext cx="6583680" cy="1280160"/>
          </a:xfrm>
          <a:prstGeom prst="rect">
            <a:avLst/>
          </a:prstGeom>
          <a:noFill/>
        </p:spPr>
        <p:txBody>
          <a:bodyPr wrap="square" lIns="45720" tIns="27432" rIns="45720" bIns="27432" anchor="t">
            <a:spAutoFit/>
          </a:bodyPr>
          <a:lstStyle/>
          <a:p>
            <a:pPr algn="l">
              <a:spcAft>
                <a:spcPts val="0"/>
              </a:spcAft>
            </a:pPr>
            <a:r>
              <a:rPr sz="7200" b="1" i="0">
                <a:solidFill>
                  <a:srgbClr val="F0F4F8"/>
                </a:solidFill>
                <a:latin typeface="Calibri"/>
              </a:rPr>
              <a:t>TerraVow</a:t>
            </a:r>
          </a:p>
        </p:txBody>
      </p:sp>
      <p:sp>
        <p:nvSpPr>
          <p:cNvPr id="23" name="TextBox 22"/>
          <p:cNvSpPr txBox="1"/>
          <p:nvPr/>
        </p:nvSpPr>
        <p:spPr>
          <a:xfrm>
            <a:off x="548640" y="2606040"/>
            <a:ext cx="6309360" cy="1508760"/>
          </a:xfrm>
          <a:prstGeom prst="rect">
            <a:avLst/>
          </a:prstGeom>
          <a:noFill/>
        </p:spPr>
        <p:txBody>
          <a:bodyPr wrap="square" lIns="45720" tIns="27432" rIns="45720" bIns="27432" anchor="t">
            <a:spAutoFit/>
          </a:bodyPr>
          <a:lstStyle/>
          <a:p>
            <a:pPr algn="l">
              <a:spcAft>
                <a:spcPts val="0"/>
              </a:spcAft>
            </a:pPr>
            <a:r>
              <a:rPr sz="3000" b="1" i="0">
                <a:solidFill>
                  <a:srgbClr val="3DDC97"/>
                </a:solidFill>
                <a:latin typeface="Calibri"/>
              </a:rPr>
              <a:t>Healthy machines.</a:t>
            </a:r>
          </a:p>
          <a:p>
            <a:pPr algn="l">
              <a:spcAft>
                <a:spcPts val="0"/>
              </a:spcAft>
            </a:pPr>
            <a:r>
              <a:rPr sz="3000" b="1" i="0">
                <a:solidFill>
                  <a:srgbClr val="3DDC97"/>
                </a:solidFill>
                <a:latin typeface="Calibri"/>
              </a:rPr>
              <a:t>Cleaner factories.</a:t>
            </a:r>
          </a:p>
          <a:p>
            <a:pPr algn="l">
              <a:spcAft>
                <a:spcPts val="0"/>
              </a:spcAft>
            </a:pPr>
            <a:r>
              <a:rPr sz="3000" b="1" i="0">
                <a:solidFill>
                  <a:srgbClr val="3DDC97"/>
                </a:solidFill>
                <a:latin typeface="Calibri"/>
              </a:rPr>
              <a:t>Growth that lasts.</a:t>
            </a:r>
          </a:p>
        </p:txBody>
      </p:sp>
      <p:sp>
        <p:nvSpPr>
          <p:cNvPr id="24" name="TextBox 23"/>
          <p:cNvSpPr txBox="1"/>
          <p:nvPr/>
        </p:nvSpPr>
        <p:spPr>
          <a:xfrm>
            <a:off x="548640" y="4160520"/>
            <a:ext cx="6035040" cy="914400"/>
          </a:xfrm>
          <a:prstGeom prst="rect">
            <a:avLst/>
          </a:prstGeom>
          <a:noFill/>
        </p:spPr>
        <p:txBody>
          <a:bodyPr wrap="square" lIns="45720" tIns="27432" rIns="45720" bIns="27432" anchor="t">
            <a:spAutoFit/>
          </a:bodyPr>
          <a:lstStyle/>
          <a:p>
            <a:pPr algn="l">
              <a:spcAft>
                <a:spcPts val="0"/>
              </a:spcAft>
            </a:pPr>
            <a:r>
              <a:rPr sz="1600" b="0" i="0">
                <a:solidFill>
                  <a:srgbClr val="9FB3C8"/>
                </a:solidFill>
                <a:latin typeface="Calibri"/>
              </a:rPr>
              <a:t>AI that links machine health to pollution, tells operators what to fix and when, and shows greener alternatives with the incentives that can pay for them.</a:t>
            </a:r>
          </a:p>
        </p:txBody>
      </p:sp>
      <p:sp>
        <p:nvSpPr>
          <p:cNvPr id="25" name="Rounded Rectangle 24"/>
          <p:cNvSpPr/>
          <p:nvPr/>
        </p:nvSpPr>
        <p:spPr>
          <a:xfrm>
            <a:off x="525780" y="5120640"/>
            <a:ext cx="1051560" cy="310896"/>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200" b="1" i="0" dirty="0">
                <a:solidFill>
                  <a:srgbClr val="4DA3F0"/>
                </a:solidFill>
                <a:latin typeface="Calibri"/>
              </a:rPr>
              <a:t>Gemini</a:t>
            </a:r>
          </a:p>
        </p:txBody>
      </p:sp>
      <p:sp>
        <p:nvSpPr>
          <p:cNvPr id="26" name="Rounded Rectangle 25"/>
          <p:cNvSpPr/>
          <p:nvPr/>
        </p:nvSpPr>
        <p:spPr>
          <a:xfrm>
            <a:off x="1737360" y="5120640"/>
            <a:ext cx="1188720" cy="310896"/>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200" b="1" i="0" dirty="0">
                <a:solidFill>
                  <a:srgbClr val="4DA3F0"/>
                </a:solidFill>
                <a:latin typeface="Calibri"/>
              </a:rPr>
              <a:t>Cloud Run</a:t>
            </a:r>
          </a:p>
        </p:txBody>
      </p:sp>
      <p:sp>
        <p:nvSpPr>
          <p:cNvPr id="27" name="Rounded Rectangle 26"/>
          <p:cNvSpPr/>
          <p:nvPr/>
        </p:nvSpPr>
        <p:spPr>
          <a:xfrm>
            <a:off x="3063240" y="5120640"/>
            <a:ext cx="1097280" cy="310896"/>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200" b="1" i="0">
                <a:solidFill>
                  <a:srgbClr val="4DA3F0"/>
                </a:solidFill>
                <a:latin typeface="Calibri"/>
              </a:rPr>
              <a:t>Firestore</a:t>
            </a:r>
          </a:p>
        </p:txBody>
      </p:sp>
      <p:sp>
        <p:nvSpPr>
          <p:cNvPr id="29" name="Rounded Rectangle 28">
            <a:extLst>
              <a:ext uri="{FF2B5EF4-FFF2-40B4-BE49-F238E27FC236}">
                <a16:creationId xmlns:a16="http://schemas.microsoft.com/office/drawing/2014/main" id="{5820367A-902E-2368-51D5-2374DAF90A28}"/>
              </a:ext>
            </a:extLst>
          </p:cNvPr>
          <p:cNvSpPr/>
          <p:nvPr/>
        </p:nvSpPr>
        <p:spPr>
          <a:xfrm>
            <a:off x="457200" y="5862918"/>
            <a:ext cx="2606040" cy="914400"/>
          </a:xfrm>
          <a:prstGeom prst="roundRect">
            <a:avLst>
              <a:gd name="adj" fmla="val 8000"/>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400" b="1" i="0" dirty="0">
                <a:solidFill>
                  <a:srgbClr val="3DDC97"/>
                </a:solidFill>
                <a:latin typeface="Calibri"/>
              </a:rPr>
              <a:t>Try it</a:t>
            </a:r>
          </a:p>
          <a:p>
            <a:pPr algn="ctr">
              <a:spcAft>
                <a:spcPts val="0"/>
              </a:spcAft>
            </a:pPr>
            <a:r>
              <a:rPr lang="en-IN" sz="1500" b="1" dirty="0">
                <a:solidFill>
                  <a:schemeClr val="bg1"/>
                </a:solidFill>
                <a:hlinkClick r:id="rId3">
                  <a:extLst>
                    <a:ext uri="{A12FA001-AC4F-418D-AE19-62706E023703}">
                      <ahyp:hlinkClr xmlns:ahyp="http://schemas.microsoft.com/office/drawing/2018/hyperlinkcolor" val="tx"/>
                    </a:ext>
                  </a:extLst>
                </a:hlinkClick>
              </a:rPr>
              <a:t>https://terravow-qqd2ckoqhq-el.a.run.app/</a:t>
            </a:r>
            <a:r>
              <a:rPr lang="en-IN" sz="1500" b="1" dirty="0">
                <a:solidFill>
                  <a:schemeClr val="bg1"/>
                </a:solidFill>
              </a:rPr>
              <a:t> </a:t>
            </a:r>
            <a:endParaRPr sz="1500" b="1" i="0" dirty="0">
              <a:solidFill>
                <a:schemeClr val="bg1"/>
              </a:solidFill>
              <a:latin typeface="Calibri"/>
            </a:endParaRPr>
          </a:p>
        </p:txBody>
      </p:sp>
      <p:sp>
        <p:nvSpPr>
          <p:cNvPr id="30" name="Rounded Rectangle 29">
            <a:extLst>
              <a:ext uri="{FF2B5EF4-FFF2-40B4-BE49-F238E27FC236}">
                <a16:creationId xmlns:a16="http://schemas.microsoft.com/office/drawing/2014/main" id="{0B5C3D4E-CBFA-D0F5-134C-2720F0789190}"/>
              </a:ext>
            </a:extLst>
          </p:cNvPr>
          <p:cNvSpPr/>
          <p:nvPr/>
        </p:nvSpPr>
        <p:spPr>
          <a:xfrm>
            <a:off x="3246120" y="5862918"/>
            <a:ext cx="2606040" cy="914400"/>
          </a:xfrm>
          <a:prstGeom prst="roundRect">
            <a:avLst>
              <a:gd name="adj" fmla="val 8000"/>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lang="en-US" sz="1400" b="1" i="0" dirty="0">
                <a:solidFill>
                  <a:srgbClr val="3DDC97"/>
                </a:solidFill>
                <a:latin typeface="Calibri"/>
              </a:rPr>
              <a:t>Repo</a:t>
            </a:r>
            <a:r>
              <a:rPr sz="1400" b="1" i="0" dirty="0">
                <a:solidFill>
                  <a:srgbClr val="3DDC97"/>
                </a:solidFill>
                <a:latin typeface="Calibri"/>
              </a:rPr>
              <a:t> </a:t>
            </a:r>
            <a:r>
              <a:rPr lang="en-US" sz="1400" b="1" i="0" dirty="0">
                <a:solidFill>
                  <a:srgbClr val="3DDC97"/>
                </a:solidFill>
                <a:latin typeface="Calibri"/>
              </a:rPr>
              <a:t>link</a:t>
            </a:r>
            <a:endParaRPr sz="1400" b="1" i="0" dirty="0">
              <a:solidFill>
                <a:srgbClr val="3DDC97"/>
              </a:solidFill>
              <a:latin typeface="Calibri"/>
            </a:endParaRPr>
          </a:p>
          <a:p>
            <a:pPr algn="ctr">
              <a:spcAft>
                <a:spcPts val="0"/>
              </a:spcAft>
            </a:pPr>
            <a:r>
              <a:rPr lang="en-IN" sz="1500" b="1" dirty="0">
                <a:solidFill>
                  <a:schemeClr val="bg1"/>
                </a:solidFill>
                <a:hlinkClick r:id="rId4">
                  <a:extLst>
                    <a:ext uri="{A12FA001-AC4F-418D-AE19-62706E023703}">
                      <ahyp:hlinkClr xmlns:ahyp="http://schemas.microsoft.com/office/drawing/2018/hyperlinkcolor" val="tx"/>
                    </a:ext>
                  </a:extLst>
                </a:hlinkClick>
              </a:rPr>
              <a:t>https://github.com/rachitGupta-ai/TerraVow</a:t>
            </a:r>
            <a:r>
              <a:rPr lang="en-IN" sz="1500" b="1" dirty="0">
                <a:solidFill>
                  <a:schemeClr val="bg1"/>
                </a:solidFill>
              </a:rPr>
              <a:t> </a:t>
            </a:r>
            <a:endParaRPr sz="1500" b="1" i="0" dirty="0">
              <a:solidFill>
                <a:schemeClr val="bg1"/>
              </a:solidFill>
              <a:latin typeface="Calibri"/>
            </a:endParaRPr>
          </a:p>
        </p:txBody>
      </p:sp>
      <p:sp>
        <p:nvSpPr>
          <p:cNvPr id="31" name="Rounded Rectangle 30">
            <a:extLst>
              <a:ext uri="{FF2B5EF4-FFF2-40B4-BE49-F238E27FC236}">
                <a16:creationId xmlns:a16="http://schemas.microsoft.com/office/drawing/2014/main" id="{D9A0B034-3390-69BE-0316-5F52C6835E41}"/>
              </a:ext>
            </a:extLst>
          </p:cNvPr>
          <p:cNvSpPr/>
          <p:nvPr/>
        </p:nvSpPr>
        <p:spPr>
          <a:xfrm>
            <a:off x="6035040" y="5862918"/>
            <a:ext cx="2606040" cy="914400"/>
          </a:xfrm>
          <a:prstGeom prst="roundRect">
            <a:avLst>
              <a:gd name="adj" fmla="val 8000"/>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lang="en-US" sz="1400" b="1" i="0" dirty="0">
                <a:solidFill>
                  <a:srgbClr val="3DDC97"/>
                </a:solidFill>
                <a:latin typeface="Calibri"/>
              </a:rPr>
              <a:t>Demo video link</a:t>
            </a:r>
            <a:endParaRPr sz="1400" b="1" i="0" dirty="0">
              <a:solidFill>
                <a:srgbClr val="3DDC97"/>
              </a:solidFill>
              <a:latin typeface="Calibri"/>
            </a:endParaRPr>
          </a:p>
          <a:p>
            <a:pPr algn="ctr">
              <a:spcAft>
                <a:spcPts val="0"/>
              </a:spcAft>
            </a:pPr>
            <a:r>
              <a:rPr sz="1500" b="1" i="0" dirty="0">
                <a:solidFill>
                  <a:srgbClr val="F2B84B"/>
                </a:solidFill>
                <a:latin typeface="Calibri"/>
              </a:rPr>
              <a:t>[Contact]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Factories grow the world, and they are among its biggest polluters</a:t>
            </a:r>
          </a:p>
        </p:txBody>
      </p:sp>
      <p:sp>
        <p:nvSpPr>
          <p:cNvPr id="3" name="TextBox 2"/>
          <p:cNvSpPr txBox="1"/>
          <p:nvPr/>
        </p:nvSpPr>
        <p:spPr>
          <a:xfrm>
            <a:off x="548640" y="274320"/>
            <a:ext cx="7315200" cy="240066"/>
          </a:xfrm>
          <a:prstGeom prst="rect">
            <a:avLst/>
          </a:prstGeom>
          <a:noFill/>
        </p:spPr>
        <p:txBody>
          <a:bodyPr wrap="square" lIns="45720" tIns="27432" rIns="45720" bIns="27432" anchor="t">
            <a:spAutoFit/>
          </a:bodyPr>
          <a:lstStyle/>
          <a:p>
            <a:pPr algn="l">
              <a:spcAft>
                <a:spcPts val="0"/>
              </a:spcAft>
            </a:pPr>
            <a:r>
              <a:rPr sz="1200" b="1" i="0" dirty="0">
                <a:solidFill>
                  <a:srgbClr val="3DDC97"/>
                </a:solidFill>
                <a:latin typeface="Calibri"/>
              </a:rPr>
              <a:t>THE PARADOX</a:t>
            </a:r>
            <a:r>
              <a:rPr lang="en-US" sz="1200" b="1" i="0" dirty="0">
                <a:solidFill>
                  <a:srgbClr val="3DDC97"/>
                </a:solidFill>
                <a:latin typeface="Calibri"/>
              </a:rPr>
              <a:t> : </a:t>
            </a:r>
            <a:endParaRPr sz="1200" b="1" i="0" dirty="0">
              <a:solidFill>
                <a:srgbClr val="3DDC97"/>
              </a:solidFill>
              <a:latin typeface="Calibri"/>
            </a:endParaRP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Sources: World Bank NV.IND.MANF.ZS (2025); IPCC AR6 WGIII SPM B.2.1 (2019); PIB 14 Oct 2026 and 14 May 2026. Manufacturing value added and the IPCC industry sector are different scopes.</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2</a:t>
            </a:r>
          </a:p>
        </p:txBody>
      </p:sp>
      <p:sp>
        <p:nvSpPr>
          <p:cNvPr id="7" name="Rounded Rectangle 6"/>
          <p:cNvSpPr/>
          <p:nvPr/>
        </p:nvSpPr>
        <p:spPr>
          <a:xfrm>
            <a:off x="548640" y="1600200"/>
            <a:ext cx="5257800" cy="4526280"/>
          </a:xfrm>
          <a:prstGeom prst="roundRect">
            <a:avLst>
              <a:gd name="adj" fmla="val 1212"/>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691640"/>
            <a:ext cx="4754880" cy="320040"/>
          </a:xfrm>
          <a:prstGeom prst="rect">
            <a:avLst/>
          </a:prstGeom>
          <a:noFill/>
        </p:spPr>
        <p:txBody>
          <a:bodyPr wrap="square" lIns="45720" tIns="27432" rIns="45720" bIns="27432" anchor="t">
            <a:spAutoFit/>
          </a:bodyPr>
          <a:lstStyle/>
          <a:p>
            <a:pPr algn="l">
              <a:spcAft>
                <a:spcPts val="0"/>
              </a:spcAft>
            </a:pPr>
            <a:r>
              <a:rPr sz="1300" b="1" i="0">
                <a:solidFill>
                  <a:srgbClr val="3DDC97"/>
                </a:solidFill>
                <a:latin typeface="Calibri"/>
              </a:rPr>
              <a:t>THE GROWTH ENGINE</a:t>
            </a:r>
          </a:p>
        </p:txBody>
      </p:sp>
      <p:sp>
        <p:nvSpPr>
          <p:cNvPr id="9" name="TextBox 8"/>
          <p:cNvSpPr txBox="1"/>
          <p:nvPr/>
        </p:nvSpPr>
        <p:spPr>
          <a:xfrm>
            <a:off x="777240" y="2011680"/>
            <a:ext cx="2834640" cy="1097280"/>
          </a:xfrm>
          <a:prstGeom prst="rect">
            <a:avLst/>
          </a:prstGeom>
          <a:noFill/>
        </p:spPr>
        <p:txBody>
          <a:bodyPr wrap="square" lIns="45720" tIns="27432" rIns="45720" bIns="27432" anchor="t">
            <a:spAutoFit/>
          </a:bodyPr>
          <a:lstStyle/>
          <a:p>
            <a:pPr algn="l">
              <a:spcAft>
                <a:spcPts val="0"/>
              </a:spcAft>
            </a:pPr>
            <a:r>
              <a:rPr sz="6600" b="1" i="0">
                <a:solidFill>
                  <a:srgbClr val="3DDC97"/>
                </a:solidFill>
                <a:latin typeface="Calibri"/>
              </a:rPr>
              <a:t>~15%</a:t>
            </a:r>
          </a:p>
        </p:txBody>
      </p:sp>
      <p:sp>
        <p:nvSpPr>
          <p:cNvPr id="10" name="TextBox 9"/>
          <p:cNvSpPr txBox="1"/>
          <p:nvPr/>
        </p:nvSpPr>
        <p:spPr>
          <a:xfrm>
            <a:off x="3474720" y="2194560"/>
            <a:ext cx="2194560" cy="914400"/>
          </a:xfrm>
          <a:prstGeom prst="rect">
            <a:avLst/>
          </a:prstGeom>
          <a:noFill/>
        </p:spPr>
        <p:txBody>
          <a:bodyPr wrap="square" lIns="45720" tIns="27432" rIns="45720" bIns="27432" anchor="t">
            <a:spAutoFit/>
          </a:bodyPr>
          <a:lstStyle/>
          <a:p>
            <a:pPr algn="l">
              <a:spcAft>
                <a:spcPts val="0"/>
              </a:spcAft>
            </a:pPr>
            <a:r>
              <a:rPr sz="1400" b="0" i="0">
                <a:solidFill>
                  <a:srgbClr val="F0F4F8"/>
                </a:solidFill>
                <a:latin typeface="Calibri"/>
              </a:rPr>
              <a:t>of world GDP is manufacturing value added</a:t>
            </a:r>
          </a:p>
        </p:txBody>
      </p:sp>
      <p:sp>
        <p:nvSpPr>
          <p:cNvPr id="11" name="Rounded Rectangle 10"/>
          <p:cNvSpPr/>
          <p:nvPr/>
        </p:nvSpPr>
        <p:spPr>
          <a:xfrm>
            <a:off x="777240" y="3429000"/>
            <a:ext cx="4800600" cy="1097280"/>
          </a:xfrm>
          <a:prstGeom prst="roundRect">
            <a:avLst>
              <a:gd name="adj" fmla="val 5000"/>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520440"/>
            <a:ext cx="1828800" cy="914400"/>
          </a:xfrm>
          <a:prstGeom prst="rect">
            <a:avLst/>
          </a:prstGeom>
          <a:noFill/>
        </p:spPr>
        <p:txBody>
          <a:bodyPr wrap="square" lIns="45720" tIns="27432" rIns="45720" bIns="27432" anchor="ctr">
            <a:spAutoFit/>
          </a:bodyPr>
          <a:lstStyle/>
          <a:p>
            <a:pPr algn="l">
              <a:spcAft>
                <a:spcPts val="0"/>
              </a:spcAft>
            </a:pPr>
            <a:r>
              <a:rPr sz="3600" b="1" i="0">
                <a:solidFill>
                  <a:srgbClr val="3DDC97"/>
                </a:solidFill>
                <a:latin typeface="Calibri"/>
              </a:rPr>
              <a:t>16-17%</a:t>
            </a:r>
          </a:p>
        </p:txBody>
      </p:sp>
      <p:sp>
        <p:nvSpPr>
          <p:cNvPr id="13" name="TextBox 12"/>
          <p:cNvSpPr txBox="1"/>
          <p:nvPr/>
        </p:nvSpPr>
        <p:spPr>
          <a:xfrm>
            <a:off x="2788920" y="3520440"/>
            <a:ext cx="2697480" cy="914400"/>
          </a:xfrm>
          <a:prstGeom prst="rect">
            <a:avLst/>
          </a:prstGeom>
          <a:noFill/>
        </p:spPr>
        <p:txBody>
          <a:bodyPr wrap="square" lIns="45720" tIns="27432" rIns="45720" bIns="27432" anchor="ctr">
            <a:spAutoFit/>
          </a:bodyPr>
          <a:lstStyle/>
          <a:p>
            <a:pPr algn="l">
              <a:spcAft>
                <a:spcPts val="0"/>
              </a:spcAft>
            </a:pPr>
            <a:r>
              <a:rPr sz="1400" b="0" i="0">
                <a:solidFill>
                  <a:srgbClr val="F0F4F8"/>
                </a:solidFill>
                <a:latin typeface="Calibri"/>
              </a:rPr>
              <a:t>of India's GDP is manufacturing</a:t>
            </a:r>
          </a:p>
        </p:txBody>
      </p:sp>
      <p:sp>
        <p:nvSpPr>
          <p:cNvPr id="14" name="Rounded Rectangle 13"/>
          <p:cNvSpPr/>
          <p:nvPr/>
        </p:nvSpPr>
        <p:spPr>
          <a:xfrm>
            <a:off x="777240" y="4709160"/>
            <a:ext cx="4800600" cy="1097280"/>
          </a:xfrm>
          <a:prstGeom prst="roundRect">
            <a:avLst>
              <a:gd name="adj" fmla="val 5000"/>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800600"/>
            <a:ext cx="1828800" cy="914400"/>
          </a:xfrm>
          <a:prstGeom prst="rect">
            <a:avLst/>
          </a:prstGeom>
          <a:noFill/>
        </p:spPr>
        <p:txBody>
          <a:bodyPr wrap="square" lIns="45720" tIns="27432" rIns="45720" bIns="27432" anchor="ctr">
            <a:spAutoFit/>
          </a:bodyPr>
          <a:lstStyle/>
          <a:p>
            <a:pPr algn="l">
              <a:spcAft>
                <a:spcPts val="0"/>
              </a:spcAft>
            </a:pPr>
            <a:r>
              <a:rPr sz="3600" b="1" i="0">
                <a:solidFill>
                  <a:srgbClr val="3DDC97"/>
                </a:solidFill>
                <a:latin typeface="Calibri"/>
              </a:rPr>
              <a:t>35.4%</a:t>
            </a:r>
          </a:p>
        </p:txBody>
      </p:sp>
      <p:sp>
        <p:nvSpPr>
          <p:cNvPr id="16" name="TextBox 15"/>
          <p:cNvSpPr txBox="1"/>
          <p:nvPr/>
        </p:nvSpPr>
        <p:spPr>
          <a:xfrm>
            <a:off x="2788920" y="4800600"/>
            <a:ext cx="2697480" cy="914400"/>
          </a:xfrm>
          <a:prstGeom prst="rect">
            <a:avLst/>
          </a:prstGeom>
          <a:noFill/>
        </p:spPr>
        <p:txBody>
          <a:bodyPr wrap="square" lIns="45720" tIns="27432" rIns="45720" bIns="27432" anchor="ctr">
            <a:spAutoFit/>
          </a:bodyPr>
          <a:lstStyle/>
          <a:p>
            <a:pPr algn="l">
              <a:spcAft>
                <a:spcPts val="0"/>
              </a:spcAft>
            </a:pPr>
            <a:r>
              <a:rPr sz="1400" b="0" i="0">
                <a:solidFill>
                  <a:srgbClr val="F0F4F8"/>
                </a:solidFill>
                <a:latin typeface="Calibri"/>
              </a:rPr>
              <a:t>of India's manufacturing output comes from MSMEs</a:t>
            </a:r>
          </a:p>
        </p:txBody>
      </p:sp>
      <p:sp>
        <p:nvSpPr>
          <p:cNvPr id="17" name="Rounded Rectangle 16"/>
          <p:cNvSpPr/>
          <p:nvPr/>
        </p:nvSpPr>
        <p:spPr>
          <a:xfrm>
            <a:off x="6309360" y="1600200"/>
            <a:ext cx="5330952" cy="4526280"/>
          </a:xfrm>
          <a:prstGeom prst="roundRect">
            <a:avLst>
              <a:gd name="adj" fmla="val 1212"/>
            </a:avLst>
          </a:prstGeom>
          <a:solidFill>
            <a:srgbClr val="111820"/>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1691640"/>
            <a:ext cx="4846320" cy="320040"/>
          </a:xfrm>
          <a:prstGeom prst="rect">
            <a:avLst/>
          </a:prstGeom>
          <a:noFill/>
        </p:spPr>
        <p:txBody>
          <a:bodyPr wrap="square" lIns="45720" tIns="27432" rIns="45720" bIns="27432" anchor="t">
            <a:spAutoFit/>
          </a:bodyPr>
          <a:lstStyle/>
          <a:p>
            <a:pPr algn="l">
              <a:spcAft>
                <a:spcPts val="0"/>
              </a:spcAft>
            </a:pPr>
            <a:r>
              <a:rPr sz="1300" b="1" i="0">
                <a:solidFill>
                  <a:srgbClr val="FF7A7A"/>
                </a:solidFill>
                <a:latin typeface="Calibri"/>
              </a:rPr>
              <a:t>THE COST</a:t>
            </a:r>
          </a:p>
        </p:txBody>
      </p:sp>
      <p:sp>
        <p:nvSpPr>
          <p:cNvPr id="19" name="TextBox 18"/>
          <p:cNvSpPr txBox="1"/>
          <p:nvPr/>
        </p:nvSpPr>
        <p:spPr>
          <a:xfrm>
            <a:off x="6537960" y="2011680"/>
            <a:ext cx="4846320" cy="502920"/>
          </a:xfrm>
          <a:prstGeom prst="rect">
            <a:avLst/>
          </a:prstGeom>
          <a:noFill/>
        </p:spPr>
        <p:txBody>
          <a:bodyPr wrap="square" lIns="45720" tIns="27432" rIns="45720" bIns="27432" anchor="t">
            <a:spAutoFit/>
          </a:bodyPr>
          <a:lstStyle/>
          <a:p>
            <a:pPr algn="l">
              <a:spcAft>
                <a:spcPts val="0"/>
              </a:spcAft>
            </a:pPr>
            <a:r>
              <a:rPr sz="1400" b="0" i="0">
                <a:solidFill>
                  <a:srgbClr val="F0F4F8"/>
                </a:solidFill>
                <a:latin typeface="Calibri"/>
              </a:rPr>
              <a:t>Share of 2019 global GHG emissions, by sector</a:t>
            </a:r>
          </a:p>
        </p:txBody>
      </p:sp>
      <p:graphicFrame>
        <p:nvGraphicFramePr>
          <p:cNvPr id="20" name="Chart 19"/>
          <p:cNvGraphicFramePr>
            <a:graphicFrameLocks noGrp="1"/>
          </p:cNvGraphicFramePr>
          <p:nvPr/>
        </p:nvGraphicFramePr>
        <p:xfrm>
          <a:off x="6446520" y="2468880"/>
          <a:ext cx="507492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21" name="Rounded Rectangle 20"/>
          <p:cNvSpPr/>
          <p:nvPr/>
        </p:nvSpPr>
        <p:spPr>
          <a:xfrm>
            <a:off x="6537960" y="5074920"/>
            <a:ext cx="4892040" cy="914400"/>
          </a:xfrm>
          <a:prstGeom prst="roundRect">
            <a:avLst>
              <a:gd name="adj" fmla="val 8000"/>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300" b="1" i="0">
                <a:solidFill>
                  <a:srgbClr val="FF7A7A"/>
                </a:solidFill>
                <a:latin typeface="Calibri"/>
              </a:rPr>
              <a:t>Industry: 24% direct, </a:t>
            </a:r>
            <a:r>
              <a:rPr sz="1800" b="1" i="0">
                <a:solidFill>
                  <a:srgbClr val="FF7A7A"/>
                </a:solidFill>
                <a:latin typeface="Calibri"/>
              </a:rPr>
              <a:t>34% </a:t>
            </a:r>
            <a:r>
              <a:rPr sz="1300" b="0" i="0">
                <a:solidFill>
                  <a:srgbClr val="F0F4F8"/>
                </a:solidFill>
                <a:latin typeface="Calibri"/>
              </a:rPr>
              <a:t>once electricity is attributed to the factories that use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The hidden cause: worn machines quietly burn more and leak more</a:t>
            </a:r>
          </a:p>
        </p:txBody>
      </p:sp>
      <p:sp>
        <p:nvSpPr>
          <p:cNvPr id="3" name="TextBox 2"/>
          <p:cNvSpPr txBox="1"/>
          <p:nvPr/>
        </p:nvSpPr>
        <p:spPr>
          <a:xfrm>
            <a:off x="548640" y="274320"/>
            <a:ext cx="7315200" cy="332399"/>
          </a:xfrm>
          <a:prstGeom prst="rect">
            <a:avLst/>
          </a:prstGeom>
          <a:noFill/>
        </p:spPr>
        <p:txBody>
          <a:bodyPr wrap="square" lIns="45720" tIns="27432" rIns="45720" bIns="27432" anchor="t">
            <a:spAutoFit/>
          </a:bodyPr>
          <a:lstStyle/>
          <a:p>
            <a:pPr algn="l">
              <a:spcAft>
                <a:spcPts val="0"/>
              </a:spcAft>
            </a:pPr>
            <a:r>
              <a:rPr b="1" i="0" dirty="0">
                <a:solidFill>
                  <a:srgbClr val="3DDC97"/>
                </a:solidFill>
                <a:latin typeface="Calibri"/>
              </a:rPr>
              <a:t>THE HIDDEN CAUSE</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Left: Kiln K-4, synthetic demo fleet, illustrative engine model (not a measurement). Right: US DOE FEMP O&amp;M Best Practices Guide, Release 3.0 (US federal sites).</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3</a:t>
            </a:r>
          </a:p>
        </p:txBody>
      </p:sp>
      <p:sp>
        <p:nvSpPr>
          <p:cNvPr id="7" name="Rounded Rectangle 6"/>
          <p:cNvSpPr/>
          <p:nvPr/>
        </p:nvSpPr>
        <p:spPr>
          <a:xfrm>
            <a:off x="548640" y="1600200"/>
            <a:ext cx="5943600" cy="4526280"/>
          </a:xfrm>
          <a:prstGeom prst="roundRect">
            <a:avLst>
              <a:gd name="adj" fmla="val 1212"/>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577840" cy="301752"/>
          </a:xfrm>
          <a:prstGeom prst="rect">
            <a:avLst/>
          </a:prstGeom>
          <a:noFill/>
        </p:spPr>
        <p:txBody>
          <a:bodyPr wrap="square" lIns="45720" tIns="27432" rIns="45720" bIns="27432" anchor="t">
            <a:spAutoFit/>
          </a:bodyPr>
          <a:lstStyle/>
          <a:p>
            <a:pPr algn="l">
              <a:spcAft>
                <a:spcPts val="0"/>
              </a:spcAft>
            </a:pPr>
            <a:r>
              <a:rPr sz="1200" b="1" i="0">
                <a:solidFill>
                  <a:srgbClr val="9FB3C8"/>
                </a:solidFill>
                <a:latin typeface="Calibri"/>
              </a:rPr>
              <a:t>KILN K-4 OVER 12 MONTHS  |  ILLUSTRATIVE</a:t>
            </a:r>
          </a:p>
        </p:txBody>
      </p:sp>
      <p:sp>
        <p:nvSpPr>
          <p:cNvPr id="9" name="TextBox 8"/>
          <p:cNvSpPr txBox="1"/>
          <p:nvPr/>
        </p:nvSpPr>
        <p:spPr>
          <a:xfrm>
            <a:off x="731520" y="2011680"/>
            <a:ext cx="3657600" cy="274320"/>
          </a:xfrm>
          <a:prstGeom prst="rect">
            <a:avLst/>
          </a:prstGeom>
          <a:noFill/>
        </p:spPr>
        <p:txBody>
          <a:bodyPr wrap="square" lIns="45720" tIns="27432" rIns="45720" bIns="27432" anchor="t">
            <a:spAutoFit/>
          </a:bodyPr>
          <a:lstStyle/>
          <a:p>
            <a:pPr algn="l">
              <a:spcAft>
                <a:spcPts val="0"/>
              </a:spcAft>
            </a:pPr>
            <a:r>
              <a:rPr sz="1300" b="1" i="0">
                <a:solidFill>
                  <a:srgbClr val="3DDC97"/>
                </a:solidFill>
                <a:latin typeface="Calibri"/>
              </a:rPr>
              <a:t>Health score (0-100)</a:t>
            </a:r>
          </a:p>
        </p:txBody>
      </p:sp>
      <p:graphicFrame>
        <p:nvGraphicFramePr>
          <p:cNvPr id="10" name="Chart 9"/>
          <p:cNvGraphicFramePr>
            <a:graphicFrameLocks noGrp="1"/>
          </p:cNvGraphicFramePr>
          <p:nvPr/>
        </p:nvGraphicFramePr>
        <p:xfrm>
          <a:off x="640080" y="2267712"/>
          <a:ext cx="5760720"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731520" y="4023360"/>
            <a:ext cx="3657600" cy="274320"/>
          </a:xfrm>
          <a:prstGeom prst="rect">
            <a:avLst/>
          </a:prstGeom>
          <a:noFill/>
        </p:spPr>
        <p:txBody>
          <a:bodyPr wrap="square" lIns="45720" tIns="27432" rIns="45720" bIns="27432" anchor="t">
            <a:spAutoFit/>
          </a:bodyPr>
          <a:lstStyle/>
          <a:p>
            <a:pPr algn="l">
              <a:spcAft>
                <a:spcPts val="0"/>
              </a:spcAft>
            </a:pPr>
            <a:r>
              <a:rPr sz="1300" b="1" i="0">
                <a:solidFill>
                  <a:srgbClr val="FF7A7A"/>
                </a:solidFill>
                <a:latin typeface="Calibri"/>
              </a:rPr>
              <a:t>Effluent, m3 per day</a:t>
            </a:r>
          </a:p>
        </p:txBody>
      </p:sp>
      <p:graphicFrame>
        <p:nvGraphicFramePr>
          <p:cNvPr id="12" name="Chart 11"/>
          <p:cNvGraphicFramePr>
            <a:graphicFrameLocks noGrp="1"/>
          </p:cNvGraphicFramePr>
          <p:nvPr/>
        </p:nvGraphicFramePr>
        <p:xfrm>
          <a:off x="640080" y="4279392"/>
          <a:ext cx="5760720"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6812280" y="1600200"/>
            <a:ext cx="4846320" cy="320040"/>
          </a:xfrm>
          <a:prstGeom prst="rect">
            <a:avLst/>
          </a:prstGeom>
          <a:noFill/>
        </p:spPr>
        <p:txBody>
          <a:bodyPr wrap="square" lIns="45720" tIns="27432" rIns="45720" bIns="27432" anchor="t">
            <a:spAutoFit/>
          </a:bodyPr>
          <a:lstStyle/>
          <a:p>
            <a:pPr algn="l">
              <a:spcAft>
                <a:spcPts val="0"/>
              </a:spcAft>
            </a:pPr>
            <a:r>
              <a:rPr sz="1200" b="1" i="0">
                <a:solidFill>
                  <a:srgbClr val="9FB3C8"/>
                </a:solidFill>
                <a:latin typeface="Calibri"/>
              </a:rPr>
              <a:t>SMALL SNAGS, BIG CONSEQUENCES</a:t>
            </a:r>
          </a:p>
        </p:txBody>
      </p:sp>
      <p:sp>
        <p:nvSpPr>
          <p:cNvPr id="14" name="Rounded Rectangle 13"/>
          <p:cNvSpPr/>
          <p:nvPr/>
        </p:nvSpPr>
        <p:spPr>
          <a:xfrm>
            <a:off x="6812280" y="1965960"/>
            <a:ext cx="4828032" cy="731520"/>
          </a:xfrm>
          <a:prstGeom prst="roundRect">
            <a:avLst>
              <a:gd name="adj" fmla="val 7500"/>
            </a:avLst>
          </a:prstGeom>
          <a:solidFill>
            <a:srgbClr val="16212B"/>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0" y="2002536"/>
            <a:ext cx="1691640" cy="658368"/>
          </a:xfrm>
          <a:prstGeom prst="rect">
            <a:avLst/>
          </a:prstGeom>
          <a:noFill/>
        </p:spPr>
        <p:txBody>
          <a:bodyPr wrap="square" lIns="45720" tIns="27432" rIns="45720" bIns="27432" anchor="ctr">
            <a:spAutoFit/>
          </a:bodyPr>
          <a:lstStyle/>
          <a:p>
            <a:pPr algn="l">
              <a:spcAft>
                <a:spcPts val="0"/>
              </a:spcAft>
            </a:pPr>
            <a:r>
              <a:rPr sz="1500" b="1" i="0">
                <a:solidFill>
                  <a:srgbClr val="4DA3F0"/>
                </a:solidFill>
                <a:latin typeface="Calibri"/>
              </a:rPr>
              <a:t>A worn seal</a:t>
            </a:r>
          </a:p>
        </p:txBody>
      </p:sp>
      <p:sp>
        <p:nvSpPr>
          <p:cNvPr id="16" name="TextBox 15"/>
          <p:cNvSpPr txBox="1"/>
          <p:nvPr/>
        </p:nvSpPr>
        <p:spPr>
          <a:xfrm>
            <a:off x="8641080" y="2002536"/>
            <a:ext cx="2926080" cy="658368"/>
          </a:xfrm>
          <a:prstGeom prst="rect">
            <a:avLst/>
          </a:prstGeom>
          <a:noFill/>
        </p:spPr>
        <p:txBody>
          <a:bodyPr wrap="square" lIns="45720" tIns="27432" rIns="45720" bIns="27432" anchor="ctr">
            <a:spAutoFit/>
          </a:bodyPr>
          <a:lstStyle/>
          <a:p>
            <a:pPr algn="l">
              <a:spcAft>
                <a:spcPts val="0"/>
              </a:spcAft>
            </a:pPr>
            <a:r>
              <a:rPr sz="1300" b="0" i="0">
                <a:solidFill>
                  <a:srgbClr val="F0F4F8"/>
                </a:solidFill>
                <a:latin typeface="Calibri"/>
              </a:rPr>
              <a:t>Air leaks in. The burner works harder.</a:t>
            </a:r>
          </a:p>
        </p:txBody>
      </p:sp>
      <p:sp>
        <p:nvSpPr>
          <p:cNvPr id="17" name="Rounded Rectangle 16"/>
          <p:cNvSpPr/>
          <p:nvPr/>
        </p:nvSpPr>
        <p:spPr>
          <a:xfrm>
            <a:off x="6812280" y="2807208"/>
            <a:ext cx="4828032" cy="731520"/>
          </a:xfrm>
          <a:prstGeom prst="roundRect">
            <a:avLst>
              <a:gd name="adj" fmla="val 7500"/>
            </a:avLst>
          </a:prstGeom>
          <a:solidFill>
            <a:srgbClr val="16212B"/>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0" y="2843784"/>
            <a:ext cx="1691640" cy="658368"/>
          </a:xfrm>
          <a:prstGeom prst="rect">
            <a:avLst/>
          </a:prstGeom>
          <a:noFill/>
        </p:spPr>
        <p:txBody>
          <a:bodyPr wrap="square" lIns="45720" tIns="27432" rIns="45720" bIns="27432" anchor="ctr">
            <a:spAutoFit/>
          </a:bodyPr>
          <a:lstStyle/>
          <a:p>
            <a:pPr algn="l">
              <a:spcAft>
                <a:spcPts val="0"/>
              </a:spcAft>
            </a:pPr>
            <a:r>
              <a:rPr sz="1500" b="1" i="0">
                <a:solidFill>
                  <a:srgbClr val="F2B84B"/>
                </a:solidFill>
                <a:latin typeface="Calibri"/>
              </a:rPr>
              <a:t>A drifting burner</a:t>
            </a:r>
          </a:p>
        </p:txBody>
      </p:sp>
      <p:sp>
        <p:nvSpPr>
          <p:cNvPr id="19" name="TextBox 18"/>
          <p:cNvSpPr txBox="1"/>
          <p:nvPr/>
        </p:nvSpPr>
        <p:spPr>
          <a:xfrm>
            <a:off x="8641080" y="2843784"/>
            <a:ext cx="2926080" cy="658368"/>
          </a:xfrm>
          <a:prstGeom prst="rect">
            <a:avLst/>
          </a:prstGeom>
          <a:noFill/>
        </p:spPr>
        <p:txBody>
          <a:bodyPr wrap="square" lIns="45720" tIns="27432" rIns="45720" bIns="27432" anchor="ctr">
            <a:spAutoFit/>
          </a:bodyPr>
          <a:lstStyle/>
          <a:p>
            <a:pPr algn="l">
              <a:spcAft>
                <a:spcPts val="0"/>
              </a:spcAft>
            </a:pPr>
            <a:r>
              <a:rPr sz="1300" b="0" i="0">
                <a:solidFill>
                  <a:srgbClr val="F0F4F8"/>
                </a:solidFill>
                <a:latin typeface="Calibri"/>
              </a:rPr>
              <a:t>Soot builds up. Fuel and NOx rise.</a:t>
            </a:r>
          </a:p>
        </p:txBody>
      </p:sp>
      <p:sp>
        <p:nvSpPr>
          <p:cNvPr id="20" name="Rounded Rectangle 19"/>
          <p:cNvSpPr/>
          <p:nvPr/>
        </p:nvSpPr>
        <p:spPr>
          <a:xfrm>
            <a:off x="6812280" y="3648456"/>
            <a:ext cx="4828032" cy="731520"/>
          </a:xfrm>
          <a:prstGeom prst="roundRect">
            <a:avLst>
              <a:gd name="adj" fmla="val 7500"/>
            </a:avLst>
          </a:prstGeom>
          <a:solidFill>
            <a:srgbClr val="16212B"/>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0" y="3685032"/>
            <a:ext cx="1691640" cy="658368"/>
          </a:xfrm>
          <a:prstGeom prst="rect">
            <a:avLst/>
          </a:prstGeom>
          <a:noFill/>
        </p:spPr>
        <p:txBody>
          <a:bodyPr wrap="square" lIns="45720" tIns="27432" rIns="45720" bIns="27432" anchor="ctr">
            <a:spAutoFit/>
          </a:bodyPr>
          <a:lstStyle/>
          <a:p>
            <a:pPr algn="l">
              <a:spcAft>
                <a:spcPts val="0"/>
              </a:spcAft>
            </a:pPr>
            <a:r>
              <a:rPr sz="1500" b="1" i="0">
                <a:solidFill>
                  <a:srgbClr val="FF7A7A"/>
                </a:solidFill>
                <a:latin typeface="Calibri"/>
              </a:rPr>
              <a:t>A clogged filter</a:t>
            </a:r>
          </a:p>
        </p:txBody>
      </p:sp>
      <p:sp>
        <p:nvSpPr>
          <p:cNvPr id="22" name="TextBox 21"/>
          <p:cNvSpPr txBox="1"/>
          <p:nvPr/>
        </p:nvSpPr>
        <p:spPr>
          <a:xfrm>
            <a:off x="8641080" y="3685032"/>
            <a:ext cx="2926080" cy="658368"/>
          </a:xfrm>
          <a:prstGeom prst="rect">
            <a:avLst/>
          </a:prstGeom>
          <a:noFill/>
        </p:spPr>
        <p:txBody>
          <a:bodyPr wrap="square" lIns="45720" tIns="27432" rIns="45720" bIns="27432" anchor="ctr">
            <a:spAutoFit/>
          </a:bodyPr>
          <a:lstStyle/>
          <a:p>
            <a:pPr algn="l">
              <a:spcAft>
                <a:spcPts val="0"/>
              </a:spcAft>
            </a:pPr>
            <a:r>
              <a:rPr sz="1300" b="0" i="0">
                <a:solidFill>
                  <a:srgbClr val="F0F4F8"/>
                </a:solidFill>
                <a:latin typeface="Calibri"/>
              </a:rPr>
              <a:t>The fan strains. Emissions per tonne climb.</a:t>
            </a:r>
          </a:p>
        </p:txBody>
      </p:sp>
      <p:sp>
        <p:nvSpPr>
          <p:cNvPr id="23" name="Rounded Rectangle 22"/>
          <p:cNvSpPr/>
          <p:nvPr/>
        </p:nvSpPr>
        <p:spPr>
          <a:xfrm>
            <a:off x="6812280" y="4572000"/>
            <a:ext cx="4828032" cy="1554480"/>
          </a:xfrm>
          <a:prstGeom prst="roundRect">
            <a:avLst>
              <a:gd name="adj" fmla="val 4705"/>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200"/>
              </a:spcAft>
            </a:pPr>
            <a:r>
              <a:rPr sz="3000" b="1" i="0">
                <a:solidFill>
                  <a:srgbClr val="3DDC97"/>
                </a:solidFill>
                <a:latin typeface="Calibri"/>
              </a:rPr>
              <a:t>5-20%</a:t>
            </a:r>
            <a:r>
              <a:rPr sz="1400" b="0" i="0">
                <a:solidFill>
                  <a:srgbClr val="F0F4F8"/>
                </a:solidFill>
                <a:latin typeface="Calibri"/>
              </a:rPr>
              <a:t>  lower energy bills with good O&amp;M</a:t>
            </a:r>
          </a:p>
          <a:p>
            <a:pPr algn="l">
              <a:spcAft>
                <a:spcPts val="0"/>
              </a:spcAft>
            </a:pPr>
            <a:r>
              <a:rPr sz="1200" b="0" i="0">
                <a:solidFill>
                  <a:srgbClr val="9FB3C8"/>
                </a:solidFill>
                <a:latin typeface="Calibri"/>
              </a:rPr>
              <a:t>US DOE estimate for federal sites. Direction, not a promise for any one plant.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Today's tools cannot connect a deferred repair to a pollution event</a:t>
            </a:r>
          </a:p>
        </p:txBody>
      </p:sp>
      <p:sp>
        <p:nvSpPr>
          <p:cNvPr id="3" name="TextBox 2"/>
          <p:cNvSpPr txBox="1"/>
          <p:nvPr/>
        </p:nvSpPr>
        <p:spPr>
          <a:xfrm>
            <a:off x="548640" y="274320"/>
            <a:ext cx="7315200" cy="332399"/>
          </a:xfrm>
          <a:prstGeom prst="rect">
            <a:avLst/>
          </a:prstGeom>
          <a:noFill/>
        </p:spPr>
        <p:txBody>
          <a:bodyPr wrap="square" lIns="45720" tIns="27432" rIns="45720" bIns="27432" anchor="t">
            <a:spAutoFit/>
          </a:bodyPr>
          <a:lstStyle/>
          <a:p>
            <a:pPr algn="l">
              <a:spcAft>
                <a:spcPts val="0"/>
              </a:spcAft>
            </a:pPr>
            <a:r>
              <a:rPr b="1" i="0" dirty="0">
                <a:solidFill>
                  <a:srgbClr val="3DDC97"/>
                </a:solidFill>
                <a:latin typeface="Calibri"/>
              </a:rPr>
              <a:t>THE GAP TODAY</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Category-level assessment from docs/competitive-landscape.md and docs/overview.md. Individual vendors may differ.</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4</a:t>
            </a:r>
          </a:p>
        </p:txBody>
      </p:sp>
      <p:sp>
        <p:nvSpPr>
          <p:cNvPr id="7" name="Rounded Rectangle 6"/>
          <p:cNvSpPr/>
          <p:nvPr/>
        </p:nvSpPr>
        <p:spPr>
          <a:xfrm>
            <a:off x="548640" y="1645920"/>
            <a:ext cx="2633472" cy="3017520"/>
          </a:xfrm>
          <a:prstGeom prst="roundRect">
            <a:avLst>
              <a:gd name="adj" fmla="val 2083"/>
            </a:avLst>
          </a:prstGeom>
          <a:solidFill>
            <a:srgbClr val="111820"/>
          </a:solidFill>
          <a:ln w="15875">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737360"/>
            <a:ext cx="2359152" cy="640080"/>
          </a:xfrm>
          <a:prstGeom prst="rect">
            <a:avLst/>
          </a:prstGeom>
          <a:noFill/>
        </p:spPr>
        <p:txBody>
          <a:bodyPr wrap="square" lIns="45720" tIns="27432" rIns="45720" bIns="27432" anchor="t">
            <a:spAutoFit/>
          </a:bodyPr>
          <a:lstStyle/>
          <a:p>
            <a:pPr algn="l">
              <a:spcAft>
                <a:spcPts val="0"/>
              </a:spcAft>
            </a:pPr>
            <a:r>
              <a:rPr sz="1700" b="1" i="0">
                <a:solidFill>
                  <a:srgbClr val="4DA3F0"/>
                </a:solidFill>
                <a:latin typeface="Calibri"/>
              </a:rPr>
              <a:t>Maintenance systems</a:t>
            </a:r>
          </a:p>
        </p:txBody>
      </p:sp>
      <p:sp>
        <p:nvSpPr>
          <p:cNvPr id="9" name="TextBox 8"/>
          <p:cNvSpPr txBox="1"/>
          <p:nvPr/>
        </p:nvSpPr>
        <p:spPr>
          <a:xfrm>
            <a:off x="685800" y="2377440"/>
            <a:ext cx="2359152" cy="50292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CMMS / EAM, predictive maintenance</a:t>
            </a:r>
          </a:p>
        </p:txBody>
      </p:sp>
      <p:sp>
        <p:nvSpPr>
          <p:cNvPr id="10" name="TextBox 9"/>
          <p:cNvSpPr txBox="1"/>
          <p:nvPr/>
        </p:nvSpPr>
        <p:spPr>
          <a:xfrm>
            <a:off x="685800" y="292608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WHAT IT DOES</a:t>
            </a:r>
          </a:p>
        </p:txBody>
      </p:sp>
      <p:sp>
        <p:nvSpPr>
          <p:cNvPr id="11" name="TextBox 10"/>
          <p:cNvSpPr txBox="1"/>
          <p:nvPr/>
        </p:nvSpPr>
        <p:spPr>
          <a:xfrm>
            <a:off x="685800" y="3182112"/>
            <a:ext cx="2359152" cy="54864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Tracks downtime and work orders</a:t>
            </a:r>
          </a:p>
        </p:txBody>
      </p:sp>
      <p:sp>
        <p:nvSpPr>
          <p:cNvPr id="12" name="TextBox 11"/>
          <p:cNvSpPr txBox="1"/>
          <p:nvPr/>
        </p:nvSpPr>
        <p:spPr>
          <a:xfrm>
            <a:off x="685800" y="3749039"/>
            <a:ext cx="2359152" cy="274320"/>
          </a:xfrm>
          <a:prstGeom prst="rect">
            <a:avLst/>
          </a:prstGeom>
          <a:noFill/>
        </p:spPr>
        <p:txBody>
          <a:bodyPr wrap="square" lIns="45720" tIns="27432" rIns="45720" bIns="27432" anchor="t">
            <a:spAutoFit/>
          </a:bodyPr>
          <a:lstStyle/>
          <a:p>
            <a:pPr algn="l">
              <a:spcAft>
                <a:spcPts val="0"/>
              </a:spcAft>
            </a:pPr>
            <a:r>
              <a:rPr sz="1000" b="1" i="0">
                <a:solidFill>
                  <a:srgbClr val="4DA3F0"/>
                </a:solidFill>
                <a:latin typeface="Calibri"/>
              </a:rPr>
              <a:t>BLIND SPOT</a:t>
            </a:r>
          </a:p>
        </p:txBody>
      </p:sp>
      <p:sp>
        <p:nvSpPr>
          <p:cNvPr id="13" name="TextBox 12"/>
          <p:cNvSpPr txBox="1"/>
          <p:nvPr/>
        </p:nvSpPr>
        <p:spPr>
          <a:xfrm>
            <a:off x="685800" y="4005072"/>
            <a:ext cx="2359152" cy="594360"/>
          </a:xfrm>
          <a:prstGeom prst="rect">
            <a:avLst/>
          </a:prstGeom>
          <a:noFill/>
        </p:spPr>
        <p:txBody>
          <a:bodyPr wrap="square" lIns="45720" tIns="27432" rIns="45720" bIns="27432" anchor="t">
            <a:spAutoFit/>
          </a:bodyPr>
          <a:lstStyle/>
          <a:p>
            <a:pPr algn="l">
              <a:spcAft>
                <a:spcPts val="0"/>
              </a:spcAft>
            </a:pPr>
            <a:r>
              <a:rPr sz="1300" b="1" i="0">
                <a:solidFill>
                  <a:srgbClr val="F0F4F8"/>
                </a:solidFill>
                <a:latin typeface="Calibri"/>
              </a:rPr>
              <a:t>Blind to emissions cost</a:t>
            </a:r>
          </a:p>
        </p:txBody>
      </p:sp>
      <p:sp>
        <p:nvSpPr>
          <p:cNvPr id="14" name="Rounded Rectangle 13"/>
          <p:cNvSpPr/>
          <p:nvPr/>
        </p:nvSpPr>
        <p:spPr>
          <a:xfrm>
            <a:off x="3355848" y="1645920"/>
            <a:ext cx="2633472" cy="3017520"/>
          </a:xfrm>
          <a:prstGeom prst="roundRect">
            <a:avLst>
              <a:gd name="adj" fmla="val 2083"/>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93008" y="1737360"/>
            <a:ext cx="2359152" cy="640080"/>
          </a:xfrm>
          <a:prstGeom prst="rect">
            <a:avLst/>
          </a:prstGeom>
          <a:noFill/>
        </p:spPr>
        <p:txBody>
          <a:bodyPr wrap="square" lIns="45720" tIns="27432" rIns="45720" bIns="27432" anchor="t">
            <a:spAutoFit/>
          </a:bodyPr>
          <a:lstStyle/>
          <a:p>
            <a:pPr algn="l">
              <a:spcAft>
                <a:spcPts val="0"/>
              </a:spcAft>
            </a:pPr>
            <a:r>
              <a:rPr sz="1700" b="1" i="0">
                <a:solidFill>
                  <a:srgbClr val="3DDC97"/>
                </a:solidFill>
                <a:latin typeface="Calibri"/>
              </a:rPr>
              <a:t>ESG and carbon accounting</a:t>
            </a:r>
          </a:p>
        </p:txBody>
      </p:sp>
      <p:sp>
        <p:nvSpPr>
          <p:cNvPr id="16" name="TextBox 15"/>
          <p:cNvSpPr txBox="1"/>
          <p:nvPr/>
        </p:nvSpPr>
        <p:spPr>
          <a:xfrm>
            <a:off x="3493008" y="2377440"/>
            <a:ext cx="2359152" cy="50292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Scope 1/2/3 ledgers</a:t>
            </a:r>
          </a:p>
        </p:txBody>
      </p:sp>
      <p:sp>
        <p:nvSpPr>
          <p:cNvPr id="17" name="TextBox 16"/>
          <p:cNvSpPr txBox="1"/>
          <p:nvPr/>
        </p:nvSpPr>
        <p:spPr>
          <a:xfrm>
            <a:off x="3493008" y="292608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WHAT IT DOES</a:t>
            </a:r>
          </a:p>
        </p:txBody>
      </p:sp>
      <p:sp>
        <p:nvSpPr>
          <p:cNvPr id="18" name="TextBox 17"/>
          <p:cNvSpPr txBox="1"/>
          <p:nvPr/>
        </p:nvSpPr>
        <p:spPr>
          <a:xfrm>
            <a:off x="3493008" y="3182112"/>
            <a:ext cx="2359152" cy="54864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Reports what was already emitted</a:t>
            </a:r>
          </a:p>
        </p:txBody>
      </p:sp>
      <p:sp>
        <p:nvSpPr>
          <p:cNvPr id="19" name="TextBox 18"/>
          <p:cNvSpPr txBox="1"/>
          <p:nvPr/>
        </p:nvSpPr>
        <p:spPr>
          <a:xfrm>
            <a:off x="3493008" y="3749039"/>
            <a:ext cx="2359152" cy="274320"/>
          </a:xfrm>
          <a:prstGeom prst="rect">
            <a:avLst/>
          </a:prstGeom>
          <a:noFill/>
        </p:spPr>
        <p:txBody>
          <a:bodyPr wrap="square" lIns="45720" tIns="27432" rIns="45720" bIns="27432" anchor="t">
            <a:spAutoFit/>
          </a:bodyPr>
          <a:lstStyle/>
          <a:p>
            <a:pPr algn="l">
              <a:spcAft>
                <a:spcPts val="0"/>
              </a:spcAft>
            </a:pPr>
            <a:r>
              <a:rPr sz="1000" b="1" i="0">
                <a:solidFill>
                  <a:srgbClr val="3DDC97"/>
                </a:solidFill>
                <a:latin typeface="Calibri"/>
              </a:rPr>
              <a:t>BLIND SPOT</a:t>
            </a:r>
          </a:p>
        </p:txBody>
      </p:sp>
      <p:sp>
        <p:nvSpPr>
          <p:cNvPr id="20" name="TextBox 19"/>
          <p:cNvSpPr txBox="1"/>
          <p:nvPr/>
        </p:nvSpPr>
        <p:spPr>
          <a:xfrm>
            <a:off x="3493008" y="4005072"/>
            <a:ext cx="2359152" cy="594360"/>
          </a:xfrm>
          <a:prstGeom prst="rect">
            <a:avLst/>
          </a:prstGeom>
          <a:noFill/>
        </p:spPr>
        <p:txBody>
          <a:bodyPr wrap="square" lIns="45720" tIns="27432" rIns="45720" bIns="27432" anchor="t">
            <a:spAutoFit/>
          </a:bodyPr>
          <a:lstStyle/>
          <a:p>
            <a:pPr algn="l">
              <a:spcAft>
                <a:spcPts val="0"/>
              </a:spcAft>
            </a:pPr>
            <a:r>
              <a:rPr sz="1300" b="1" i="0">
                <a:solidFill>
                  <a:srgbClr val="F0F4F8"/>
                </a:solidFill>
                <a:latin typeface="Calibri"/>
              </a:rPr>
              <a:t>Industry averages, not your machine</a:t>
            </a:r>
          </a:p>
        </p:txBody>
      </p:sp>
      <p:sp>
        <p:nvSpPr>
          <p:cNvPr id="21" name="Rounded Rectangle 20"/>
          <p:cNvSpPr/>
          <p:nvPr/>
        </p:nvSpPr>
        <p:spPr>
          <a:xfrm>
            <a:off x="6163055" y="1645920"/>
            <a:ext cx="2633472" cy="3017520"/>
          </a:xfrm>
          <a:prstGeom prst="roundRect">
            <a:avLst>
              <a:gd name="adj" fmla="val 2083"/>
            </a:avLst>
          </a:prstGeom>
          <a:solidFill>
            <a:srgbClr val="111820"/>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0216" y="1737360"/>
            <a:ext cx="2359152" cy="640080"/>
          </a:xfrm>
          <a:prstGeom prst="rect">
            <a:avLst/>
          </a:prstGeom>
          <a:noFill/>
        </p:spPr>
        <p:txBody>
          <a:bodyPr wrap="square" lIns="45720" tIns="27432" rIns="45720" bIns="27432" anchor="t">
            <a:spAutoFit/>
          </a:bodyPr>
          <a:lstStyle/>
          <a:p>
            <a:pPr algn="l">
              <a:spcAft>
                <a:spcPts val="0"/>
              </a:spcAft>
            </a:pPr>
            <a:r>
              <a:rPr sz="1700" b="1" i="0">
                <a:solidFill>
                  <a:srgbClr val="F2B84B"/>
                </a:solidFill>
                <a:latin typeface="Calibri"/>
              </a:rPr>
              <a:t>Compliance and monitoring</a:t>
            </a:r>
          </a:p>
        </p:txBody>
      </p:sp>
      <p:sp>
        <p:nvSpPr>
          <p:cNvPr id="23" name="TextBox 22"/>
          <p:cNvSpPr txBox="1"/>
          <p:nvPr/>
        </p:nvSpPr>
        <p:spPr>
          <a:xfrm>
            <a:off x="6300216" y="2377440"/>
            <a:ext cx="2359152" cy="50292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EHS workflow, CEMS</a:t>
            </a:r>
          </a:p>
        </p:txBody>
      </p:sp>
      <p:sp>
        <p:nvSpPr>
          <p:cNvPr id="24" name="TextBox 23"/>
          <p:cNvSpPr txBox="1"/>
          <p:nvPr/>
        </p:nvSpPr>
        <p:spPr>
          <a:xfrm>
            <a:off x="6300216" y="292608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WHAT IT DOES</a:t>
            </a:r>
          </a:p>
        </p:txBody>
      </p:sp>
      <p:sp>
        <p:nvSpPr>
          <p:cNvPr id="25" name="TextBox 24"/>
          <p:cNvSpPr txBox="1"/>
          <p:nvPr/>
        </p:nvSpPr>
        <p:spPr>
          <a:xfrm>
            <a:off x="6300216" y="3182112"/>
            <a:ext cx="2359152" cy="54864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Above or below the limit, right now</a:t>
            </a:r>
          </a:p>
        </p:txBody>
      </p:sp>
      <p:sp>
        <p:nvSpPr>
          <p:cNvPr id="26" name="TextBox 25"/>
          <p:cNvSpPr txBox="1"/>
          <p:nvPr/>
        </p:nvSpPr>
        <p:spPr>
          <a:xfrm>
            <a:off x="6300216" y="3749039"/>
            <a:ext cx="2359152" cy="274320"/>
          </a:xfrm>
          <a:prstGeom prst="rect">
            <a:avLst/>
          </a:prstGeom>
          <a:noFill/>
        </p:spPr>
        <p:txBody>
          <a:bodyPr wrap="square" lIns="45720" tIns="27432" rIns="45720" bIns="27432" anchor="t">
            <a:spAutoFit/>
          </a:bodyPr>
          <a:lstStyle/>
          <a:p>
            <a:pPr algn="l">
              <a:spcAft>
                <a:spcPts val="0"/>
              </a:spcAft>
            </a:pPr>
            <a:r>
              <a:rPr sz="1000" b="1" i="0">
                <a:solidFill>
                  <a:srgbClr val="F2B84B"/>
                </a:solidFill>
                <a:latin typeface="Calibri"/>
              </a:rPr>
              <a:t>BLIND SPOT</a:t>
            </a:r>
          </a:p>
        </p:txBody>
      </p:sp>
      <p:sp>
        <p:nvSpPr>
          <p:cNvPr id="27" name="TextBox 26"/>
          <p:cNvSpPr txBox="1"/>
          <p:nvPr/>
        </p:nvSpPr>
        <p:spPr>
          <a:xfrm>
            <a:off x="6300216" y="4005072"/>
            <a:ext cx="2359152" cy="594360"/>
          </a:xfrm>
          <a:prstGeom prst="rect">
            <a:avLst/>
          </a:prstGeom>
          <a:noFill/>
        </p:spPr>
        <p:txBody>
          <a:bodyPr wrap="square" lIns="45720" tIns="27432" rIns="45720" bIns="27432" anchor="t">
            <a:spAutoFit/>
          </a:bodyPr>
          <a:lstStyle/>
          <a:p>
            <a:pPr algn="l">
              <a:spcAft>
                <a:spcPts val="0"/>
              </a:spcAft>
            </a:pPr>
            <a:r>
              <a:rPr sz="1300" b="1" i="0">
                <a:solidFill>
                  <a:srgbClr val="F0F4F8"/>
                </a:solidFill>
                <a:latin typeface="Calibri"/>
              </a:rPr>
              <a:t>Not why, and often self-reported</a:t>
            </a:r>
          </a:p>
        </p:txBody>
      </p:sp>
      <p:sp>
        <p:nvSpPr>
          <p:cNvPr id="28" name="Rounded Rectangle 27"/>
          <p:cNvSpPr/>
          <p:nvPr/>
        </p:nvSpPr>
        <p:spPr>
          <a:xfrm>
            <a:off x="8970263" y="1645920"/>
            <a:ext cx="2633472" cy="3017520"/>
          </a:xfrm>
          <a:prstGeom prst="roundRect">
            <a:avLst>
              <a:gd name="adj" fmla="val 2083"/>
            </a:avLst>
          </a:prstGeom>
          <a:solidFill>
            <a:srgbClr val="111820"/>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1737360"/>
            <a:ext cx="2359152" cy="640080"/>
          </a:xfrm>
          <a:prstGeom prst="rect">
            <a:avLst/>
          </a:prstGeom>
          <a:noFill/>
        </p:spPr>
        <p:txBody>
          <a:bodyPr wrap="square" lIns="45720" tIns="27432" rIns="45720" bIns="27432" anchor="t">
            <a:spAutoFit/>
          </a:bodyPr>
          <a:lstStyle/>
          <a:p>
            <a:pPr algn="l">
              <a:spcAft>
                <a:spcPts val="0"/>
              </a:spcAft>
            </a:pPr>
            <a:r>
              <a:rPr sz="1700" b="1" i="0">
                <a:solidFill>
                  <a:srgbClr val="FF7A7A"/>
                </a:solidFill>
                <a:latin typeface="Calibri"/>
              </a:rPr>
              <a:t>Plain LLM chatbot</a:t>
            </a:r>
          </a:p>
        </p:txBody>
      </p:sp>
      <p:sp>
        <p:nvSpPr>
          <p:cNvPr id="30" name="TextBox 29"/>
          <p:cNvSpPr txBox="1"/>
          <p:nvPr/>
        </p:nvSpPr>
        <p:spPr>
          <a:xfrm>
            <a:off x="9107424" y="2377440"/>
            <a:ext cx="2359152" cy="50292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Ask a general model</a:t>
            </a:r>
          </a:p>
        </p:txBody>
      </p:sp>
      <p:sp>
        <p:nvSpPr>
          <p:cNvPr id="31" name="TextBox 30"/>
          <p:cNvSpPr txBox="1"/>
          <p:nvPr/>
        </p:nvSpPr>
        <p:spPr>
          <a:xfrm>
            <a:off x="9107424" y="292608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WHAT IT DOES</a:t>
            </a:r>
          </a:p>
        </p:txBody>
      </p:sp>
      <p:sp>
        <p:nvSpPr>
          <p:cNvPr id="32" name="TextBox 31"/>
          <p:cNvSpPr txBox="1"/>
          <p:nvPr/>
        </p:nvSpPr>
        <p:spPr>
          <a:xfrm>
            <a:off x="9107424" y="3182112"/>
            <a:ext cx="2359152" cy="54864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Fluent, quick answers</a:t>
            </a:r>
          </a:p>
        </p:txBody>
      </p:sp>
      <p:sp>
        <p:nvSpPr>
          <p:cNvPr id="33" name="TextBox 32"/>
          <p:cNvSpPr txBox="1"/>
          <p:nvPr/>
        </p:nvSpPr>
        <p:spPr>
          <a:xfrm>
            <a:off x="9107424" y="3749039"/>
            <a:ext cx="2359152" cy="274320"/>
          </a:xfrm>
          <a:prstGeom prst="rect">
            <a:avLst/>
          </a:prstGeom>
          <a:noFill/>
        </p:spPr>
        <p:txBody>
          <a:bodyPr wrap="square" lIns="45720" tIns="27432" rIns="45720" bIns="27432" anchor="t">
            <a:spAutoFit/>
          </a:bodyPr>
          <a:lstStyle/>
          <a:p>
            <a:pPr algn="l">
              <a:spcAft>
                <a:spcPts val="0"/>
              </a:spcAft>
            </a:pPr>
            <a:r>
              <a:rPr sz="1000" b="1" i="0">
                <a:solidFill>
                  <a:srgbClr val="FF7A7A"/>
                </a:solidFill>
                <a:latin typeface="Calibri"/>
              </a:rPr>
              <a:t>BLIND SPOT</a:t>
            </a:r>
          </a:p>
        </p:txBody>
      </p:sp>
      <p:sp>
        <p:nvSpPr>
          <p:cNvPr id="34" name="TextBox 33"/>
          <p:cNvSpPr txBox="1"/>
          <p:nvPr/>
        </p:nvSpPr>
        <p:spPr>
          <a:xfrm>
            <a:off x="9107424" y="4005072"/>
            <a:ext cx="2359152" cy="594360"/>
          </a:xfrm>
          <a:prstGeom prst="rect">
            <a:avLst/>
          </a:prstGeom>
          <a:noFill/>
        </p:spPr>
        <p:txBody>
          <a:bodyPr wrap="square" lIns="45720" tIns="27432" rIns="45720" bIns="27432" anchor="t">
            <a:spAutoFit/>
          </a:bodyPr>
          <a:lstStyle/>
          <a:p>
            <a:pPr algn="l">
              <a:spcAft>
                <a:spcPts val="0"/>
              </a:spcAft>
            </a:pPr>
            <a:r>
              <a:rPr sz="1300" b="1" i="0">
                <a:solidFill>
                  <a:srgbClr val="F0F4F8"/>
                </a:solidFill>
                <a:latin typeface="Calibri"/>
              </a:rPr>
              <a:t>Numbers you cannot audit</a:t>
            </a:r>
          </a:p>
        </p:txBody>
      </p:sp>
      <p:sp>
        <p:nvSpPr>
          <p:cNvPr id="35" name="Rounded Rectangle 34"/>
          <p:cNvSpPr/>
          <p:nvPr/>
        </p:nvSpPr>
        <p:spPr>
          <a:xfrm>
            <a:off x="548640" y="4892040"/>
            <a:ext cx="11091672" cy="640080"/>
          </a:xfrm>
          <a:prstGeom prst="roundRect">
            <a:avLst>
              <a:gd name="adj" fmla="val 11428"/>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600" b="0" i="0">
                <a:solidFill>
                  <a:srgbClr val="F0F4F8"/>
                </a:solidFill>
                <a:latin typeface="Calibri"/>
              </a:rPr>
              <a:t>Nobody connects </a:t>
            </a:r>
            <a:r>
              <a:rPr sz="1600" b="1" i="0">
                <a:solidFill>
                  <a:srgbClr val="F2B84B"/>
                </a:solidFill>
                <a:latin typeface="Calibri"/>
              </a:rPr>
              <a:t>"we deferred this repair"</a:t>
            </a:r>
            <a:r>
              <a:rPr sz="1600" b="0" i="0">
                <a:solidFill>
                  <a:srgbClr val="F0F4F8"/>
                </a:solidFill>
                <a:latin typeface="Calibri"/>
              </a:rPr>
              <a:t> to </a:t>
            </a:r>
            <a:r>
              <a:rPr sz="1600" b="1" i="0">
                <a:solidFill>
                  <a:srgbClr val="FF7A7A"/>
                </a:solidFill>
                <a:latin typeface="Calibri"/>
              </a:rPr>
              <a:t>"we just created avoidable emissions and cost"</a:t>
            </a:r>
          </a:p>
        </p:txBody>
      </p:sp>
      <p:sp>
        <p:nvSpPr>
          <p:cNvPr id="36" name="Rounded Rectangle 35"/>
          <p:cNvSpPr/>
          <p:nvPr/>
        </p:nvSpPr>
        <p:spPr>
          <a:xfrm>
            <a:off x="548640" y="5623560"/>
            <a:ext cx="11091672" cy="594360"/>
          </a:xfrm>
          <a:prstGeom prst="roundRect">
            <a:avLst>
              <a:gd name="adj" fmla="val 12307"/>
            </a:avLst>
          </a:prstGeom>
          <a:solidFill>
            <a:srgbClr val="16212B"/>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3DDC97"/>
                </a:solidFill>
                <a:latin typeface="Calibri"/>
              </a:rPr>
              <a:t>And factories cannot just shut down. They need a practical path that keeps output growing while they get cleaner.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TerraVow is the bridge: from machine health to cleaner, funded upgrades</a:t>
            </a:r>
          </a:p>
        </p:txBody>
      </p:sp>
      <p:sp>
        <p:nvSpPr>
          <p:cNvPr id="3" name="TextBox 2"/>
          <p:cNvSpPr txBox="1"/>
          <p:nvPr/>
        </p:nvSpPr>
        <p:spPr>
          <a:xfrm>
            <a:off x="548640" y="274320"/>
            <a:ext cx="7315200" cy="332399"/>
          </a:xfrm>
          <a:prstGeom prst="rect">
            <a:avLst/>
          </a:prstGeom>
          <a:noFill/>
        </p:spPr>
        <p:txBody>
          <a:bodyPr wrap="square" lIns="45720" tIns="27432" rIns="45720" bIns="27432" anchor="t">
            <a:spAutoFit/>
          </a:bodyPr>
          <a:lstStyle/>
          <a:p>
            <a:pPr algn="l">
              <a:spcAft>
                <a:spcPts val="0"/>
              </a:spcAft>
            </a:pPr>
            <a:r>
              <a:rPr b="1" i="0" dirty="0">
                <a:solidFill>
                  <a:srgbClr val="3DDC97"/>
                </a:solidFill>
                <a:latin typeface="Calibri"/>
              </a:rPr>
              <a:t>THE SOLUTION</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Prototype scope: Requirements 18-30 (Python/FastAPI). See roadmap for what is not built.</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5</a:t>
            </a:r>
          </a:p>
        </p:txBody>
      </p:sp>
      <p:sp>
        <p:nvSpPr>
          <p:cNvPr id="7" name="Rounded Rectangle 6"/>
          <p:cNvSpPr/>
          <p:nvPr/>
        </p:nvSpPr>
        <p:spPr>
          <a:xfrm>
            <a:off x="548640" y="1783080"/>
            <a:ext cx="2011680" cy="2011680"/>
          </a:xfrm>
          <a:prstGeom prst="roundRect">
            <a:avLst>
              <a:gd name="adj" fmla="val 2727"/>
            </a:avLst>
          </a:prstGeom>
          <a:solidFill>
            <a:srgbClr val="111820"/>
          </a:solidFill>
          <a:ln w="1905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892807"/>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9" name="TextBox 8"/>
          <p:cNvSpPr txBox="1"/>
          <p:nvPr/>
        </p:nvSpPr>
        <p:spPr>
          <a:xfrm>
            <a:off x="658368" y="2331720"/>
            <a:ext cx="1792224" cy="4572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Report</a:t>
            </a:r>
          </a:p>
        </p:txBody>
      </p:sp>
      <p:sp>
        <p:nvSpPr>
          <p:cNvPr id="10" name="TextBox 9"/>
          <p:cNvSpPr txBox="1"/>
          <p:nvPr/>
        </p:nvSpPr>
        <p:spPr>
          <a:xfrm>
            <a:off x="658368" y="2834640"/>
            <a:ext cx="1792224" cy="868680"/>
          </a:xfrm>
          <a:prstGeom prst="rect">
            <a:avLst/>
          </a:prstGeom>
          <a:noFill/>
        </p:spPr>
        <p:txBody>
          <a:bodyPr wrap="square" lIns="45720" tIns="27432" rIns="45720" bIns="27432" anchor="t">
            <a:spAutoFit/>
          </a:bodyPr>
          <a:lstStyle/>
          <a:p>
            <a:pPr algn="l">
              <a:spcAft>
                <a:spcPts val="0"/>
              </a:spcAft>
            </a:pPr>
            <a:r>
              <a:rPr sz="1400" b="0" i="0">
                <a:solidFill>
                  <a:srgbClr val="9FB3C8"/>
                </a:solidFill>
                <a:latin typeface="Calibri"/>
              </a:rPr>
              <a:t>Snags logged per machine model</a:t>
            </a:r>
          </a:p>
        </p:txBody>
      </p:sp>
      <p:cxnSp>
        <p:nvCxnSpPr>
          <p:cNvPr id="11" name="Connector 10"/>
          <p:cNvCxnSpPr/>
          <p:nvPr/>
        </p:nvCxnSpPr>
        <p:spPr>
          <a:xfrm>
            <a:off x="2587752" y="2788920"/>
            <a:ext cx="201168" cy="0"/>
          </a:xfrm>
          <a:prstGeom prst="line">
            <a:avLst/>
          </a:prstGeom>
          <a:ln w="31750">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16352" y="1783080"/>
            <a:ext cx="2011680" cy="2011680"/>
          </a:xfrm>
          <a:prstGeom prst="roundRect">
            <a:avLst>
              <a:gd name="adj" fmla="val 2727"/>
            </a:avLst>
          </a:prstGeom>
          <a:solidFill>
            <a:srgbClr val="111820"/>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953512" y="1892807"/>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14" name="TextBox 13"/>
          <p:cNvSpPr txBox="1"/>
          <p:nvPr/>
        </p:nvSpPr>
        <p:spPr>
          <a:xfrm>
            <a:off x="2926080" y="2331720"/>
            <a:ext cx="1792224" cy="4572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Health</a:t>
            </a:r>
          </a:p>
        </p:txBody>
      </p:sp>
      <p:sp>
        <p:nvSpPr>
          <p:cNvPr id="15" name="TextBox 14"/>
          <p:cNvSpPr txBox="1"/>
          <p:nvPr/>
        </p:nvSpPr>
        <p:spPr>
          <a:xfrm>
            <a:off x="2926080" y="2834640"/>
            <a:ext cx="1792224" cy="868680"/>
          </a:xfrm>
          <a:prstGeom prst="rect">
            <a:avLst/>
          </a:prstGeom>
          <a:noFill/>
        </p:spPr>
        <p:txBody>
          <a:bodyPr wrap="square" lIns="45720" tIns="27432" rIns="45720" bIns="27432" anchor="t">
            <a:spAutoFit/>
          </a:bodyPr>
          <a:lstStyle/>
          <a:p>
            <a:pPr algn="l">
              <a:spcAft>
                <a:spcPts val="0"/>
              </a:spcAft>
            </a:pPr>
            <a:r>
              <a:rPr sz="1400" b="0" i="0">
                <a:solidFill>
                  <a:srgbClr val="9FB3C8"/>
                </a:solidFill>
                <a:latin typeface="Calibri"/>
              </a:rPr>
              <a:t>Score and remaining life</a:t>
            </a:r>
          </a:p>
        </p:txBody>
      </p:sp>
      <p:cxnSp>
        <p:nvCxnSpPr>
          <p:cNvPr id="16" name="Connector 15"/>
          <p:cNvCxnSpPr/>
          <p:nvPr/>
        </p:nvCxnSpPr>
        <p:spPr>
          <a:xfrm>
            <a:off x="4855464" y="2788920"/>
            <a:ext cx="201168" cy="0"/>
          </a:xfrm>
          <a:prstGeom prst="line">
            <a:avLst/>
          </a:prstGeom>
          <a:ln w="31750">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84064" y="1783080"/>
            <a:ext cx="2011680" cy="2011680"/>
          </a:xfrm>
          <a:prstGeom prst="roundRect">
            <a:avLst>
              <a:gd name="adj" fmla="val 2727"/>
            </a:avLst>
          </a:prstGeom>
          <a:solidFill>
            <a:srgbClr val="111820"/>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221224" y="1892807"/>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19" name="TextBox 18"/>
          <p:cNvSpPr txBox="1"/>
          <p:nvPr/>
        </p:nvSpPr>
        <p:spPr>
          <a:xfrm>
            <a:off x="5193792" y="2331720"/>
            <a:ext cx="1792224" cy="4572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Pollution</a:t>
            </a:r>
          </a:p>
        </p:txBody>
      </p:sp>
      <p:sp>
        <p:nvSpPr>
          <p:cNvPr id="20" name="TextBox 19"/>
          <p:cNvSpPr txBox="1"/>
          <p:nvPr/>
        </p:nvSpPr>
        <p:spPr>
          <a:xfrm>
            <a:off x="5193792" y="2834640"/>
            <a:ext cx="1792224" cy="868680"/>
          </a:xfrm>
          <a:prstGeom prst="rect">
            <a:avLst/>
          </a:prstGeom>
          <a:noFill/>
        </p:spPr>
        <p:txBody>
          <a:bodyPr wrap="square" lIns="45720" tIns="27432" rIns="45720" bIns="27432" anchor="t">
            <a:spAutoFit/>
          </a:bodyPr>
          <a:lstStyle/>
          <a:p>
            <a:pPr algn="l">
              <a:spcAft>
                <a:spcPts val="0"/>
              </a:spcAft>
            </a:pPr>
            <a:r>
              <a:rPr sz="1400" b="0" i="0">
                <a:solidFill>
                  <a:srgbClr val="9FB3C8"/>
                </a:solidFill>
                <a:latin typeface="Calibri"/>
              </a:rPr>
              <a:t>Air, water, chemical, soil</a:t>
            </a:r>
          </a:p>
        </p:txBody>
      </p:sp>
      <p:cxnSp>
        <p:nvCxnSpPr>
          <p:cNvPr id="21" name="Connector 20"/>
          <p:cNvCxnSpPr/>
          <p:nvPr/>
        </p:nvCxnSpPr>
        <p:spPr>
          <a:xfrm>
            <a:off x="7123176" y="2788920"/>
            <a:ext cx="201168" cy="0"/>
          </a:xfrm>
          <a:prstGeom prst="line">
            <a:avLst/>
          </a:prstGeom>
          <a:ln w="31750">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51776" y="1783080"/>
            <a:ext cx="2011680" cy="2011680"/>
          </a:xfrm>
          <a:prstGeom prst="roundRect">
            <a:avLst>
              <a:gd name="adj" fmla="val 2727"/>
            </a:avLst>
          </a:prstGeom>
          <a:solidFill>
            <a:srgbClr val="111820"/>
          </a:solidFill>
          <a:ln w="1905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488936" y="1892807"/>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4</a:t>
            </a:r>
          </a:p>
        </p:txBody>
      </p:sp>
      <p:sp>
        <p:nvSpPr>
          <p:cNvPr id="24" name="TextBox 23"/>
          <p:cNvSpPr txBox="1"/>
          <p:nvPr/>
        </p:nvSpPr>
        <p:spPr>
          <a:xfrm>
            <a:off x="7461504" y="2331720"/>
            <a:ext cx="1792224" cy="4572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Greener options</a:t>
            </a:r>
          </a:p>
        </p:txBody>
      </p:sp>
      <p:sp>
        <p:nvSpPr>
          <p:cNvPr id="25" name="TextBox 24"/>
          <p:cNvSpPr txBox="1"/>
          <p:nvPr/>
        </p:nvSpPr>
        <p:spPr>
          <a:xfrm>
            <a:off x="7461504" y="2834640"/>
            <a:ext cx="1792224" cy="868680"/>
          </a:xfrm>
          <a:prstGeom prst="rect">
            <a:avLst/>
          </a:prstGeom>
          <a:noFill/>
        </p:spPr>
        <p:txBody>
          <a:bodyPr wrap="square" lIns="45720" tIns="27432" rIns="45720" bIns="27432" anchor="t">
            <a:spAutoFit/>
          </a:bodyPr>
          <a:lstStyle/>
          <a:p>
            <a:pPr algn="l">
              <a:spcAft>
                <a:spcPts val="0"/>
              </a:spcAft>
            </a:pPr>
            <a:r>
              <a:rPr sz="1400" b="0" i="0">
                <a:solidFill>
                  <a:srgbClr val="9FB3C8"/>
                </a:solidFill>
                <a:latin typeface="Calibri"/>
              </a:rPr>
              <a:t>Machines and process changes</a:t>
            </a:r>
          </a:p>
        </p:txBody>
      </p:sp>
      <p:cxnSp>
        <p:nvCxnSpPr>
          <p:cNvPr id="26" name="Connector 25"/>
          <p:cNvCxnSpPr/>
          <p:nvPr/>
        </p:nvCxnSpPr>
        <p:spPr>
          <a:xfrm>
            <a:off x="9390888" y="2788920"/>
            <a:ext cx="201168" cy="0"/>
          </a:xfrm>
          <a:prstGeom prst="line">
            <a:avLst/>
          </a:prstGeom>
          <a:ln w="31750">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619488" y="1783080"/>
            <a:ext cx="2011680" cy="2011680"/>
          </a:xfrm>
          <a:prstGeom prst="roundRect">
            <a:avLst>
              <a:gd name="adj" fmla="val 2727"/>
            </a:avLst>
          </a:prstGeom>
          <a:solidFill>
            <a:srgbClr val="111820"/>
          </a:solidFill>
          <a:ln w="1905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756648" y="1892807"/>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5</a:t>
            </a:r>
          </a:p>
        </p:txBody>
      </p:sp>
      <p:sp>
        <p:nvSpPr>
          <p:cNvPr id="29" name="TextBox 28"/>
          <p:cNvSpPr txBox="1"/>
          <p:nvPr/>
        </p:nvSpPr>
        <p:spPr>
          <a:xfrm>
            <a:off x="9729216" y="2331720"/>
            <a:ext cx="1792224" cy="4572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Funded payback</a:t>
            </a:r>
          </a:p>
        </p:txBody>
      </p:sp>
      <p:sp>
        <p:nvSpPr>
          <p:cNvPr id="30" name="TextBox 29"/>
          <p:cNvSpPr txBox="1"/>
          <p:nvPr/>
        </p:nvSpPr>
        <p:spPr>
          <a:xfrm>
            <a:off x="9729216" y="2834640"/>
            <a:ext cx="1792224" cy="868680"/>
          </a:xfrm>
          <a:prstGeom prst="rect">
            <a:avLst/>
          </a:prstGeom>
          <a:noFill/>
        </p:spPr>
        <p:txBody>
          <a:bodyPr wrap="square" lIns="45720" tIns="27432" rIns="45720" bIns="27432" anchor="t">
            <a:spAutoFit/>
          </a:bodyPr>
          <a:lstStyle/>
          <a:p>
            <a:pPr algn="l">
              <a:spcAft>
                <a:spcPts val="0"/>
              </a:spcAft>
            </a:pPr>
            <a:r>
              <a:rPr sz="1400" b="0" i="0">
                <a:solidFill>
                  <a:srgbClr val="9FB3C8"/>
                </a:solidFill>
                <a:latin typeface="Calibri"/>
              </a:rPr>
              <a:t>India incentives, MSME or large</a:t>
            </a:r>
          </a:p>
        </p:txBody>
      </p:sp>
      <p:sp>
        <p:nvSpPr>
          <p:cNvPr id="31" name="Rounded Rectangle 30"/>
          <p:cNvSpPr/>
          <p:nvPr/>
        </p:nvSpPr>
        <p:spPr>
          <a:xfrm>
            <a:off x="548640" y="4114800"/>
            <a:ext cx="3593592" cy="1920240"/>
          </a:xfrm>
          <a:prstGeom prst="roundRect">
            <a:avLst>
              <a:gd name="adj" fmla="val 2857"/>
            </a:avLst>
          </a:prstGeom>
          <a:solidFill>
            <a:srgbClr val="3A1115"/>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4206240"/>
            <a:ext cx="3200400" cy="411480"/>
          </a:xfrm>
          <a:prstGeom prst="rect">
            <a:avLst/>
          </a:prstGeom>
          <a:noFill/>
        </p:spPr>
        <p:txBody>
          <a:bodyPr wrap="square" lIns="45720" tIns="27432" rIns="45720" bIns="27432" anchor="t">
            <a:spAutoFit/>
          </a:bodyPr>
          <a:lstStyle/>
          <a:p>
            <a:pPr algn="l">
              <a:spcAft>
                <a:spcPts val="0"/>
              </a:spcAft>
            </a:pPr>
            <a:r>
              <a:rPr sz="1900" b="1" i="0">
                <a:solidFill>
                  <a:srgbClr val="FF7A7A"/>
                </a:solidFill>
                <a:latin typeface="Calibri"/>
              </a:rPr>
              <a:t>Safety gate</a:t>
            </a:r>
          </a:p>
        </p:txBody>
      </p:sp>
      <p:sp>
        <p:nvSpPr>
          <p:cNvPr id="33" name="TextBox 32"/>
          <p:cNvSpPr txBox="1"/>
          <p:nvPr/>
        </p:nvSpPr>
        <p:spPr>
          <a:xfrm>
            <a:off x="731520" y="4663440"/>
            <a:ext cx="3246120" cy="1325880"/>
          </a:xfrm>
          <a:prstGeom prst="rect">
            <a:avLst/>
          </a:prstGeom>
          <a:noFill/>
        </p:spPr>
        <p:txBody>
          <a:bodyPr wrap="square" lIns="45720" tIns="27432" rIns="45720" bIns="27432" anchor="t">
            <a:spAutoFit/>
          </a:bodyPr>
          <a:lstStyle/>
          <a:p>
            <a:pPr algn="l">
              <a:spcAft>
                <a:spcPts val="0"/>
              </a:spcAft>
            </a:pPr>
            <a:r>
              <a:rPr sz="1500" b="0" i="0">
                <a:solidFill>
                  <a:srgbClr val="F0F4F8"/>
                </a:solidFill>
                <a:latin typeface="Calibri"/>
              </a:rPr>
              <a:t>Vetoes any option that raises total emissions or merely moves pollution from air to water.</a:t>
            </a:r>
          </a:p>
        </p:txBody>
      </p:sp>
      <p:sp>
        <p:nvSpPr>
          <p:cNvPr id="34" name="Rounded Rectangle 33"/>
          <p:cNvSpPr/>
          <p:nvPr/>
        </p:nvSpPr>
        <p:spPr>
          <a:xfrm>
            <a:off x="4297679" y="4114800"/>
            <a:ext cx="3593592" cy="1920240"/>
          </a:xfrm>
          <a:prstGeom prst="roundRect">
            <a:avLst>
              <a:gd name="adj" fmla="val 2857"/>
            </a:avLst>
          </a:prstGeom>
          <a:solidFill>
            <a:srgbClr val="0D2A4A"/>
          </a:solidFill>
          <a:ln w="15875">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59" y="4206240"/>
            <a:ext cx="3200400" cy="411480"/>
          </a:xfrm>
          <a:prstGeom prst="rect">
            <a:avLst/>
          </a:prstGeom>
          <a:noFill/>
        </p:spPr>
        <p:txBody>
          <a:bodyPr wrap="square" lIns="45720" tIns="27432" rIns="45720" bIns="27432" anchor="t">
            <a:spAutoFit/>
          </a:bodyPr>
          <a:lstStyle/>
          <a:p>
            <a:pPr algn="l">
              <a:spcAft>
                <a:spcPts val="0"/>
              </a:spcAft>
            </a:pPr>
            <a:r>
              <a:rPr sz="1900" b="1" i="0">
                <a:solidFill>
                  <a:srgbClr val="4DA3F0"/>
                </a:solidFill>
                <a:latin typeface="Calibri"/>
              </a:rPr>
              <a:t>Audit trail</a:t>
            </a:r>
          </a:p>
        </p:txBody>
      </p:sp>
      <p:sp>
        <p:nvSpPr>
          <p:cNvPr id="36" name="TextBox 35"/>
          <p:cNvSpPr txBox="1"/>
          <p:nvPr/>
        </p:nvSpPr>
        <p:spPr>
          <a:xfrm>
            <a:off x="4480559" y="4663440"/>
            <a:ext cx="3246120" cy="1325880"/>
          </a:xfrm>
          <a:prstGeom prst="rect">
            <a:avLst/>
          </a:prstGeom>
          <a:noFill/>
        </p:spPr>
        <p:txBody>
          <a:bodyPr wrap="square" lIns="45720" tIns="27432" rIns="45720" bIns="27432" anchor="t">
            <a:spAutoFit/>
          </a:bodyPr>
          <a:lstStyle/>
          <a:p>
            <a:pPr algn="l">
              <a:spcAft>
                <a:spcPts val="0"/>
              </a:spcAft>
            </a:pPr>
            <a:r>
              <a:rPr sz="1500" b="0" i="0">
                <a:solidFill>
                  <a:srgbClr val="F0F4F8"/>
                </a:solidFill>
                <a:latin typeface="Calibri"/>
              </a:rPr>
              <a:t>Every recommendation and closure is written to a hash-chained log.</a:t>
            </a:r>
          </a:p>
        </p:txBody>
      </p:sp>
      <p:sp>
        <p:nvSpPr>
          <p:cNvPr id="37" name="Rounded Rectangle 36"/>
          <p:cNvSpPr/>
          <p:nvPr/>
        </p:nvSpPr>
        <p:spPr>
          <a:xfrm>
            <a:off x="8046719" y="4114800"/>
            <a:ext cx="3593592" cy="1920240"/>
          </a:xfrm>
          <a:prstGeom prst="roundRect">
            <a:avLst>
              <a:gd name="adj" fmla="val 2857"/>
            </a:avLst>
          </a:prstGeom>
          <a:solidFill>
            <a:srgbClr val="0F2E18"/>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29599" y="4206240"/>
            <a:ext cx="3200400" cy="411480"/>
          </a:xfrm>
          <a:prstGeom prst="rect">
            <a:avLst/>
          </a:prstGeom>
          <a:noFill/>
        </p:spPr>
        <p:txBody>
          <a:bodyPr wrap="square" lIns="45720" tIns="27432" rIns="45720" bIns="27432" anchor="t">
            <a:spAutoFit/>
          </a:bodyPr>
          <a:lstStyle/>
          <a:p>
            <a:pPr algn="l">
              <a:spcAft>
                <a:spcPts val="0"/>
              </a:spcAft>
            </a:pPr>
            <a:r>
              <a:rPr sz="1900" b="1" i="0">
                <a:solidFill>
                  <a:srgbClr val="3DDC97"/>
                </a:solidFill>
                <a:latin typeface="Calibri"/>
              </a:rPr>
              <a:t>Numbers you can trust</a:t>
            </a:r>
          </a:p>
        </p:txBody>
      </p:sp>
      <p:sp>
        <p:nvSpPr>
          <p:cNvPr id="39" name="TextBox 38"/>
          <p:cNvSpPr txBox="1"/>
          <p:nvPr/>
        </p:nvSpPr>
        <p:spPr>
          <a:xfrm>
            <a:off x="8229599" y="4663440"/>
            <a:ext cx="3246120" cy="1325880"/>
          </a:xfrm>
          <a:prstGeom prst="rect">
            <a:avLst/>
          </a:prstGeom>
          <a:noFill/>
        </p:spPr>
        <p:txBody>
          <a:bodyPr wrap="square" lIns="45720" tIns="27432" rIns="45720" bIns="27432" anchor="t">
            <a:spAutoFit/>
          </a:bodyPr>
          <a:lstStyle/>
          <a:p>
            <a:pPr algn="l">
              <a:spcAft>
                <a:spcPts val="0"/>
              </a:spcAft>
            </a:pPr>
            <a:r>
              <a:rPr sz="1500" b="0" i="0">
                <a:solidFill>
                  <a:srgbClr val="F0F4F8"/>
                </a:solidFill>
                <a:latin typeface="Calibri"/>
              </a:rPr>
              <a:t>Gemini reasons and writes. A deterministic engine computes every figure.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Not another CMMS, ESG ledger or chatbot: TerraVow connects the dots</a:t>
            </a:r>
          </a:p>
        </p:txBody>
      </p:sp>
      <p:sp>
        <p:nvSpPr>
          <p:cNvPr id="3" name="TextBox 2"/>
          <p:cNvSpPr txBox="1"/>
          <p:nvPr/>
        </p:nvSpPr>
        <p:spPr>
          <a:xfrm>
            <a:off x="548640" y="274320"/>
            <a:ext cx="7315200" cy="609398"/>
          </a:xfrm>
          <a:prstGeom prst="rect">
            <a:avLst/>
          </a:prstGeom>
          <a:noFill/>
        </p:spPr>
        <p:txBody>
          <a:bodyPr wrap="square" lIns="45720" tIns="27432" rIns="45720" bIns="27432" anchor="t">
            <a:spAutoFit/>
          </a:bodyPr>
          <a:lstStyle/>
          <a:p>
            <a:r>
              <a:rPr b="1" i="0" dirty="0">
                <a:solidFill>
                  <a:srgbClr val="3DDC97"/>
                </a:solidFill>
                <a:latin typeface="Calibri"/>
              </a:rPr>
              <a:t>DIFFERENTIATION</a:t>
            </a:r>
            <a:r>
              <a:rPr lang="en-US" b="1" i="0" dirty="0">
                <a:solidFill>
                  <a:srgbClr val="3DDC97"/>
                </a:solidFill>
                <a:latin typeface="Calibri"/>
              </a:rPr>
              <a:t>: USP of the proposed solution</a:t>
            </a:r>
          </a:p>
          <a:p>
            <a:endParaRPr b="1" i="0" dirty="0">
              <a:solidFill>
                <a:srgbClr val="3DDC97"/>
              </a:solidFill>
              <a:latin typeface="Calibri"/>
            </a:endParaRP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Category-level assessment (our judgement) from docs/competitive-landscape.md; individual products vary. Legend: full = built, partial = limited or illustrative, none = not offered.</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15</a:t>
            </a:r>
          </a:p>
        </p:txBody>
      </p:sp>
      <p:sp>
        <p:nvSpPr>
          <p:cNvPr id="7" name="Rounded Rectangle 6"/>
          <p:cNvSpPr/>
          <p:nvPr/>
        </p:nvSpPr>
        <p:spPr>
          <a:xfrm>
            <a:off x="548640" y="1645920"/>
            <a:ext cx="3749039" cy="51206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200" b="1" i="0">
                <a:solidFill>
                  <a:srgbClr val="F0F4F8"/>
                </a:solidFill>
                <a:latin typeface="Calibri"/>
              </a:rPr>
              <a:t>Capability</a:t>
            </a:r>
          </a:p>
        </p:txBody>
      </p:sp>
      <p:sp>
        <p:nvSpPr>
          <p:cNvPr id="8" name="Rounded Rectangle 7"/>
          <p:cNvSpPr/>
          <p:nvPr/>
        </p:nvSpPr>
        <p:spPr>
          <a:xfrm>
            <a:off x="4297679" y="1645920"/>
            <a:ext cx="1417320" cy="51206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1200" b="1" i="0">
                <a:solidFill>
                  <a:srgbClr val="F0F4F8"/>
                </a:solidFill>
                <a:latin typeface="Calibri"/>
              </a:rPr>
              <a:t>Maintenance / CMMS</a:t>
            </a:r>
          </a:p>
        </p:txBody>
      </p:sp>
      <p:sp>
        <p:nvSpPr>
          <p:cNvPr id="9" name="Rounded Rectangle 8"/>
          <p:cNvSpPr/>
          <p:nvPr/>
        </p:nvSpPr>
        <p:spPr>
          <a:xfrm>
            <a:off x="5714999" y="1645920"/>
            <a:ext cx="1417320" cy="51206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1200" b="1" i="0">
                <a:solidFill>
                  <a:srgbClr val="F0F4F8"/>
                </a:solidFill>
                <a:latin typeface="Calibri"/>
              </a:rPr>
              <a:t>ESG and carbon</a:t>
            </a:r>
          </a:p>
        </p:txBody>
      </p:sp>
      <p:sp>
        <p:nvSpPr>
          <p:cNvPr id="10" name="Rounded Rectangle 9"/>
          <p:cNvSpPr/>
          <p:nvPr/>
        </p:nvSpPr>
        <p:spPr>
          <a:xfrm>
            <a:off x="7132319" y="1645920"/>
            <a:ext cx="1417320" cy="51206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1200" b="1" i="0">
                <a:solidFill>
                  <a:srgbClr val="F0F4F8"/>
                </a:solidFill>
                <a:latin typeface="Calibri"/>
              </a:rPr>
              <a:t>EHS and CEMS</a:t>
            </a:r>
          </a:p>
        </p:txBody>
      </p:sp>
      <p:sp>
        <p:nvSpPr>
          <p:cNvPr id="11" name="Rounded Rectangle 10"/>
          <p:cNvSpPr/>
          <p:nvPr/>
        </p:nvSpPr>
        <p:spPr>
          <a:xfrm>
            <a:off x="8549640" y="1645920"/>
            <a:ext cx="1417320" cy="51206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1200" b="1" i="0">
                <a:solidFill>
                  <a:srgbClr val="F0F4F8"/>
                </a:solidFill>
                <a:latin typeface="Calibri"/>
              </a:rPr>
              <a:t>Plain chatbot</a:t>
            </a:r>
          </a:p>
        </p:txBody>
      </p:sp>
      <p:sp>
        <p:nvSpPr>
          <p:cNvPr id="12" name="Rounded Rectangle 11"/>
          <p:cNvSpPr/>
          <p:nvPr/>
        </p:nvSpPr>
        <p:spPr>
          <a:xfrm>
            <a:off x="9966960" y="1645920"/>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1200" b="1" i="0">
                <a:solidFill>
                  <a:srgbClr val="3DDC97"/>
                </a:solidFill>
                <a:latin typeface="Calibri"/>
              </a:rPr>
              <a:t>TerraVow</a:t>
            </a:r>
          </a:p>
        </p:txBody>
      </p:sp>
      <p:sp>
        <p:nvSpPr>
          <p:cNvPr id="13" name="Rounded Rectangle 12"/>
          <p:cNvSpPr/>
          <p:nvPr/>
        </p:nvSpPr>
        <p:spPr>
          <a:xfrm>
            <a:off x="548640" y="2157984"/>
            <a:ext cx="3749039"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300" b="0" i="0">
                <a:solidFill>
                  <a:srgbClr val="F0F4F8"/>
                </a:solidFill>
                <a:latin typeface="Calibri"/>
              </a:rPr>
              <a:t>Per-machine health from snag history</a:t>
            </a:r>
          </a:p>
        </p:txBody>
      </p:sp>
      <p:sp>
        <p:nvSpPr>
          <p:cNvPr id="14" name="Rounded Rectangle 13"/>
          <p:cNvSpPr/>
          <p:nvPr/>
        </p:nvSpPr>
        <p:spPr>
          <a:xfrm>
            <a:off x="4297679" y="2157984"/>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15" name="Rounded Rectangle 14"/>
          <p:cNvSpPr/>
          <p:nvPr/>
        </p:nvSpPr>
        <p:spPr>
          <a:xfrm>
            <a:off x="5714999" y="2157984"/>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16" name="Rounded Rectangle 15"/>
          <p:cNvSpPr/>
          <p:nvPr/>
        </p:nvSpPr>
        <p:spPr>
          <a:xfrm>
            <a:off x="7132319" y="2157984"/>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17" name="Rounded Rectangle 16"/>
          <p:cNvSpPr/>
          <p:nvPr/>
        </p:nvSpPr>
        <p:spPr>
          <a:xfrm>
            <a:off x="8549640" y="2157984"/>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18" name="Rounded Rectangle 17"/>
          <p:cNvSpPr/>
          <p:nvPr/>
        </p:nvSpPr>
        <p:spPr>
          <a:xfrm>
            <a:off x="9966960" y="2157984"/>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19" name="Rounded Rectangle 18"/>
          <p:cNvSpPr/>
          <p:nvPr/>
        </p:nvSpPr>
        <p:spPr>
          <a:xfrm>
            <a:off x="548640" y="2670048"/>
            <a:ext cx="3749039"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300" b="0" i="0">
                <a:solidFill>
                  <a:srgbClr val="F0F4F8"/>
                </a:solidFill>
                <a:latin typeface="Calibri"/>
              </a:rPr>
              <a:t>Links health to air, water, chemical, soil</a:t>
            </a:r>
          </a:p>
        </p:txBody>
      </p:sp>
      <p:sp>
        <p:nvSpPr>
          <p:cNvPr id="20" name="Rounded Rectangle 19"/>
          <p:cNvSpPr/>
          <p:nvPr/>
        </p:nvSpPr>
        <p:spPr>
          <a:xfrm>
            <a:off x="4297679" y="2670048"/>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F2B84B"/>
                </a:solidFill>
                <a:latin typeface="Calibri"/>
              </a:rPr>
              <a:t>◐</a:t>
            </a:r>
          </a:p>
        </p:txBody>
      </p:sp>
      <p:sp>
        <p:nvSpPr>
          <p:cNvPr id="21" name="Rounded Rectangle 20"/>
          <p:cNvSpPr/>
          <p:nvPr/>
        </p:nvSpPr>
        <p:spPr>
          <a:xfrm>
            <a:off x="5714999" y="2670048"/>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22" name="Rounded Rectangle 21"/>
          <p:cNvSpPr/>
          <p:nvPr/>
        </p:nvSpPr>
        <p:spPr>
          <a:xfrm>
            <a:off x="7132319" y="2670048"/>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F2B84B"/>
                </a:solidFill>
                <a:latin typeface="Calibri"/>
              </a:rPr>
              <a:t>◐</a:t>
            </a:r>
          </a:p>
        </p:txBody>
      </p:sp>
      <p:sp>
        <p:nvSpPr>
          <p:cNvPr id="23" name="Rounded Rectangle 22"/>
          <p:cNvSpPr/>
          <p:nvPr/>
        </p:nvSpPr>
        <p:spPr>
          <a:xfrm>
            <a:off x="8549640" y="2670048"/>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24" name="Rounded Rectangle 23"/>
          <p:cNvSpPr/>
          <p:nvPr/>
        </p:nvSpPr>
        <p:spPr>
          <a:xfrm>
            <a:off x="9966960" y="2670048"/>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25" name="Rounded Rectangle 24"/>
          <p:cNvSpPr/>
          <p:nvPr/>
        </p:nvSpPr>
        <p:spPr>
          <a:xfrm>
            <a:off x="548640" y="3182112"/>
            <a:ext cx="3749039"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300" b="0" i="0">
                <a:solidFill>
                  <a:srgbClr val="F0F4F8"/>
                </a:solidFill>
                <a:latin typeface="Calibri"/>
              </a:rPr>
              <a:t>Greener option with payback</a:t>
            </a:r>
          </a:p>
        </p:txBody>
      </p:sp>
      <p:sp>
        <p:nvSpPr>
          <p:cNvPr id="26" name="Rounded Rectangle 25"/>
          <p:cNvSpPr/>
          <p:nvPr/>
        </p:nvSpPr>
        <p:spPr>
          <a:xfrm>
            <a:off x="4297679" y="3182112"/>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27" name="Rounded Rectangle 26"/>
          <p:cNvSpPr/>
          <p:nvPr/>
        </p:nvSpPr>
        <p:spPr>
          <a:xfrm>
            <a:off x="5714999" y="3182112"/>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28" name="Rounded Rectangle 27"/>
          <p:cNvSpPr/>
          <p:nvPr/>
        </p:nvSpPr>
        <p:spPr>
          <a:xfrm>
            <a:off x="7132319" y="3182112"/>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29" name="Rounded Rectangle 28"/>
          <p:cNvSpPr/>
          <p:nvPr/>
        </p:nvSpPr>
        <p:spPr>
          <a:xfrm>
            <a:off x="8549640" y="3182112"/>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F2B84B"/>
                </a:solidFill>
                <a:latin typeface="Calibri"/>
              </a:rPr>
              <a:t>◐</a:t>
            </a:r>
          </a:p>
        </p:txBody>
      </p:sp>
      <p:sp>
        <p:nvSpPr>
          <p:cNvPr id="30" name="Rounded Rectangle 29"/>
          <p:cNvSpPr/>
          <p:nvPr/>
        </p:nvSpPr>
        <p:spPr>
          <a:xfrm>
            <a:off x="9966960" y="3182112"/>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31" name="Rounded Rectangle 30"/>
          <p:cNvSpPr/>
          <p:nvPr/>
        </p:nvSpPr>
        <p:spPr>
          <a:xfrm>
            <a:off x="548640" y="3694176"/>
            <a:ext cx="3749039"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300" b="0" i="0">
                <a:solidFill>
                  <a:srgbClr val="F0F4F8"/>
                </a:solidFill>
                <a:latin typeface="Calibri"/>
              </a:rPr>
              <a:t>India incentive-adjusted (MSME / large)</a:t>
            </a:r>
          </a:p>
        </p:txBody>
      </p:sp>
      <p:sp>
        <p:nvSpPr>
          <p:cNvPr id="32" name="Rounded Rectangle 31"/>
          <p:cNvSpPr/>
          <p:nvPr/>
        </p:nvSpPr>
        <p:spPr>
          <a:xfrm>
            <a:off x="4297679" y="3694176"/>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33" name="Rounded Rectangle 32"/>
          <p:cNvSpPr/>
          <p:nvPr/>
        </p:nvSpPr>
        <p:spPr>
          <a:xfrm>
            <a:off x="5714999" y="3694176"/>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34" name="Rounded Rectangle 33"/>
          <p:cNvSpPr/>
          <p:nvPr/>
        </p:nvSpPr>
        <p:spPr>
          <a:xfrm>
            <a:off x="7132319" y="3694176"/>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35" name="Rounded Rectangle 34"/>
          <p:cNvSpPr/>
          <p:nvPr/>
        </p:nvSpPr>
        <p:spPr>
          <a:xfrm>
            <a:off x="8549640" y="3694176"/>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36" name="Rounded Rectangle 35"/>
          <p:cNvSpPr/>
          <p:nvPr/>
        </p:nvSpPr>
        <p:spPr>
          <a:xfrm>
            <a:off x="9966960" y="3694176"/>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F2B84B"/>
                </a:solidFill>
                <a:latin typeface="Calibri"/>
              </a:rPr>
              <a:t>◐</a:t>
            </a:r>
          </a:p>
        </p:txBody>
      </p:sp>
      <p:sp>
        <p:nvSpPr>
          <p:cNvPr id="37" name="Rounded Rectangle 36"/>
          <p:cNvSpPr/>
          <p:nvPr/>
        </p:nvSpPr>
        <p:spPr>
          <a:xfrm>
            <a:off x="548640" y="4206240"/>
            <a:ext cx="3749039"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300" b="0" i="0">
                <a:solidFill>
                  <a:srgbClr val="F0F4F8"/>
                </a:solidFill>
                <a:latin typeface="Calibri"/>
              </a:rPr>
              <a:t>Auditable, deterministic numbers</a:t>
            </a:r>
          </a:p>
        </p:txBody>
      </p:sp>
      <p:sp>
        <p:nvSpPr>
          <p:cNvPr id="38" name="Rounded Rectangle 37"/>
          <p:cNvSpPr/>
          <p:nvPr/>
        </p:nvSpPr>
        <p:spPr>
          <a:xfrm>
            <a:off x="4297679" y="4206240"/>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39" name="Rounded Rectangle 38"/>
          <p:cNvSpPr/>
          <p:nvPr/>
        </p:nvSpPr>
        <p:spPr>
          <a:xfrm>
            <a:off x="5714999" y="4206240"/>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40" name="Rounded Rectangle 39"/>
          <p:cNvSpPr/>
          <p:nvPr/>
        </p:nvSpPr>
        <p:spPr>
          <a:xfrm>
            <a:off x="7132319" y="4206240"/>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F2B84B"/>
                </a:solidFill>
                <a:latin typeface="Calibri"/>
              </a:rPr>
              <a:t>◐</a:t>
            </a:r>
          </a:p>
        </p:txBody>
      </p:sp>
      <p:sp>
        <p:nvSpPr>
          <p:cNvPr id="41" name="Rounded Rectangle 40"/>
          <p:cNvSpPr/>
          <p:nvPr/>
        </p:nvSpPr>
        <p:spPr>
          <a:xfrm>
            <a:off x="8549640" y="4206240"/>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42" name="Rounded Rectangle 41"/>
          <p:cNvSpPr/>
          <p:nvPr/>
        </p:nvSpPr>
        <p:spPr>
          <a:xfrm>
            <a:off x="9966960" y="4206240"/>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43" name="Rounded Rectangle 42"/>
          <p:cNvSpPr/>
          <p:nvPr/>
        </p:nvSpPr>
        <p:spPr>
          <a:xfrm>
            <a:off x="548640" y="4718304"/>
            <a:ext cx="3749039"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300" b="0" i="0">
                <a:solidFill>
                  <a:srgbClr val="F0F4F8"/>
                </a:solidFill>
                <a:latin typeface="Calibri"/>
              </a:rPr>
              <a:t>Veto on fixes that move pollution</a:t>
            </a:r>
          </a:p>
        </p:txBody>
      </p:sp>
      <p:sp>
        <p:nvSpPr>
          <p:cNvPr id="44" name="Rounded Rectangle 43"/>
          <p:cNvSpPr/>
          <p:nvPr/>
        </p:nvSpPr>
        <p:spPr>
          <a:xfrm>
            <a:off x="4297679" y="4718304"/>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45" name="Rounded Rectangle 44"/>
          <p:cNvSpPr/>
          <p:nvPr/>
        </p:nvSpPr>
        <p:spPr>
          <a:xfrm>
            <a:off x="5714999" y="4718304"/>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46" name="Rounded Rectangle 45"/>
          <p:cNvSpPr/>
          <p:nvPr/>
        </p:nvSpPr>
        <p:spPr>
          <a:xfrm>
            <a:off x="7132319" y="4718304"/>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47" name="Rounded Rectangle 46"/>
          <p:cNvSpPr/>
          <p:nvPr/>
        </p:nvSpPr>
        <p:spPr>
          <a:xfrm>
            <a:off x="8549640" y="4718304"/>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48" name="Rounded Rectangle 47"/>
          <p:cNvSpPr/>
          <p:nvPr/>
        </p:nvSpPr>
        <p:spPr>
          <a:xfrm>
            <a:off x="9966960" y="4718304"/>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49" name="TextBox 48"/>
          <p:cNvSpPr txBox="1"/>
          <p:nvPr/>
        </p:nvSpPr>
        <p:spPr>
          <a:xfrm>
            <a:off x="548640" y="5340096"/>
            <a:ext cx="11064240" cy="320040"/>
          </a:xfrm>
          <a:prstGeom prst="rect">
            <a:avLst/>
          </a:prstGeom>
          <a:noFill/>
        </p:spPr>
        <p:txBody>
          <a:bodyPr wrap="square" lIns="45720" tIns="27432" rIns="45720" bIns="27432" anchor="t">
            <a:spAutoFit/>
          </a:bodyPr>
          <a:lstStyle/>
          <a:p>
            <a:pPr algn="l">
              <a:spcAft>
                <a:spcPts val="0"/>
              </a:spcAft>
            </a:pPr>
            <a:r>
              <a:rPr sz="1300" b="1" i="0">
                <a:solidFill>
                  <a:srgbClr val="3DDC97"/>
                </a:solidFill>
                <a:latin typeface="Calibri"/>
              </a:rPr>
              <a:t>●</a:t>
            </a:r>
            <a:r>
              <a:rPr sz="1300" b="0" i="0">
                <a:solidFill>
                  <a:srgbClr val="F0F4F8"/>
                </a:solidFill>
                <a:latin typeface="Calibri"/>
              </a:rPr>
              <a:t> built     </a:t>
            </a:r>
            <a:r>
              <a:rPr sz="1300" b="1" i="0">
                <a:solidFill>
                  <a:srgbClr val="F2B84B"/>
                </a:solidFill>
                <a:latin typeface="Calibri"/>
              </a:rPr>
              <a:t>◐</a:t>
            </a:r>
            <a:r>
              <a:rPr sz="1300" b="0" i="0">
                <a:solidFill>
                  <a:srgbClr val="F0F4F8"/>
                </a:solidFill>
                <a:latin typeface="Calibri"/>
              </a:rPr>
              <a:t> partial or illustrative     </a:t>
            </a:r>
            <a:r>
              <a:rPr sz="1300" b="1" i="0">
                <a:solidFill>
                  <a:srgbClr val="5B6B7B"/>
                </a:solidFill>
                <a:latin typeface="Calibri"/>
              </a:rPr>
              <a:t>○</a:t>
            </a:r>
            <a:r>
              <a:rPr sz="1300" b="0" i="0">
                <a:solidFill>
                  <a:srgbClr val="F0F4F8"/>
                </a:solidFill>
                <a:latin typeface="Calibri"/>
              </a:rPr>
              <a:t> not offered</a:t>
            </a:r>
          </a:p>
        </p:txBody>
      </p:sp>
      <p:sp>
        <p:nvSpPr>
          <p:cNvPr id="50" name="Rounded Rectangle 49"/>
          <p:cNvSpPr/>
          <p:nvPr/>
        </p:nvSpPr>
        <p:spPr>
          <a:xfrm>
            <a:off x="548640" y="5687568"/>
            <a:ext cx="11091672" cy="457200"/>
          </a:xfrm>
          <a:prstGeom prst="roundRect">
            <a:avLst>
              <a:gd name="adj" fmla="val 16000"/>
            </a:avLst>
          </a:prstGeom>
          <a:noFill/>
          <a:ln w="12700">
            <a:solidFill>
              <a:srgbClr val="F2B84B"/>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300" b="1" i="0">
                <a:solidFill>
                  <a:srgbClr val="F2B84B"/>
                </a:solidFill>
                <a:latin typeface="Calibri"/>
              </a:rPr>
              <a:t>Where we are behind: </a:t>
            </a:r>
            <a:r>
              <a:rPr sz="1300" b="0" i="0">
                <a:solidFill>
                  <a:srgbClr val="F0F4F8"/>
                </a:solidFill>
                <a:latin typeface="Calibri"/>
              </a:rPr>
              <a:t>maintenance vendors have large fleets of real sensor data; we have a synthetic demo fleet.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One flow, four industries, each with its own AI-built template</a:t>
            </a:r>
          </a:p>
        </p:txBody>
      </p:sp>
      <p:sp>
        <p:nvSpPr>
          <p:cNvPr id="3" name="TextBox 2"/>
          <p:cNvSpPr txBox="1"/>
          <p:nvPr/>
        </p:nvSpPr>
        <p:spPr>
          <a:xfrm>
            <a:off x="548640" y="274320"/>
            <a:ext cx="7315200" cy="332399"/>
          </a:xfrm>
          <a:prstGeom prst="rect">
            <a:avLst/>
          </a:prstGeom>
          <a:noFill/>
        </p:spPr>
        <p:txBody>
          <a:bodyPr wrap="square" lIns="45720" tIns="27432" rIns="45720" bIns="27432" anchor="t">
            <a:spAutoFit/>
          </a:bodyPr>
          <a:lstStyle/>
          <a:p>
            <a:pPr algn="l">
              <a:spcAft>
                <a:spcPts val="0"/>
              </a:spcAft>
            </a:pPr>
            <a:r>
              <a:rPr b="1" i="0" dirty="0">
                <a:solidFill>
                  <a:srgbClr val="3DDC97"/>
                </a:solidFill>
                <a:latin typeface="Calibri"/>
              </a:rPr>
              <a:t>INDUSTRIES</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Domains from prototype/data/industries.json. Catalogue is sample data. CPCB: Rajya Sabha Starred Q101, 15 Dec 2022 (sansad.in).</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6</a:t>
            </a:r>
          </a:p>
        </p:txBody>
      </p:sp>
      <p:sp>
        <p:nvSpPr>
          <p:cNvPr id="7" name="Rounded Rectangle 6"/>
          <p:cNvSpPr/>
          <p:nvPr/>
        </p:nvSpPr>
        <p:spPr>
          <a:xfrm>
            <a:off x="548640" y="1645920"/>
            <a:ext cx="2633472" cy="3383280"/>
          </a:xfrm>
          <a:prstGeom prst="roundRect">
            <a:avLst>
              <a:gd name="adj" fmla="val 2083"/>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737360"/>
            <a:ext cx="2359152" cy="6858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Textile dyeing &amp; finishing</a:t>
            </a:r>
          </a:p>
        </p:txBody>
      </p:sp>
      <p:sp>
        <p:nvSpPr>
          <p:cNvPr id="9" name="Rounded Rectangle 8"/>
          <p:cNvSpPr/>
          <p:nvPr/>
        </p:nvSpPr>
        <p:spPr>
          <a:xfrm>
            <a:off x="685800" y="2560320"/>
            <a:ext cx="470916" cy="274320"/>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4DA3F0"/>
                </a:solidFill>
                <a:latin typeface="Calibri"/>
              </a:rPr>
              <a:t>AIR</a:t>
            </a:r>
          </a:p>
        </p:txBody>
      </p:sp>
      <p:sp>
        <p:nvSpPr>
          <p:cNvPr id="10" name="Rounded Rectangle 9"/>
          <p:cNvSpPr/>
          <p:nvPr/>
        </p:nvSpPr>
        <p:spPr>
          <a:xfrm>
            <a:off x="1229868" y="2560320"/>
            <a:ext cx="662940" cy="274320"/>
          </a:xfrm>
          <a:prstGeom prst="roundRect">
            <a:avLst>
              <a:gd name="adj" fmla="val 50000"/>
            </a:avLst>
          </a:prstGeom>
          <a:solidFill>
            <a:srgbClr val="0B2F3A"/>
          </a:solidFill>
          <a:ln w="12700">
            <a:solidFill>
              <a:srgbClr val="35C6D6"/>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35C6D6"/>
                </a:solidFill>
                <a:latin typeface="Calibri"/>
              </a:rPr>
              <a:t>WATER</a:t>
            </a:r>
          </a:p>
        </p:txBody>
      </p:sp>
      <p:sp>
        <p:nvSpPr>
          <p:cNvPr id="11" name="Rounded Rectangle 10"/>
          <p:cNvSpPr/>
          <p:nvPr/>
        </p:nvSpPr>
        <p:spPr>
          <a:xfrm>
            <a:off x="1965960" y="2560320"/>
            <a:ext cx="950976" cy="274320"/>
          </a:xfrm>
          <a:prstGeom prst="roundRect">
            <a:avLst>
              <a:gd name="adj" fmla="val 50000"/>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F2B84B"/>
                </a:solidFill>
                <a:latin typeface="Calibri"/>
              </a:rPr>
              <a:t>CHEMICAL</a:t>
            </a:r>
          </a:p>
        </p:txBody>
      </p:sp>
      <p:sp>
        <p:nvSpPr>
          <p:cNvPr id="12" name="TextBox 11"/>
          <p:cNvSpPr txBox="1"/>
          <p:nvPr/>
        </p:nvSpPr>
        <p:spPr>
          <a:xfrm>
            <a:off x="685800" y="342900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SAMPLE MODELS</a:t>
            </a:r>
          </a:p>
        </p:txBody>
      </p:sp>
      <p:sp>
        <p:nvSpPr>
          <p:cNvPr id="13" name="TextBox 12"/>
          <p:cNvSpPr txBox="1"/>
          <p:nvPr/>
        </p:nvSpPr>
        <p:spPr>
          <a:xfrm>
            <a:off x="685800" y="3685032"/>
            <a:ext cx="2359152" cy="1280160"/>
          </a:xfrm>
          <a:prstGeom prst="rect">
            <a:avLst/>
          </a:prstGeom>
          <a:noFill/>
        </p:spPr>
        <p:txBody>
          <a:bodyPr wrap="square" lIns="45720" tIns="27432" rIns="45720" bIns="27432" anchor="t">
            <a:spAutoFit/>
          </a:bodyPr>
          <a:lstStyle/>
          <a:p>
            <a:pPr algn="l">
              <a:spcAft>
                <a:spcPts val="300"/>
              </a:spcAft>
            </a:pPr>
            <a:r>
              <a:rPr sz="1300" b="0" i="0">
                <a:solidFill>
                  <a:srgbClr val="F0F4F8"/>
                </a:solidFill>
                <a:latin typeface="Calibri"/>
              </a:rPr>
              <a:t>Bosch Industrial UL-S 6000</a:t>
            </a:r>
          </a:p>
          <a:p>
            <a:pPr algn="l">
              <a:spcAft>
                <a:spcPts val="300"/>
              </a:spcAft>
            </a:pPr>
            <a:r>
              <a:rPr sz="1300" b="0" i="0">
                <a:solidFill>
                  <a:srgbClr val="F0F4F8"/>
                </a:solidFill>
                <a:latin typeface="Calibri"/>
              </a:rPr>
              <a:t>Thermax Heatpac TH-1100</a:t>
            </a:r>
          </a:p>
          <a:p>
            <a:pPr algn="l">
              <a:spcAft>
                <a:spcPts val="300"/>
              </a:spcAft>
            </a:pPr>
            <a:r>
              <a:rPr sz="1300" b="0" i="0">
                <a:solidFill>
                  <a:srgbClr val="F0F4F8"/>
                </a:solidFill>
                <a:latin typeface="Calibri"/>
              </a:rPr>
              <a:t>Thies iMaster</a:t>
            </a:r>
          </a:p>
        </p:txBody>
      </p:sp>
      <p:sp>
        <p:nvSpPr>
          <p:cNvPr id="14" name="Rounded Rectangle 13"/>
          <p:cNvSpPr/>
          <p:nvPr/>
        </p:nvSpPr>
        <p:spPr>
          <a:xfrm>
            <a:off x="3355848" y="1645920"/>
            <a:ext cx="2633472" cy="3383280"/>
          </a:xfrm>
          <a:prstGeom prst="roundRect">
            <a:avLst>
              <a:gd name="adj" fmla="val 2083"/>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93008" y="1737360"/>
            <a:ext cx="2359152" cy="6858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Metals: steel &amp; foundry</a:t>
            </a:r>
          </a:p>
        </p:txBody>
      </p:sp>
      <p:sp>
        <p:nvSpPr>
          <p:cNvPr id="16" name="Rounded Rectangle 15"/>
          <p:cNvSpPr/>
          <p:nvPr/>
        </p:nvSpPr>
        <p:spPr>
          <a:xfrm>
            <a:off x="3493008" y="2560320"/>
            <a:ext cx="470916" cy="274320"/>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4DA3F0"/>
                </a:solidFill>
                <a:latin typeface="Calibri"/>
              </a:rPr>
              <a:t>AIR</a:t>
            </a:r>
          </a:p>
        </p:txBody>
      </p:sp>
      <p:sp>
        <p:nvSpPr>
          <p:cNvPr id="17" name="Rounded Rectangle 16"/>
          <p:cNvSpPr/>
          <p:nvPr/>
        </p:nvSpPr>
        <p:spPr>
          <a:xfrm>
            <a:off x="4037076" y="2560320"/>
            <a:ext cx="662940" cy="274320"/>
          </a:xfrm>
          <a:prstGeom prst="roundRect">
            <a:avLst>
              <a:gd name="adj" fmla="val 50000"/>
            </a:avLst>
          </a:prstGeom>
          <a:solidFill>
            <a:srgbClr val="0B2F3A"/>
          </a:solidFill>
          <a:ln w="12700">
            <a:solidFill>
              <a:srgbClr val="35C6D6"/>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35C6D6"/>
                </a:solidFill>
                <a:latin typeface="Calibri"/>
              </a:rPr>
              <a:t>WATER</a:t>
            </a:r>
          </a:p>
        </p:txBody>
      </p:sp>
      <p:sp>
        <p:nvSpPr>
          <p:cNvPr id="18" name="Rounded Rectangle 17"/>
          <p:cNvSpPr/>
          <p:nvPr/>
        </p:nvSpPr>
        <p:spPr>
          <a:xfrm>
            <a:off x="4773168" y="2560320"/>
            <a:ext cx="566928" cy="274320"/>
          </a:xfrm>
          <a:prstGeom prst="roundRect">
            <a:avLst>
              <a:gd name="adj" fmla="val 50000"/>
            </a:avLst>
          </a:prstGeom>
          <a:solidFill>
            <a:srgbClr val="2E2113"/>
          </a:solidFill>
          <a:ln w="12700">
            <a:solidFill>
              <a:srgbClr val="C58A4B"/>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C58A4B"/>
                </a:solidFill>
                <a:latin typeface="Calibri"/>
              </a:rPr>
              <a:t>SOIL</a:t>
            </a:r>
          </a:p>
        </p:txBody>
      </p:sp>
      <p:sp>
        <p:nvSpPr>
          <p:cNvPr id="19" name="TextBox 18"/>
          <p:cNvSpPr txBox="1"/>
          <p:nvPr/>
        </p:nvSpPr>
        <p:spPr>
          <a:xfrm>
            <a:off x="3493008" y="342900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SAMPLE MODELS</a:t>
            </a:r>
          </a:p>
        </p:txBody>
      </p:sp>
      <p:sp>
        <p:nvSpPr>
          <p:cNvPr id="20" name="TextBox 19"/>
          <p:cNvSpPr txBox="1"/>
          <p:nvPr/>
        </p:nvSpPr>
        <p:spPr>
          <a:xfrm>
            <a:off x="3493008" y="3685032"/>
            <a:ext cx="2359152" cy="1280160"/>
          </a:xfrm>
          <a:prstGeom prst="rect">
            <a:avLst/>
          </a:prstGeom>
          <a:noFill/>
        </p:spPr>
        <p:txBody>
          <a:bodyPr wrap="square" lIns="45720" tIns="27432" rIns="45720" bIns="27432" anchor="t">
            <a:spAutoFit/>
          </a:bodyPr>
          <a:lstStyle/>
          <a:p>
            <a:pPr algn="l">
              <a:spcAft>
                <a:spcPts val="300"/>
              </a:spcAft>
            </a:pPr>
            <a:r>
              <a:rPr sz="1300" b="0" i="0">
                <a:solidFill>
                  <a:srgbClr val="F0F4F8"/>
                </a:solidFill>
                <a:latin typeface="Calibri"/>
              </a:rPr>
              <a:t>Tenova Walking-Beam Reheat Furnace WB-200</a:t>
            </a:r>
          </a:p>
          <a:p>
            <a:pPr algn="l">
              <a:spcAft>
                <a:spcPts val="300"/>
              </a:spcAft>
            </a:pPr>
            <a:r>
              <a:rPr sz="1300" b="0" i="0">
                <a:solidFill>
                  <a:srgbClr val="F0F4F8"/>
                </a:solidFill>
                <a:latin typeface="Calibri"/>
              </a:rPr>
              <a:t>Inductotherm Power-Trak 5000</a:t>
            </a:r>
          </a:p>
          <a:p>
            <a:pPr algn="l">
              <a:spcAft>
                <a:spcPts val="300"/>
              </a:spcAft>
            </a:pPr>
            <a:r>
              <a:rPr sz="1300" b="0" i="0">
                <a:solidFill>
                  <a:srgbClr val="F0F4F8"/>
                </a:solidFill>
                <a:latin typeface="Calibri"/>
              </a:rPr>
              <a:t>Danieli Digimelter</a:t>
            </a:r>
          </a:p>
        </p:txBody>
      </p:sp>
      <p:sp>
        <p:nvSpPr>
          <p:cNvPr id="21" name="Rounded Rectangle 20"/>
          <p:cNvSpPr/>
          <p:nvPr/>
        </p:nvSpPr>
        <p:spPr>
          <a:xfrm>
            <a:off x="6163055" y="1645920"/>
            <a:ext cx="2633472" cy="3383280"/>
          </a:xfrm>
          <a:prstGeom prst="roundRect">
            <a:avLst>
              <a:gd name="adj" fmla="val 2083"/>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0216" y="1737360"/>
            <a:ext cx="2359152" cy="6858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Chemicals &amp; fertiliser</a:t>
            </a:r>
          </a:p>
        </p:txBody>
      </p:sp>
      <p:sp>
        <p:nvSpPr>
          <p:cNvPr id="23" name="Rounded Rectangle 22"/>
          <p:cNvSpPr/>
          <p:nvPr/>
        </p:nvSpPr>
        <p:spPr>
          <a:xfrm>
            <a:off x="6300216" y="2560320"/>
            <a:ext cx="470916" cy="274320"/>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4DA3F0"/>
                </a:solidFill>
                <a:latin typeface="Calibri"/>
              </a:rPr>
              <a:t>AIR</a:t>
            </a:r>
          </a:p>
        </p:txBody>
      </p:sp>
      <p:sp>
        <p:nvSpPr>
          <p:cNvPr id="24" name="Rounded Rectangle 23"/>
          <p:cNvSpPr/>
          <p:nvPr/>
        </p:nvSpPr>
        <p:spPr>
          <a:xfrm>
            <a:off x="6844283" y="2560320"/>
            <a:ext cx="662940" cy="274320"/>
          </a:xfrm>
          <a:prstGeom prst="roundRect">
            <a:avLst>
              <a:gd name="adj" fmla="val 50000"/>
            </a:avLst>
          </a:prstGeom>
          <a:solidFill>
            <a:srgbClr val="0B2F3A"/>
          </a:solidFill>
          <a:ln w="12700">
            <a:solidFill>
              <a:srgbClr val="35C6D6"/>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35C6D6"/>
                </a:solidFill>
                <a:latin typeface="Calibri"/>
              </a:rPr>
              <a:t>WATER</a:t>
            </a:r>
          </a:p>
        </p:txBody>
      </p:sp>
      <p:sp>
        <p:nvSpPr>
          <p:cNvPr id="25" name="Rounded Rectangle 24"/>
          <p:cNvSpPr/>
          <p:nvPr/>
        </p:nvSpPr>
        <p:spPr>
          <a:xfrm>
            <a:off x="7580375" y="2560320"/>
            <a:ext cx="950976" cy="274320"/>
          </a:xfrm>
          <a:prstGeom prst="roundRect">
            <a:avLst>
              <a:gd name="adj" fmla="val 50000"/>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F2B84B"/>
                </a:solidFill>
                <a:latin typeface="Calibri"/>
              </a:rPr>
              <a:t>CHEMICAL</a:t>
            </a:r>
          </a:p>
        </p:txBody>
      </p:sp>
      <p:sp>
        <p:nvSpPr>
          <p:cNvPr id="26" name="Rounded Rectangle 25"/>
          <p:cNvSpPr/>
          <p:nvPr/>
        </p:nvSpPr>
        <p:spPr>
          <a:xfrm>
            <a:off x="6300216" y="2907791"/>
            <a:ext cx="566928" cy="274320"/>
          </a:xfrm>
          <a:prstGeom prst="roundRect">
            <a:avLst>
              <a:gd name="adj" fmla="val 50000"/>
            </a:avLst>
          </a:prstGeom>
          <a:solidFill>
            <a:srgbClr val="2E2113"/>
          </a:solidFill>
          <a:ln w="12700">
            <a:solidFill>
              <a:srgbClr val="C58A4B"/>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C58A4B"/>
                </a:solidFill>
                <a:latin typeface="Calibri"/>
              </a:rPr>
              <a:t>SOIL</a:t>
            </a:r>
          </a:p>
        </p:txBody>
      </p:sp>
      <p:sp>
        <p:nvSpPr>
          <p:cNvPr id="27" name="TextBox 26"/>
          <p:cNvSpPr txBox="1"/>
          <p:nvPr/>
        </p:nvSpPr>
        <p:spPr>
          <a:xfrm>
            <a:off x="6300216" y="342900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SAMPLE MODELS</a:t>
            </a:r>
          </a:p>
        </p:txBody>
      </p:sp>
      <p:sp>
        <p:nvSpPr>
          <p:cNvPr id="28" name="TextBox 27"/>
          <p:cNvSpPr txBox="1"/>
          <p:nvPr/>
        </p:nvSpPr>
        <p:spPr>
          <a:xfrm>
            <a:off x="6300216" y="3685032"/>
            <a:ext cx="2359152" cy="1280160"/>
          </a:xfrm>
          <a:prstGeom prst="rect">
            <a:avLst/>
          </a:prstGeom>
          <a:noFill/>
        </p:spPr>
        <p:txBody>
          <a:bodyPr wrap="square" lIns="45720" tIns="27432" rIns="45720" bIns="27432" anchor="t">
            <a:spAutoFit/>
          </a:bodyPr>
          <a:lstStyle/>
          <a:p>
            <a:pPr algn="l">
              <a:spcAft>
                <a:spcPts val="300"/>
              </a:spcAft>
            </a:pPr>
            <a:r>
              <a:rPr sz="1300" b="0" i="0">
                <a:solidFill>
                  <a:srgbClr val="F0F4F8"/>
                </a:solidFill>
                <a:latin typeface="Calibri"/>
              </a:rPr>
              <a:t>GEA Niro SD-25</a:t>
            </a:r>
          </a:p>
          <a:p>
            <a:pPr algn="l">
              <a:spcAft>
                <a:spcPts val="300"/>
              </a:spcAft>
            </a:pPr>
            <a:r>
              <a:rPr sz="1300" b="0" i="0">
                <a:solidFill>
                  <a:srgbClr val="F0F4F8"/>
                </a:solidFill>
                <a:latin typeface="Calibri"/>
              </a:rPr>
              <a:t>Alfa Laval NX 4000</a:t>
            </a:r>
          </a:p>
          <a:p>
            <a:pPr algn="l">
              <a:spcAft>
                <a:spcPts val="300"/>
              </a:spcAft>
            </a:pPr>
            <a:r>
              <a:rPr sz="1300" b="0" i="0">
                <a:solidFill>
                  <a:srgbClr val="F0F4F8"/>
                </a:solidFill>
                <a:latin typeface="Calibri"/>
              </a:rPr>
              <a:t>thyssenkrupp Granulation Drum GD-4</a:t>
            </a:r>
          </a:p>
        </p:txBody>
      </p:sp>
      <p:sp>
        <p:nvSpPr>
          <p:cNvPr id="29" name="Rounded Rectangle 28"/>
          <p:cNvSpPr/>
          <p:nvPr/>
        </p:nvSpPr>
        <p:spPr>
          <a:xfrm>
            <a:off x="8970263" y="1645920"/>
            <a:ext cx="2633472" cy="3383280"/>
          </a:xfrm>
          <a:prstGeom prst="roundRect">
            <a:avLst>
              <a:gd name="adj" fmla="val 2083"/>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07424" y="1737360"/>
            <a:ext cx="2359152" cy="6858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Mining &amp; mineral processing</a:t>
            </a:r>
          </a:p>
        </p:txBody>
      </p:sp>
      <p:sp>
        <p:nvSpPr>
          <p:cNvPr id="31" name="Rounded Rectangle 30"/>
          <p:cNvSpPr/>
          <p:nvPr/>
        </p:nvSpPr>
        <p:spPr>
          <a:xfrm>
            <a:off x="9107424" y="2560320"/>
            <a:ext cx="470916" cy="274320"/>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4DA3F0"/>
                </a:solidFill>
                <a:latin typeface="Calibri"/>
              </a:rPr>
              <a:t>AIR</a:t>
            </a:r>
          </a:p>
        </p:txBody>
      </p:sp>
      <p:sp>
        <p:nvSpPr>
          <p:cNvPr id="32" name="Rounded Rectangle 31"/>
          <p:cNvSpPr/>
          <p:nvPr/>
        </p:nvSpPr>
        <p:spPr>
          <a:xfrm>
            <a:off x="9651492" y="2560320"/>
            <a:ext cx="662940" cy="274320"/>
          </a:xfrm>
          <a:prstGeom prst="roundRect">
            <a:avLst>
              <a:gd name="adj" fmla="val 50000"/>
            </a:avLst>
          </a:prstGeom>
          <a:solidFill>
            <a:srgbClr val="0B2F3A"/>
          </a:solidFill>
          <a:ln w="12700">
            <a:solidFill>
              <a:srgbClr val="35C6D6"/>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35C6D6"/>
                </a:solidFill>
                <a:latin typeface="Calibri"/>
              </a:rPr>
              <a:t>WATER</a:t>
            </a:r>
          </a:p>
        </p:txBody>
      </p:sp>
      <p:sp>
        <p:nvSpPr>
          <p:cNvPr id="33" name="Rounded Rectangle 32"/>
          <p:cNvSpPr/>
          <p:nvPr/>
        </p:nvSpPr>
        <p:spPr>
          <a:xfrm>
            <a:off x="10387584" y="2560320"/>
            <a:ext cx="566928" cy="274320"/>
          </a:xfrm>
          <a:prstGeom prst="roundRect">
            <a:avLst>
              <a:gd name="adj" fmla="val 50000"/>
            </a:avLst>
          </a:prstGeom>
          <a:solidFill>
            <a:srgbClr val="2E2113"/>
          </a:solidFill>
          <a:ln w="12700">
            <a:solidFill>
              <a:srgbClr val="C58A4B"/>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C58A4B"/>
                </a:solidFill>
                <a:latin typeface="Calibri"/>
              </a:rPr>
              <a:t>SOIL</a:t>
            </a:r>
          </a:p>
        </p:txBody>
      </p:sp>
      <p:sp>
        <p:nvSpPr>
          <p:cNvPr id="34" name="TextBox 33"/>
          <p:cNvSpPr txBox="1"/>
          <p:nvPr/>
        </p:nvSpPr>
        <p:spPr>
          <a:xfrm>
            <a:off x="9107424" y="342900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SAMPLE MODELS</a:t>
            </a:r>
          </a:p>
        </p:txBody>
      </p:sp>
      <p:sp>
        <p:nvSpPr>
          <p:cNvPr id="35" name="TextBox 34"/>
          <p:cNvSpPr txBox="1"/>
          <p:nvPr/>
        </p:nvSpPr>
        <p:spPr>
          <a:xfrm>
            <a:off x="9107424" y="3685032"/>
            <a:ext cx="2359152" cy="1280160"/>
          </a:xfrm>
          <a:prstGeom prst="rect">
            <a:avLst/>
          </a:prstGeom>
          <a:noFill/>
        </p:spPr>
        <p:txBody>
          <a:bodyPr wrap="square" lIns="45720" tIns="27432" rIns="45720" bIns="27432" anchor="t">
            <a:spAutoFit/>
          </a:bodyPr>
          <a:lstStyle/>
          <a:p>
            <a:pPr algn="l">
              <a:spcAft>
                <a:spcPts val="300"/>
              </a:spcAft>
            </a:pPr>
            <a:r>
              <a:rPr sz="1300" b="0" i="0">
                <a:solidFill>
                  <a:srgbClr val="F0F4F8"/>
                </a:solidFill>
                <a:latin typeface="Calibri"/>
              </a:rPr>
              <a:t>FLSmidth Rotary Kiln RK-4.0</a:t>
            </a:r>
          </a:p>
          <a:p>
            <a:pPr algn="l">
              <a:spcAft>
                <a:spcPts val="300"/>
              </a:spcAft>
            </a:pPr>
            <a:r>
              <a:rPr sz="1300" b="0" i="0">
                <a:solidFill>
                  <a:srgbClr val="F0F4F8"/>
                </a:solidFill>
                <a:latin typeface="Calibri"/>
              </a:rPr>
              <a:t>Caterpillar G3516</a:t>
            </a:r>
          </a:p>
          <a:p>
            <a:pPr algn="l">
              <a:spcAft>
                <a:spcPts val="300"/>
              </a:spcAft>
            </a:pPr>
            <a:r>
              <a:rPr sz="1300" b="0" i="0">
                <a:solidFill>
                  <a:srgbClr val="F0F4F8"/>
                </a:solidFill>
                <a:latin typeface="Calibri"/>
              </a:rPr>
              <a:t>Metso Nordberg HP5</a:t>
            </a:r>
          </a:p>
        </p:txBody>
      </p:sp>
      <p:sp>
        <p:nvSpPr>
          <p:cNvPr id="36" name="Rounded Rectangle 35"/>
          <p:cNvSpPr/>
          <p:nvPr/>
        </p:nvSpPr>
        <p:spPr>
          <a:xfrm>
            <a:off x="548640" y="5257800"/>
            <a:ext cx="11091672" cy="868680"/>
          </a:xfrm>
          <a:prstGeom prst="roundRect">
            <a:avLst>
              <a:gd name="adj" fmla="val 8421"/>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400" b="1" i="0">
                <a:solidFill>
                  <a:srgbClr val="F2B84B"/>
                </a:solidFill>
                <a:latin typeface="Calibri"/>
              </a:rPr>
              <a:t>On India's regulator list: </a:t>
            </a:r>
            <a:r>
              <a:rPr sz="1400" b="0" i="0">
                <a:solidFill>
                  <a:srgbClr val="F0F4F8"/>
                </a:solidFill>
                <a:latin typeface="Calibri"/>
              </a:rPr>
              <a:t>CPCB flags 17 highly polluting categories, including dyes, fertiliser, iron and steel and cement. 4,578 such units reported (Dec 2022).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Step 1 | Report: pick a machine, get a form built for that exact model</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dirty="0">
                <a:solidFill>
                  <a:srgbClr val="3DDC97"/>
                </a:solidFill>
                <a:latin typeface="Calibri"/>
              </a:rPr>
              <a:t>LIVE PRODUCT WALKTHROUGH</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Screenshot of the local prototype with Gemini not configured: the generic fallback template is shown and labelled. Sample catalogue data.</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7</a:t>
            </a:r>
          </a:p>
        </p:txBody>
      </p:sp>
      <p:sp>
        <p:nvSpPr>
          <p:cNvPr id="7" name="Rounded Rectangle 6"/>
          <p:cNvSpPr/>
          <p:nvPr/>
        </p:nvSpPr>
        <p:spPr>
          <a:xfrm>
            <a:off x="548640" y="1600200"/>
            <a:ext cx="7406640" cy="4023360"/>
          </a:xfrm>
          <a:prstGeom prst="roundRect">
            <a:avLst>
              <a:gd name="adj" fmla="val 1363"/>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ui_report.png"/>
          <p:cNvPicPr>
            <a:picLocks noChangeAspect="1"/>
          </p:cNvPicPr>
          <p:nvPr/>
        </p:nvPicPr>
        <p:blipFill>
          <a:blip r:embed="rId3"/>
          <a:stretch>
            <a:fillRect/>
          </a:stretch>
        </p:blipFill>
        <p:spPr>
          <a:xfrm>
            <a:off x="608233" y="1655064"/>
            <a:ext cx="7287452" cy="3913632"/>
          </a:xfrm>
          <a:prstGeom prst="rect">
            <a:avLst/>
          </a:prstGeom>
        </p:spPr>
      </p:pic>
      <p:sp>
        <p:nvSpPr>
          <p:cNvPr id="9" name="Rounded Rectangle 8"/>
          <p:cNvSpPr/>
          <p:nvPr/>
        </p:nvSpPr>
        <p:spPr>
          <a:xfrm>
            <a:off x="8138160" y="1600200"/>
            <a:ext cx="3502152" cy="1280160"/>
          </a:xfrm>
          <a:prstGeom prst="roundRect">
            <a:avLst>
              <a:gd name="adj" fmla="val 4285"/>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229600" y="169164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11" name="TextBox 10"/>
          <p:cNvSpPr txBox="1"/>
          <p:nvPr/>
        </p:nvSpPr>
        <p:spPr>
          <a:xfrm>
            <a:off x="8641080" y="1673352"/>
            <a:ext cx="2926080" cy="347472"/>
          </a:xfrm>
          <a:prstGeom prst="rect">
            <a:avLst/>
          </a:prstGeom>
          <a:noFill/>
        </p:spPr>
        <p:txBody>
          <a:bodyPr wrap="square" lIns="45720" tIns="27432" rIns="45720" bIns="27432" anchor="t">
            <a:spAutoFit/>
          </a:bodyPr>
          <a:lstStyle/>
          <a:p>
            <a:pPr algn="l">
              <a:spcAft>
                <a:spcPts val="0"/>
              </a:spcAft>
            </a:pPr>
            <a:r>
              <a:rPr sz="1400" b="1" i="0">
                <a:solidFill>
                  <a:srgbClr val="F0F4F8"/>
                </a:solidFill>
                <a:latin typeface="Calibri"/>
              </a:rPr>
              <a:t>Search or add</a:t>
            </a:r>
          </a:p>
        </p:txBody>
      </p:sp>
      <p:sp>
        <p:nvSpPr>
          <p:cNvPr id="12" name="TextBox 11"/>
          <p:cNvSpPr txBox="1"/>
          <p:nvPr/>
        </p:nvSpPr>
        <p:spPr>
          <a:xfrm>
            <a:off x="8229600" y="2057400"/>
            <a:ext cx="3337560" cy="8229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Autocomplete over 20 sample models. Not listed? Add it; Gemini with Google Search looks up specs.</a:t>
            </a:r>
          </a:p>
        </p:txBody>
      </p:sp>
      <p:sp>
        <p:nvSpPr>
          <p:cNvPr id="13" name="Rounded Rectangle 12"/>
          <p:cNvSpPr/>
          <p:nvPr/>
        </p:nvSpPr>
        <p:spPr>
          <a:xfrm>
            <a:off x="8138160" y="2971800"/>
            <a:ext cx="3502152" cy="1280160"/>
          </a:xfrm>
          <a:prstGeom prst="roundRect">
            <a:avLst>
              <a:gd name="adj" fmla="val 4285"/>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229600" y="306324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15" name="TextBox 14"/>
          <p:cNvSpPr txBox="1"/>
          <p:nvPr/>
        </p:nvSpPr>
        <p:spPr>
          <a:xfrm>
            <a:off x="8641080" y="3044952"/>
            <a:ext cx="2926080" cy="347472"/>
          </a:xfrm>
          <a:prstGeom prst="rect">
            <a:avLst/>
          </a:prstGeom>
          <a:noFill/>
        </p:spPr>
        <p:txBody>
          <a:bodyPr wrap="square" lIns="45720" tIns="27432" rIns="45720" bIns="27432" anchor="t">
            <a:spAutoFit/>
          </a:bodyPr>
          <a:lstStyle/>
          <a:p>
            <a:pPr algn="l">
              <a:spcAft>
                <a:spcPts val="0"/>
              </a:spcAft>
            </a:pPr>
            <a:r>
              <a:rPr sz="1400" b="1" i="0">
                <a:solidFill>
                  <a:srgbClr val="F0F4F8"/>
                </a:solidFill>
                <a:latin typeface="Calibri"/>
              </a:rPr>
              <a:t>Form built for the model</a:t>
            </a:r>
          </a:p>
        </p:txBody>
      </p:sp>
      <p:sp>
        <p:nvSpPr>
          <p:cNvPr id="16" name="TextBox 15"/>
          <p:cNvSpPr txBox="1"/>
          <p:nvPr/>
        </p:nvSpPr>
        <p:spPr>
          <a:xfrm>
            <a:off x="8229600" y="3429000"/>
            <a:ext cx="3337560" cy="8229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First use triggers a Gemini template: 6+ job types, 12+ snag types, 8+ parameters. Cached.</a:t>
            </a:r>
          </a:p>
        </p:txBody>
      </p:sp>
      <p:sp>
        <p:nvSpPr>
          <p:cNvPr id="17" name="Rounded Rectangle 16"/>
          <p:cNvSpPr/>
          <p:nvPr/>
        </p:nvSpPr>
        <p:spPr>
          <a:xfrm>
            <a:off x="8138160" y="4343400"/>
            <a:ext cx="3502152" cy="1280160"/>
          </a:xfrm>
          <a:prstGeom prst="roundRect">
            <a:avLst>
              <a:gd name="adj" fmla="val 4285"/>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29600" y="443484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19" name="TextBox 18"/>
          <p:cNvSpPr txBox="1"/>
          <p:nvPr/>
        </p:nvSpPr>
        <p:spPr>
          <a:xfrm>
            <a:off x="8641080" y="4416552"/>
            <a:ext cx="2926080" cy="347472"/>
          </a:xfrm>
          <a:prstGeom prst="rect">
            <a:avLst/>
          </a:prstGeom>
          <a:noFill/>
        </p:spPr>
        <p:txBody>
          <a:bodyPr wrap="square" lIns="45720" tIns="27432" rIns="45720" bIns="27432" anchor="t">
            <a:spAutoFit/>
          </a:bodyPr>
          <a:lstStyle/>
          <a:p>
            <a:pPr algn="l">
              <a:spcAft>
                <a:spcPts val="0"/>
              </a:spcAft>
            </a:pPr>
            <a:r>
              <a:rPr sz="1400" b="1" i="0">
                <a:solidFill>
                  <a:srgbClr val="F0F4F8"/>
                </a:solidFill>
                <a:latin typeface="Calibri"/>
              </a:rPr>
              <a:t>Privacy by default</a:t>
            </a:r>
          </a:p>
        </p:txBody>
      </p:sp>
      <p:sp>
        <p:nvSpPr>
          <p:cNvPr id="20" name="TextBox 19"/>
          <p:cNvSpPr txBox="1"/>
          <p:nvPr/>
        </p:nvSpPr>
        <p:spPr>
          <a:xfrm>
            <a:off x="8229600" y="4800600"/>
            <a:ext cx="3337560" cy="8229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Emails and phone numbers are stripped from free text before storage.</a:t>
            </a:r>
          </a:p>
        </p:txBody>
      </p:sp>
      <p:sp>
        <p:nvSpPr>
          <p:cNvPr id="21" name="Rounded Rectangle 20"/>
          <p:cNvSpPr/>
          <p:nvPr/>
        </p:nvSpPr>
        <p:spPr>
          <a:xfrm>
            <a:off x="548640" y="5760720"/>
            <a:ext cx="1280160" cy="457200"/>
          </a:xfrm>
          <a:prstGeom prst="roundRect">
            <a:avLst>
              <a:gd name="adj" fmla="val 16000"/>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F0F4F8"/>
                </a:solidFill>
                <a:latin typeface="Calibri"/>
              </a:rPr>
              <a:t>Industry</a:t>
            </a:r>
          </a:p>
        </p:txBody>
      </p:sp>
      <p:cxnSp>
        <p:nvCxnSpPr>
          <p:cNvPr id="22" name="Connector 21"/>
          <p:cNvCxnSpPr/>
          <p:nvPr/>
        </p:nvCxnSpPr>
        <p:spPr>
          <a:xfrm>
            <a:off x="1837943" y="5989320"/>
            <a:ext cx="164593"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011680" y="5760720"/>
            <a:ext cx="1280160" cy="457200"/>
          </a:xfrm>
          <a:prstGeom prst="roundRect">
            <a:avLst>
              <a:gd name="adj" fmla="val 16000"/>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F0F4F8"/>
                </a:solidFill>
                <a:latin typeface="Calibri"/>
              </a:rPr>
              <a:t>Model</a:t>
            </a:r>
          </a:p>
        </p:txBody>
      </p:sp>
      <p:cxnSp>
        <p:nvCxnSpPr>
          <p:cNvPr id="24" name="Connector 23"/>
          <p:cNvCxnSpPr/>
          <p:nvPr/>
        </p:nvCxnSpPr>
        <p:spPr>
          <a:xfrm>
            <a:off x="3300984" y="5989320"/>
            <a:ext cx="164592"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474720" y="5760720"/>
            <a:ext cx="1280160" cy="457200"/>
          </a:xfrm>
          <a:prstGeom prst="roundRect">
            <a:avLst>
              <a:gd name="adj" fmla="val 16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4DA3F0"/>
                </a:solidFill>
                <a:latin typeface="Calibri"/>
              </a:rPr>
              <a:t>Template</a:t>
            </a:r>
          </a:p>
        </p:txBody>
      </p:sp>
      <p:cxnSp>
        <p:nvCxnSpPr>
          <p:cNvPr id="26" name="Connector 25"/>
          <p:cNvCxnSpPr/>
          <p:nvPr/>
        </p:nvCxnSpPr>
        <p:spPr>
          <a:xfrm>
            <a:off x="4764024" y="5989320"/>
            <a:ext cx="164592"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937760" y="5760720"/>
            <a:ext cx="1280160" cy="457200"/>
          </a:xfrm>
          <a:prstGeom prst="roundRect">
            <a:avLst>
              <a:gd name="adj" fmla="val 16000"/>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F0F4F8"/>
                </a:solidFill>
                <a:latin typeface="Calibri"/>
              </a:rPr>
              <a:t>Snag form</a:t>
            </a:r>
          </a:p>
        </p:txBody>
      </p:sp>
      <p:cxnSp>
        <p:nvCxnSpPr>
          <p:cNvPr id="28" name="Connector 27"/>
          <p:cNvCxnSpPr/>
          <p:nvPr/>
        </p:nvCxnSpPr>
        <p:spPr>
          <a:xfrm>
            <a:off x="6227064" y="5989320"/>
            <a:ext cx="164592"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400800" y="5760720"/>
            <a:ext cx="1280160" cy="457200"/>
          </a:xfrm>
          <a:prstGeom prst="roundRect">
            <a:avLst>
              <a:gd name="adj" fmla="val 16000"/>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F0F4F8"/>
                </a:solidFill>
                <a:latin typeface="Calibri"/>
              </a:rPr>
              <a:t>Guidance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Step 2 | Resolve: worst snags first, with guidance for the fix</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LIVE PRODUCT WALKTHROUGH</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Screenshot of the local prototype. Seeded snags are synthetic. No authentication in the prototype: the role switch is workflow guidance only.</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8</a:t>
            </a:r>
          </a:p>
        </p:txBody>
      </p:sp>
      <p:sp>
        <p:nvSpPr>
          <p:cNvPr id="7" name="Rounded Rectangle 6"/>
          <p:cNvSpPr/>
          <p:nvPr/>
        </p:nvSpPr>
        <p:spPr>
          <a:xfrm>
            <a:off x="548640" y="1600200"/>
            <a:ext cx="5760720" cy="4251960"/>
          </a:xfrm>
          <a:prstGeom prst="roundRect">
            <a:avLst>
              <a:gd name="adj" fmla="val 129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ui_resolver.png"/>
          <p:cNvPicPr>
            <a:picLocks noChangeAspect="1"/>
          </p:cNvPicPr>
          <p:nvPr/>
        </p:nvPicPr>
        <p:blipFill>
          <a:blip r:embed="rId3"/>
          <a:stretch>
            <a:fillRect/>
          </a:stretch>
        </p:blipFill>
        <p:spPr>
          <a:xfrm>
            <a:off x="603503" y="1793777"/>
            <a:ext cx="5650992" cy="3864804"/>
          </a:xfrm>
          <a:prstGeom prst="rect">
            <a:avLst/>
          </a:prstGeom>
        </p:spPr>
      </p:pic>
      <p:sp>
        <p:nvSpPr>
          <p:cNvPr id="9" name="Rounded Rectangle 8"/>
          <p:cNvSpPr/>
          <p:nvPr/>
        </p:nvSpPr>
        <p:spPr>
          <a:xfrm>
            <a:off x="6492240" y="1600200"/>
            <a:ext cx="5148072"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601968" y="1709928"/>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11" name="TextBox 10"/>
          <p:cNvSpPr txBox="1"/>
          <p:nvPr/>
        </p:nvSpPr>
        <p:spPr>
          <a:xfrm>
            <a:off x="7040880" y="1655064"/>
            <a:ext cx="4526280"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Severity-first queue</a:t>
            </a:r>
          </a:p>
        </p:txBody>
      </p:sp>
      <p:sp>
        <p:nvSpPr>
          <p:cNvPr id="12" name="TextBox 11"/>
          <p:cNvSpPr txBox="1"/>
          <p:nvPr/>
        </p:nvSpPr>
        <p:spPr>
          <a:xfrm>
            <a:off x="7040880" y="2002536"/>
            <a:ext cx="4526280" cy="685800"/>
          </a:xfrm>
          <a:prstGeom prst="rect">
            <a:avLst/>
          </a:prstGeom>
          <a:noFill/>
        </p:spPr>
        <p:txBody>
          <a:bodyPr wrap="square" lIns="45720" tIns="27432" rIns="45720" bIns="27432" anchor="t">
            <a:spAutoFit/>
          </a:bodyPr>
          <a:lstStyle/>
          <a:p>
            <a:pPr algn="l">
              <a:spcAft>
                <a:spcPts val="0"/>
              </a:spcAft>
            </a:pPr>
            <a:r>
              <a:rPr sz="1300" b="0" i="0">
                <a:solidFill>
                  <a:srgbClr val="9FB3C8"/>
                </a:solidFill>
                <a:latin typeface="Calibri"/>
              </a:rPr>
              <a:t>Each card: recommended job, immediate action, time to fix, hazards, escalation.</a:t>
            </a:r>
          </a:p>
        </p:txBody>
      </p:sp>
      <p:sp>
        <p:nvSpPr>
          <p:cNvPr id="13" name="Rounded Rectangle 12"/>
          <p:cNvSpPr/>
          <p:nvPr/>
        </p:nvSpPr>
        <p:spPr>
          <a:xfrm>
            <a:off x="6492240" y="2788920"/>
            <a:ext cx="5148072"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601968" y="2898648"/>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15" name="TextBox 14"/>
          <p:cNvSpPr txBox="1"/>
          <p:nvPr/>
        </p:nvSpPr>
        <p:spPr>
          <a:xfrm>
            <a:off x="7040880" y="2843784"/>
            <a:ext cx="4526280"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Close recomputes health</a:t>
            </a:r>
          </a:p>
        </p:txBody>
      </p:sp>
      <p:sp>
        <p:nvSpPr>
          <p:cNvPr id="16" name="TextBox 15"/>
          <p:cNvSpPr txBox="1"/>
          <p:nvPr/>
        </p:nvSpPr>
        <p:spPr>
          <a:xfrm>
            <a:off x="7040880" y="3191256"/>
            <a:ext cx="4526280" cy="685800"/>
          </a:xfrm>
          <a:prstGeom prst="rect">
            <a:avLst/>
          </a:prstGeom>
          <a:noFill/>
        </p:spPr>
        <p:txBody>
          <a:bodyPr wrap="square" lIns="45720" tIns="27432" rIns="45720" bIns="27432" anchor="t">
            <a:spAutoFit/>
          </a:bodyPr>
          <a:lstStyle/>
          <a:p>
            <a:pPr algn="l">
              <a:spcAft>
                <a:spcPts val="0"/>
              </a:spcAft>
            </a:pPr>
            <a:r>
              <a:rPr sz="1300" b="0" i="0">
                <a:solidFill>
                  <a:srgbClr val="9FB3C8"/>
                </a:solidFill>
                <a:latin typeface="Calibri"/>
              </a:rPr>
              <a:t>Closing replays history and updates score, lifespan and pollution, plus an audit entry.</a:t>
            </a:r>
          </a:p>
        </p:txBody>
      </p:sp>
      <p:sp>
        <p:nvSpPr>
          <p:cNvPr id="17" name="Rounded Rectangle 16"/>
          <p:cNvSpPr/>
          <p:nvPr/>
        </p:nvSpPr>
        <p:spPr>
          <a:xfrm>
            <a:off x="6492240" y="3977639"/>
            <a:ext cx="5148072"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601968" y="4087368"/>
            <a:ext cx="347472" cy="347472"/>
          </a:xfrm>
          <a:prstGeom prst="roundRect">
            <a:avLst>
              <a:gd name="adj" fmla="val 5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19" name="TextBox 18"/>
          <p:cNvSpPr txBox="1"/>
          <p:nvPr/>
        </p:nvSpPr>
        <p:spPr>
          <a:xfrm>
            <a:off x="7040880" y="4032503"/>
            <a:ext cx="4526280"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Honest about access</a:t>
            </a:r>
          </a:p>
        </p:txBody>
      </p:sp>
      <p:sp>
        <p:nvSpPr>
          <p:cNvPr id="20" name="TextBox 19"/>
          <p:cNvSpPr txBox="1"/>
          <p:nvPr/>
        </p:nvSpPr>
        <p:spPr>
          <a:xfrm>
            <a:off x="7040880" y="4379976"/>
            <a:ext cx="4526280" cy="685800"/>
          </a:xfrm>
          <a:prstGeom prst="rect">
            <a:avLst/>
          </a:prstGeom>
          <a:noFill/>
        </p:spPr>
        <p:txBody>
          <a:bodyPr wrap="square" lIns="45720" tIns="27432" rIns="45720" bIns="27432" anchor="t">
            <a:spAutoFit/>
          </a:bodyPr>
          <a:lstStyle/>
          <a:p>
            <a:pPr algn="l">
              <a:spcAft>
                <a:spcPts val="0"/>
              </a:spcAft>
            </a:pPr>
            <a:r>
              <a:rPr sz="1300" b="0" i="0">
                <a:solidFill>
                  <a:srgbClr val="9FB3C8"/>
                </a:solidFill>
                <a:latin typeface="Calibri"/>
              </a:rPr>
              <a:t>No auth in the demo. The role switch guides the workflow; it is not a security control.</a:t>
            </a:r>
          </a:p>
        </p:txBody>
      </p:sp>
      <p:sp>
        <p:nvSpPr>
          <p:cNvPr id="21" name="TextBox 20"/>
          <p:cNvSpPr txBox="1"/>
          <p:nvPr/>
        </p:nvSpPr>
        <p:spPr>
          <a:xfrm>
            <a:off x="6492240" y="5230368"/>
            <a:ext cx="5120640" cy="256032"/>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WORKFLOW STATES (EACH TRANSITION IS AN APPEND-ONLY EVENT)</a:t>
            </a:r>
          </a:p>
        </p:txBody>
      </p:sp>
      <p:sp>
        <p:nvSpPr>
          <p:cNvPr id="22" name="Rounded Rectangle 21"/>
          <p:cNvSpPr/>
          <p:nvPr/>
        </p:nvSpPr>
        <p:spPr>
          <a:xfrm>
            <a:off x="6492240" y="5532120"/>
            <a:ext cx="1097280" cy="457200"/>
          </a:xfrm>
          <a:prstGeom prst="roundRect">
            <a:avLst>
              <a:gd name="adj" fmla="val 16000"/>
            </a:avLst>
          </a:prstGeom>
          <a:solidFill>
            <a:srgbClr val="16212B"/>
          </a:solidFill>
          <a:ln w="12700">
            <a:solidFill>
              <a:srgbClr val="5B6B7B"/>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F0F4F8"/>
                </a:solidFill>
                <a:latin typeface="Calibri"/>
              </a:rPr>
              <a:t>OPEN</a:t>
            </a:r>
          </a:p>
        </p:txBody>
      </p:sp>
      <p:cxnSp>
        <p:nvCxnSpPr>
          <p:cNvPr id="23" name="Connector 22"/>
          <p:cNvCxnSpPr/>
          <p:nvPr/>
        </p:nvCxnSpPr>
        <p:spPr>
          <a:xfrm>
            <a:off x="7598663" y="5760720"/>
            <a:ext cx="182881"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790688" y="5532120"/>
            <a:ext cx="1097280" cy="457200"/>
          </a:xfrm>
          <a:prstGeom prst="roundRect">
            <a:avLst>
              <a:gd name="adj" fmla="val 16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4DA3F0"/>
                </a:solidFill>
                <a:latin typeface="Calibri"/>
              </a:rPr>
              <a:t>ASSIGNED</a:t>
            </a:r>
          </a:p>
        </p:txBody>
      </p:sp>
      <p:cxnSp>
        <p:nvCxnSpPr>
          <p:cNvPr id="25" name="Connector 24"/>
          <p:cNvCxnSpPr/>
          <p:nvPr/>
        </p:nvCxnSpPr>
        <p:spPr>
          <a:xfrm>
            <a:off x="8897112" y="5760720"/>
            <a:ext cx="182880"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89136" y="5532120"/>
            <a:ext cx="1097280" cy="457200"/>
          </a:xfrm>
          <a:prstGeom prst="roundRect">
            <a:avLst>
              <a:gd name="adj" fmla="val 16000"/>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F2B84B"/>
                </a:solidFill>
                <a:latin typeface="Calibri"/>
              </a:rPr>
              <a:t>RESOLVED</a:t>
            </a:r>
          </a:p>
        </p:txBody>
      </p:sp>
      <p:cxnSp>
        <p:nvCxnSpPr>
          <p:cNvPr id="27" name="Connector 26"/>
          <p:cNvCxnSpPr/>
          <p:nvPr/>
        </p:nvCxnSpPr>
        <p:spPr>
          <a:xfrm>
            <a:off x="10195559" y="5760720"/>
            <a:ext cx="182881"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387584" y="5532120"/>
            <a:ext cx="1097280" cy="457200"/>
          </a:xfrm>
          <a:prstGeom prst="roundRect">
            <a:avLst>
              <a:gd name="adj" fmla="val 1600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3DDC97"/>
                </a:solidFill>
                <a:latin typeface="Calibri"/>
              </a:rPr>
              <a:t>CLOSED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Step 3 | Health, remaining life and pollution now move together</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LIVE PRODUCT WALKTHROUGH</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Kiln K-4, synthetic demo fleet. Health, lifespan and intensity are illustrative engine outputs, not measurements or certification.</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9</a:t>
            </a:r>
          </a:p>
        </p:txBody>
      </p:sp>
      <p:sp>
        <p:nvSpPr>
          <p:cNvPr id="7" name="Rounded Rectangle 6"/>
          <p:cNvSpPr/>
          <p:nvPr/>
        </p:nvSpPr>
        <p:spPr>
          <a:xfrm>
            <a:off x="548640" y="1554480"/>
            <a:ext cx="11091672" cy="3017520"/>
          </a:xfrm>
          <a:prstGeom prst="roundRect">
            <a:avLst>
              <a:gd name="adj" fmla="val 1818"/>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ui_health_table.png"/>
          <p:cNvPicPr>
            <a:picLocks noChangeAspect="1"/>
          </p:cNvPicPr>
          <p:nvPr/>
        </p:nvPicPr>
        <p:blipFill>
          <a:blip r:embed="rId3"/>
          <a:stretch>
            <a:fillRect/>
          </a:stretch>
        </p:blipFill>
        <p:spPr>
          <a:xfrm>
            <a:off x="603503" y="1639179"/>
            <a:ext cx="10981944" cy="2848120"/>
          </a:xfrm>
          <a:prstGeom prst="rect">
            <a:avLst/>
          </a:prstGeom>
        </p:spPr>
      </p:pic>
      <p:sp>
        <p:nvSpPr>
          <p:cNvPr id="9" name="Rounded Rectangle 8"/>
          <p:cNvSpPr/>
          <p:nvPr/>
        </p:nvSpPr>
        <p:spPr>
          <a:xfrm>
            <a:off x="548640" y="4681728"/>
            <a:ext cx="2651760" cy="1417320"/>
          </a:xfrm>
          <a:prstGeom prst="roundRect">
            <a:avLst>
              <a:gd name="adj" fmla="val 3870"/>
            </a:avLst>
          </a:prstGeom>
          <a:solidFill>
            <a:srgbClr val="16212B"/>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4754880"/>
            <a:ext cx="2468880" cy="640080"/>
          </a:xfrm>
          <a:prstGeom prst="rect">
            <a:avLst/>
          </a:prstGeom>
          <a:noFill/>
        </p:spPr>
        <p:txBody>
          <a:bodyPr wrap="square" lIns="45720" tIns="27432" rIns="45720" bIns="27432" anchor="ctr">
            <a:spAutoFit/>
          </a:bodyPr>
          <a:lstStyle/>
          <a:p>
            <a:pPr algn="l">
              <a:spcAft>
                <a:spcPts val="0"/>
              </a:spcAft>
            </a:pPr>
            <a:r>
              <a:rPr sz="2800" b="1" i="0">
                <a:solidFill>
                  <a:srgbClr val="FF7A7A"/>
                </a:solidFill>
                <a:latin typeface="Calibri"/>
              </a:rPr>
              <a:t>28.4 / 100</a:t>
            </a:r>
          </a:p>
        </p:txBody>
      </p:sp>
      <p:sp>
        <p:nvSpPr>
          <p:cNvPr id="11" name="TextBox 10"/>
          <p:cNvSpPr txBox="1"/>
          <p:nvPr/>
        </p:nvSpPr>
        <p:spPr>
          <a:xfrm>
            <a:off x="640080" y="5413248"/>
            <a:ext cx="2468880" cy="64008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health band: Critical</a:t>
            </a:r>
          </a:p>
        </p:txBody>
      </p:sp>
      <p:sp>
        <p:nvSpPr>
          <p:cNvPr id="12" name="Rounded Rectangle 11"/>
          <p:cNvSpPr/>
          <p:nvPr/>
        </p:nvSpPr>
        <p:spPr>
          <a:xfrm>
            <a:off x="3337560" y="4681728"/>
            <a:ext cx="2651760" cy="1417320"/>
          </a:xfrm>
          <a:prstGeom prst="roundRect">
            <a:avLst>
              <a:gd name="adj" fmla="val 3870"/>
            </a:avLst>
          </a:prstGeom>
          <a:solidFill>
            <a:srgbClr val="16212B"/>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29000" y="4754880"/>
            <a:ext cx="2468880" cy="640080"/>
          </a:xfrm>
          <a:prstGeom prst="rect">
            <a:avLst/>
          </a:prstGeom>
          <a:noFill/>
        </p:spPr>
        <p:txBody>
          <a:bodyPr wrap="square" lIns="45720" tIns="27432" rIns="45720" bIns="27432" anchor="ctr">
            <a:spAutoFit/>
          </a:bodyPr>
          <a:lstStyle/>
          <a:p>
            <a:pPr algn="l">
              <a:spcAft>
                <a:spcPts val="0"/>
              </a:spcAft>
            </a:pPr>
            <a:r>
              <a:rPr sz="2800" b="1" i="0">
                <a:solidFill>
                  <a:srgbClr val="F2B84B"/>
                </a:solidFill>
                <a:latin typeface="Calibri"/>
              </a:rPr>
              <a:t>~342 days</a:t>
            </a:r>
          </a:p>
        </p:txBody>
      </p:sp>
      <p:sp>
        <p:nvSpPr>
          <p:cNvPr id="14" name="TextBox 13"/>
          <p:cNvSpPr txBox="1"/>
          <p:nvPr/>
        </p:nvSpPr>
        <p:spPr>
          <a:xfrm>
            <a:off x="3429000" y="5413248"/>
            <a:ext cx="2468880" cy="64008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estimated remaining life (range 257-428)</a:t>
            </a:r>
          </a:p>
        </p:txBody>
      </p:sp>
      <p:sp>
        <p:nvSpPr>
          <p:cNvPr id="15" name="Rounded Rectangle 14"/>
          <p:cNvSpPr/>
          <p:nvPr/>
        </p:nvSpPr>
        <p:spPr>
          <a:xfrm>
            <a:off x="6217920" y="4681728"/>
            <a:ext cx="5422392" cy="1417320"/>
          </a:xfrm>
          <a:prstGeom prst="roundRect">
            <a:avLst>
              <a:gd name="adj" fmla="val 387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59" y="4700016"/>
            <a:ext cx="5212080" cy="256032"/>
          </a:xfrm>
          <a:prstGeom prst="rect">
            <a:avLst/>
          </a:prstGeom>
          <a:noFill/>
        </p:spPr>
        <p:txBody>
          <a:bodyPr wrap="square" lIns="45720" tIns="27432" rIns="45720" bIns="27432" anchor="t">
            <a:spAutoFit/>
          </a:bodyPr>
          <a:lstStyle/>
          <a:p>
            <a:pPr algn="l">
              <a:spcAft>
                <a:spcPts val="0"/>
              </a:spcAft>
            </a:pPr>
            <a:r>
              <a:rPr sz="1100" b="1" i="0">
                <a:solidFill>
                  <a:srgbClr val="3DDC97"/>
                </a:solidFill>
                <a:latin typeface="Calibri"/>
              </a:rPr>
              <a:t>Health over the last 12 months (0-100)</a:t>
            </a:r>
          </a:p>
        </p:txBody>
      </p:sp>
      <p:graphicFrame>
        <p:nvGraphicFramePr>
          <p:cNvPr id="17" name="Chart 16"/>
          <p:cNvGraphicFramePr>
            <a:graphicFrameLocks noGrp="1"/>
          </p:cNvGraphicFramePr>
          <p:nvPr/>
        </p:nvGraphicFramePr>
        <p:xfrm>
          <a:off x="6263640" y="4919472"/>
          <a:ext cx="5303520" cy="1161288"/>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p:cNvSpPr txBox="1"/>
          <p:nvPr/>
        </p:nvSpPr>
        <p:spPr>
          <a:xfrm>
            <a:off x="548640" y="6126480"/>
            <a:ext cx="5486400" cy="256032"/>
          </a:xfrm>
          <a:prstGeom prst="rect">
            <a:avLst/>
          </a:prstGeom>
          <a:noFill/>
        </p:spPr>
        <p:txBody>
          <a:bodyPr wrap="square" lIns="45720" tIns="27432" rIns="45720" bIns="27432" anchor="t">
            <a:spAutoFit/>
          </a:bodyPr>
          <a:lstStyle/>
          <a:p>
            <a:pPr algn="l">
              <a:spcAft>
                <a:spcPts val="0"/>
              </a:spcAft>
            </a:pPr>
            <a:r>
              <a:rPr sz="1100" b="1" i="0">
                <a:solidFill>
                  <a:srgbClr val="3DDC97"/>
                </a:solidFill>
                <a:latin typeface="Calibri"/>
              </a:rPr>
              <a:t>Computed by the engine, never by the LLM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Step 4 | Greener options with honest paybacks and India incentives</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LIVE PRODUCT WALKTHROUGH</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Screenshot of the local prototype (curated fallback alternatives, Gemini not configured). Capex, benefits and incentive values are illustrative; schemes UNVERIFIED.</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10</a:t>
            </a:r>
          </a:p>
        </p:txBody>
      </p:sp>
      <p:sp>
        <p:nvSpPr>
          <p:cNvPr id="7" name="Rounded Rectangle 6"/>
          <p:cNvSpPr/>
          <p:nvPr/>
        </p:nvSpPr>
        <p:spPr>
          <a:xfrm>
            <a:off x="548640" y="1600200"/>
            <a:ext cx="5760720" cy="3749039"/>
          </a:xfrm>
          <a:prstGeom prst="roundRect">
            <a:avLst>
              <a:gd name="adj" fmla="val 1463"/>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ui_sustain.png"/>
          <p:cNvPicPr>
            <a:picLocks noChangeAspect="1"/>
          </p:cNvPicPr>
          <p:nvPr/>
        </p:nvPicPr>
        <p:blipFill>
          <a:blip r:embed="rId3"/>
          <a:stretch>
            <a:fillRect/>
          </a:stretch>
        </p:blipFill>
        <p:spPr>
          <a:xfrm>
            <a:off x="995739" y="1655064"/>
            <a:ext cx="4866521" cy="3639311"/>
          </a:xfrm>
          <a:prstGeom prst="rect">
            <a:avLst/>
          </a:prstGeom>
        </p:spPr>
      </p:pic>
      <p:sp>
        <p:nvSpPr>
          <p:cNvPr id="9" name="Rounded Rectangle 8"/>
          <p:cNvSpPr/>
          <p:nvPr/>
        </p:nvSpPr>
        <p:spPr>
          <a:xfrm>
            <a:off x="548640" y="5440680"/>
            <a:ext cx="1847088" cy="777240"/>
          </a:xfrm>
          <a:prstGeom prst="roundRect">
            <a:avLst>
              <a:gd name="adj" fmla="val 9411"/>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100" b="0" i="0">
                <a:solidFill>
                  <a:srgbClr val="9FB3C8"/>
                </a:solidFill>
                <a:latin typeface="Calibri"/>
              </a:rPr>
              <a:t>MSME-adjusted capex</a:t>
            </a:r>
          </a:p>
          <a:p>
            <a:pPr algn="ctr">
              <a:spcAft>
                <a:spcPts val="0"/>
              </a:spcAft>
            </a:pPr>
            <a:r>
              <a:rPr sz="1600" b="1" i="0">
                <a:solidFill>
                  <a:srgbClr val="3DDC97"/>
                </a:solidFill>
                <a:latin typeface="Calibri"/>
              </a:rPr>
              <a:t>₹14,28,25,000</a:t>
            </a:r>
          </a:p>
        </p:txBody>
      </p:sp>
      <p:sp>
        <p:nvSpPr>
          <p:cNvPr id="10" name="Rounded Rectangle 9"/>
          <p:cNvSpPr/>
          <p:nvPr/>
        </p:nvSpPr>
        <p:spPr>
          <a:xfrm>
            <a:off x="2505456" y="5440680"/>
            <a:ext cx="1847088" cy="777240"/>
          </a:xfrm>
          <a:prstGeom prst="roundRect">
            <a:avLst>
              <a:gd name="adj" fmla="val 9411"/>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100" b="0" i="0">
                <a:solidFill>
                  <a:srgbClr val="9FB3C8"/>
                </a:solidFill>
                <a:latin typeface="Calibri"/>
              </a:rPr>
              <a:t>Adjusted cash payback</a:t>
            </a:r>
          </a:p>
          <a:p>
            <a:pPr algn="ctr">
              <a:spcAft>
                <a:spcPts val="0"/>
              </a:spcAft>
            </a:pPr>
            <a:r>
              <a:rPr sz="1600" b="1" i="0">
                <a:solidFill>
                  <a:srgbClr val="3DDC97"/>
                </a:solidFill>
                <a:latin typeface="Calibri"/>
              </a:rPr>
              <a:t>15.1 years</a:t>
            </a:r>
          </a:p>
        </p:txBody>
      </p:sp>
      <p:sp>
        <p:nvSpPr>
          <p:cNvPr id="11" name="Rounded Rectangle 10"/>
          <p:cNvSpPr/>
          <p:nvPr/>
        </p:nvSpPr>
        <p:spPr>
          <a:xfrm>
            <a:off x="4462272" y="5440680"/>
            <a:ext cx="1847088" cy="777240"/>
          </a:xfrm>
          <a:prstGeom prst="roundRect">
            <a:avLst>
              <a:gd name="adj" fmla="val 9411"/>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100" b="0" i="0">
                <a:solidFill>
                  <a:srgbClr val="9FB3C8"/>
                </a:solidFill>
                <a:latin typeface="Calibri"/>
              </a:rPr>
              <a:t>With exposure proxy</a:t>
            </a:r>
          </a:p>
          <a:p>
            <a:pPr algn="ctr">
              <a:spcAft>
                <a:spcPts val="0"/>
              </a:spcAft>
            </a:pPr>
            <a:r>
              <a:rPr sz="1600" b="1" i="0">
                <a:solidFill>
                  <a:srgbClr val="3DDC97"/>
                </a:solidFill>
                <a:latin typeface="Calibri"/>
              </a:rPr>
              <a:t>10.4 years</a:t>
            </a:r>
          </a:p>
        </p:txBody>
      </p:sp>
      <p:sp>
        <p:nvSpPr>
          <p:cNvPr id="12" name="Rounded Rectangle 11"/>
          <p:cNvSpPr/>
          <p:nvPr/>
        </p:nvSpPr>
        <p:spPr>
          <a:xfrm>
            <a:off x="6492240" y="1600200"/>
            <a:ext cx="514807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601968" y="169164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14" name="TextBox 13"/>
          <p:cNvSpPr txBox="1"/>
          <p:nvPr/>
        </p:nvSpPr>
        <p:spPr>
          <a:xfrm>
            <a:off x="7040880" y="1655064"/>
            <a:ext cx="4526280" cy="347472"/>
          </a:xfrm>
          <a:prstGeom prst="rect">
            <a:avLst/>
          </a:prstGeom>
          <a:noFill/>
        </p:spPr>
        <p:txBody>
          <a:bodyPr wrap="square" lIns="45720" tIns="27432" rIns="45720" bIns="27432" anchor="t">
            <a:spAutoFit/>
          </a:bodyPr>
          <a:lstStyle/>
          <a:p>
            <a:pPr algn="l">
              <a:spcAft>
                <a:spcPts val="0"/>
              </a:spcAft>
            </a:pPr>
            <a:r>
              <a:rPr sz="1500" b="1" i="0">
                <a:solidFill>
                  <a:srgbClr val="F0F4F8"/>
                </a:solidFill>
                <a:latin typeface="Calibri"/>
              </a:rPr>
              <a:t>Three kinds of change</a:t>
            </a:r>
          </a:p>
        </p:txBody>
      </p:sp>
      <p:sp>
        <p:nvSpPr>
          <p:cNvPr id="15" name="TextBox 14"/>
          <p:cNvSpPr txBox="1"/>
          <p:nvPr/>
        </p:nvSpPr>
        <p:spPr>
          <a:xfrm>
            <a:off x="7040880" y="2002536"/>
            <a:ext cx="4526280" cy="658368"/>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Machine swaps, operating-process changes and assembly-stage changes, curated or Gemini-suggested.</a:t>
            </a:r>
          </a:p>
        </p:txBody>
      </p:sp>
      <p:sp>
        <p:nvSpPr>
          <p:cNvPr id="16" name="Rounded Rectangle 15"/>
          <p:cNvSpPr/>
          <p:nvPr/>
        </p:nvSpPr>
        <p:spPr>
          <a:xfrm>
            <a:off x="6492240" y="2770632"/>
            <a:ext cx="514807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601968" y="2862072"/>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18" name="TextBox 17"/>
          <p:cNvSpPr txBox="1"/>
          <p:nvPr/>
        </p:nvSpPr>
        <p:spPr>
          <a:xfrm>
            <a:off x="7040880" y="2825496"/>
            <a:ext cx="4526280" cy="347472"/>
          </a:xfrm>
          <a:prstGeom prst="rect">
            <a:avLst/>
          </a:prstGeom>
          <a:noFill/>
        </p:spPr>
        <p:txBody>
          <a:bodyPr wrap="square" lIns="45720" tIns="27432" rIns="45720" bIns="27432" anchor="t">
            <a:spAutoFit/>
          </a:bodyPr>
          <a:lstStyle/>
          <a:p>
            <a:pPr algn="l">
              <a:spcAft>
                <a:spcPts val="0"/>
              </a:spcAft>
            </a:pPr>
            <a:r>
              <a:rPr sz="1500" b="1" i="0">
                <a:solidFill>
                  <a:srgbClr val="F0F4F8"/>
                </a:solidFill>
                <a:latin typeface="Calibri"/>
              </a:rPr>
              <a:t>Two paybacks, no spin</a:t>
            </a:r>
          </a:p>
        </p:txBody>
      </p:sp>
      <p:sp>
        <p:nvSpPr>
          <p:cNvPr id="19" name="TextBox 18"/>
          <p:cNvSpPr txBox="1"/>
          <p:nvPr/>
        </p:nvSpPr>
        <p:spPr>
          <a:xfrm>
            <a:off x="7040880" y="3172968"/>
            <a:ext cx="4526280" cy="658368"/>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Cash payback and payback with an exposure proxy. Beyond design life is shown, not capped.</a:t>
            </a:r>
          </a:p>
        </p:txBody>
      </p:sp>
      <p:sp>
        <p:nvSpPr>
          <p:cNvPr id="20" name="Rounded Rectangle 19"/>
          <p:cNvSpPr/>
          <p:nvPr/>
        </p:nvSpPr>
        <p:spPr>
          <a:xfrm>
            <a:off x="6492240" y="3941064"/>
            <a:ext cx="514807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601968" y="4032504"/>
            <a:ext cx="347472" cy="347472"/>
          </a:xfrm>
          <a:prstGeom prst="roundRect">
            <a:avLst>
              <a:gd name="adj" fmla="val 5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22" name="TextBox 21"/>
          <p:cNvSpPr txBox="1"/>
          <p:nvPr/>
        </p:nvSpPr>
        <p:spPr>
          <a:xfrm>
            <a:off x="7040880" y="3995928"/>
            <a:ext cx="4526280" cy="347472"/>
          </a:xfrm>
          <a:prstGeom prst="rect">
            <a:avLst/>
          </a:prstGeom>
          <a:noFill/>
        </p:spPr>
        <p:txBody>
          <a:bodyPr wrap="square" lIns="45720" tIns="27432" rIns="45720" bIns="27432" anchor="t">
            <a:spAutoFit/>
          </a:bodyPr>
          <a:lstStyle/>
          <a:p>
            <a:pPr algn="l">
              <a:spcAft>
                <a:spcPts val="0"/>
              </a:spcAft>
            </a:pPr>
            <a:r>
              <a:rPr sz="1500" b="1" i="0">
                <a:solidFill>
                  <a:srgbClr val="F0F4F8"/>
                </a:solidFill>
                <a:latin typeface="Calibri"/>
              </a:rPr>
              <a:t>MSME or Large</a:t>
            </a:r>
          </a:p>
        </p:txBody>
      </p:sp>
      <p:sp>
        <p:nvSpPr>
          <p:cNvPr id="23" name="TextBox 22"/>
          <p:cNvSpPr txBox="1"/>
          <p:nvPr/>
        </p:nvSpPr>
        <p:spPr>
          <a:xfrm>
            <a:off x="7040880" y="4343400"/>
            <a:ext cx="4526280" cy="658368"/>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Toggle recomputes incentive-adjusted capex. Real-named schemes are UNVERIFIED; subsidy values are demo-synthetic.</a:t>
            </a:r>
          </a:p>
        </p:txBody>
      </p:sp>
      <p:sp>
        <p:nvSpPr>
          <p:cNvPr id="24" name="Rounded Rectangle 23"/>
          <p:cNvSpPr/>
          <p:nvPr/>
        </p:nvSpPr>
        <p:spPr>
          <a:xfrm>
            <a:off x="6492240" y="5111496"/>
            <a:ext cx="514807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601968" y="5202936"/>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4</a:t>
            </a:r>
          </a:p>
        </p:txBody>
      </p:sp>
      <p:sp>
        <p:nvSpPr>
          <p:cNvPr id="26" name="TextBox 25"/>
          <p:cNvSpPr txBox="1"/>
          <p:nvPr/>
        </p:nvSpPr>
        <p:spPr>
          <a:xfrm>
            <a:off x="7040880" y="5166359"/>
            <a:ext cx="4526280" cy="347472"/>
          </a:xfrm>
          <a:prstGeom prst="rect">
            <a:avLst/>
          </a:prstGeom>
          <a:noFill/>
        </p:spPr>
        <p:txBody>
          <a:bodyPr wrap="square" lIns="45720" tIns="27432" rIns="45720" bIns="27432" anchor="t">
            <a:spAutoFit/>
          </a:bodyPr>
          <a:lstStyle/>
          <a:p>
            <a:pPr algn="l">
              <a:spcAft>
                <a:spcPts val="0"/>
              </a:spcAft>
            </a:pPr>
            <a:r>
              <a:rPr sz="1500" b="1" i="0">
                <a:solidFill>
                  <a:srgbClr val="F0F4F8"/>
                </a:solidFill>
                <a:latin typeface="Calibri"/>
              </a:rPr>
              <a:t>Gate badge on every item</a:t>
            </a:r>
          </a:p>
        </p:txBody>
      </p:sp>
      <p:sp>
        <p:nvSpPr>
          <p:cNvPr id="27" name="TextBox 26"/>
          <p:cNvSpPr txBox="1"/>
          <p:nvPr/>
        </p:nvSpPr>
        <p:spPr>
          <a:xfrm>
            <a:off x="7040880" y="5513832"/>
            <a:ext cx="4526280" cy="658368"/>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Needs confirmation (ASK) in the demo: a human decides, nothing auto-approves.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Architecture: Gemini for language, a deterministic engine for numbers</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HOW IT WORKS</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docs/system-architecture.md and prototype/README.md. Live Cloud Run and Firestore wiring is checked via /api/health (gemini_mode, store_backend) before submission.</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11</a:t>
            </a:r>
          </a:p>
        </p:txBody>
      </p:sp>
      <p:sp>
        <p:nvSpPr>
          <p:cNvPr id="7" name="Rounded Rectangle 6"/>
          <p:cNvSpPr/>
          <p:nvPr/>
        </p:nvSpPr>
        <p:spPr>
          <a:xfrm>
            <a:off x="548640" y="2331720"/>
            <a:ext cx="1783080" cy="1280160"/>
          </a:xfrm>
          <a:prstGeom prst="roundRect">
            <a:avLst>
              <a:gd name="adj" fmla="val 571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600" b="1" i="0">
                <a:solidFill>
                  <a:srgbClr val="F0F4F8"/>
                </a:solidFill>
                <a:latin typeface="Calibri"/>
              </a:rPr>
              <a:t>Browser</a:t>
            </a:r>
          </a:p>
          <a:p>
            <a:pPr algn="ctr">
              <a:spcAft>
                <a:spcPts val="0"/>
              </a:spcAft>
            </a:pPr>
            <a:r>
              <a:rPr sz="1200" b="1" i="0">
                <a:solidFill>
                  <a:srgbClr val="9FB3C8"/>
                </a:solidFill>
                <a:latin typeface="Calibri"/>
              </a:rPr>
              <a:t>single-page app</a:t>
            </a:r>
          </a:p>
        </p:txBody>
      </p:sp>
      <p:cxnSp>
        <p:nvCxnSpPr>
          <p:cNvPr id="8" name="Connector 7"/>
          <p:cNvCxnSpPr/>
          <p:nvPr/>
        </p:nvCxnSpPr>
        <p:spPr>
          <a:xfrm>
            <a:off x="2350008" y="2971800"/>
            <a:ext cx="667512" cy="0"/>
          </a:xfrm>
          <a:prstGeom prst="line">
            <a:avLst/>
          </a:prstGeom>
          <a:ln w="31750">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286000" y="2697480"/>
            <a:ext cx="822960" cy="274320"/>
          </a:xfrm>
          <a:prstGeom prst="rect">
            <a:avLst/>
          </a:prstGeom>
          <a:noFill/>
        </p:spPr>
        <p:txBody>
          <a:bodyPr wrap="square" lIns="45720" tIns="27432" rIns="45720" bIns="27432" anchor="t">
            <a:spAutoFit/>
          </a:bodyPr>
          <a:lstStyle/>
          <a:p>
            <a:pPr algn="ctr">
              <a:spcAft>
                <a:spcPts val="0"/>
              </a:spcAft>
            </a:pPr>
            <a:r>
              <a:rPr sz="1000" b="0" i="0">
                <a:solidFill>
                  <a:srgbClr val="9FB3C8"/>
                </a:solidFill>
                <a:latin typeface="Calibri"/>
              </a:rPr>
              <a:t>HTTPS</a:t>
            </a:r>
          </a:p>
        </p:txBody>
      </p:sp>
      <p:sp>
        <p:nvSpPr>
          <p:cNvPr id="10" name="Rounded Rectangle 9"/>
          <p:cNvSpPr/>
          <p:nvPr/>
        </p:nvSpPr>
        <p:spPr>
          <a:xfrm>
            <a:off x="3017520" y="1645920"/>
            <a:ext cx="5074920" cy="3154680"/>
          </a:xfrm>
          <a:prstGeom prst="roundRect">
            <a:avLst>
              <a:gd name="adj" fmla="val 1739"/>
            </a:avLst>
          </a:prstGeom>
          <a:solidFill>
            <a:srgbClr val="0E141B"/>
          </a:solidFill>
          <a:ln w="222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54680" y="1691640"/>
            <a:ext cx="4846320" cy="320040"/>
          </a:xfrm>
          <a:prstGeom prst="rect">
            <a:avLst/>
          </a:prstGeom>
          <a:noFill/>
        </p:spPr>
        <p:txBody>
          <a:bodyPr wrap="square" lIns="45720" tIns="27432" rIns="45720" bIns="27432" anchor="t">
            <a:spAutoFit/>
          </a:bodyPr>
          <a:lstStyle/>
          <a:p>
            <a:pPr algn="l">
              <a:spcAft>
                <a:spcPts val="0"/>
              </a:spcAft>
            </a:pPr>
            <a:r>
              <a:rPr sz="1400" b="1" i="0">
                <a:solidFill>
                  <a:srgbClr val="3DDC97"/>
                </a:solidFill>
                <a:latin typeface="Calibri"/>
              </a:rPr>
              <a:t>TerraVow API  |  FastAPI on Cloud Run</a:t>
            </a:r>
          </a:p>
        </p:txBody>
      </p:sp>
      <p:sp>
        <p:nvSpPr>
          <p:cNvPr id="12" name="Rounded Rectangle 11"/>
          <p:cNvSpPr/>
          <p:nvPr/>
        </p:nvSpPr>
        <p:spPr>
          <a:xfrm>
            <a:off x="3154680" y="2103120"/>
            <a:ext cx="2331720" cy="1143000"/>
          </a:xfrm>
          <a:prstGeom prst="roundRect">
            <a:avLst>
              <a:gd name="adj" fmla="val 64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F0F4F8"/>
                </a:solidFill>
                <a:latin typeface="Calibri"/>
              </a:rPr>
              <a:t>Workflow</a:t>
            </a:r>
          </a:p>
          <a:p>
            <a:pPr algn="ctr">
              <a:spcAft>
                <a:spcPts val="0"/>
              </a:spcAft>
            </a:pPr>
            <a:r>
              <a:rPr sz="1200" b="0" i="0">
                <a:solidFill>
                  <a:srgbClr val="9FB3C8"/>
                </a:solidFill>
                <a:latin typeface="Calibri"/>
              </a:rPr>
              <a:t>reporter, resolver, snag history</a:t>
            </a:r>
          </a:p>
        </p:txBody>
      </p:sp>
      <p:sp>
        <p:nvSpPr>
          <p:cNvPr id="13" name="Rounded Rectangle 12"/>
          <p:cNvSpPr/>
          <p:nvPr/>
        </p:nvSpPr>
        <p:spPr>
          <a:xfrm>
            <a:off x="5605272" y="2103120"/>
            <a:ext cx="2331720" cy="1143000"/>
          </a:xfrm>
          <a:prstGeom prst="roundRect">
            <a:avLst>
              <a:gd name="adj" fmla="val 640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3DDC97"/>
                </a:solidFill>
                <a:latin typeface="Calibri"/>
              </a:rPr>
              <a:t>Deterministic engine</a:t>
            </a:r>
          </a:p>
          <a:p>
            <a:pPr algn="ctr">
              <a:spcAft>
                <a:spcPts val="0"/>
              </a:spcAft>
            </a:pPr>
            <a:r>
              <a:rPr sz="1200" b="0" i="0">
                <a:solidFill>
                  <a:srgbClr val="9FB3C8"/>
                </a:solidFill>
                <a:latin typeface="Calibri"/>
              </a:rPr>
              <a:t>health, lifespan, intensity, economics</a:t>
            </a:r>
          </a:p>
        </p:txBody>
      </p:sp>
      <p:sp>
        <p:nvSpPr>
          <p:cNvPr id="14" name="Rounded Rectangle 13"/>
          <p:cNvSpPr/>
          <p:nvPr/>
        </p:nvSpPr>
        <p:spPr>
          <a:xfrm>
            <a:off x="3154680" y="3383279"/>
            <a:ext cx="2331720" cy="1143000"/>
          </a:xfrm>
          <a:prstGeom prst="roundRect">
            <a:avLst>
              <a:gd name="adj" fmla="val 6400"/>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FF7A7A"/>
                </a:solidFill>
                <a:latin typeface="Calibri"/>
              </a:rPr>
              <a:t>Decision Gate</a:t>
            </a:r>
          </a:p>
          <a:p>
            <a:pPr algn="ctr">
              <a:spcAft>
                <a:spcPts val="0"/>
              </a:spcAft>
            </a:pPr>
            <a:r>
              <a:rPr sz="1200" b="0" i="0">
                <a:solidFill>
                  <a:srgbClr val="9FB3C8"/>
                </a:solidFill>
                <a:latin typeface="Calibri"/>
              </a:rPr>
              <a:t>hard veto, then confidence</a:t>
            </a:r>
          </a:p>
        </p:txBody>
      </p:sp>
      <p:sp>
        <p:nvSpPr>
          <p:cNvPr id="15" name="Rounded Rectangle 14"/>
          <p:cNvSpPr/>
          <p:nvPr/>
        </p:nvSpPr>
        <p:spPr>
          <a:xfrm>
            <a:off x="5605272" y="3383279"/>
            <a:ext cx="2331720" cy="1143000"/>
          </a:xfrm>
          <a:prstGeom prst="roundRect">
            <a:avLst>
              <a:gd name="adj" fmla="val 64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4DA3F0"/>
                </a:solidFill>
                <a:latin typeface="Calibri"/>
              </a:rPr>
              <a:t>cache_once</a:t>
            </a:r>
          </a:p>
          <a:p>
            <a:pPr algn="ctr">
              <a:spcAft>
                <a:spcPts val="0"/>
              </a:spcAft>
            </a:pPr>
            <a:r>
              <a:rPr sz="1200" b="0" i="0">
                <a:solidFill>
                  <a:srgbClr val="9FB3C8"/>
                </a:solidFill>
                <a:latin typeface="Calibri"/>
              </a:rPr>
              <a:t>Gemini at most once per key</a:t>
            </a:r>
          </a:p>
        </p:txBody>
      </p:sp>
      <p:sp>
        <p:nvSpPr>
          <p:cNvPr id="16" name="Rounded Rectangle 15"/>
          <p:cNvSpPr/>
          <p:nvPr/>
        </p:nvSpPr>
        <p:spPr>
          <a:xfrm>
            <a:off x="8732520" y="1645920"/>
            <a:ext cx="2907792" cy="1325880"/>
          </a:xfrm>
          <a:prstGeom prst="roundRect">
            <a:avLst>
              <a:gd name="adj" fmla="val 5517"/>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600" b="1" i="0">
                <a:solidFill>
                  <a:srgbClr val="4DA3F0"/>
                </a:solidFill>
                <a:latin typeface="Calibri"/>
              </a:rPr>
              <a:t>Gemini 2.5 Flash</a:t>
            </a:r>
          </a:p>
          <a:p>
            <a:pPr algn="ctr">
              <a:spcAft>
                <a:spcPts val="0"/>
              </a:spcAft>
            </a:pPr>
            <a:r>
              <a:rPr sz="1200" b="0" i="0">
                <a:solidFill>
                  <a:srgbClr val="9FB3C8"/>
                </a:solidFill>
                <a:latin typeface="Calibri"/>
              </a:rPr>
              <a:t>AI Studio or Vertex AI</a:t>
            </a:r>
          </a:p>
          <a:p>
            <a:pPr algn="ctr">
              <a:spcAft>
                <a:spcPts val="0"/>
              </a:spcAft>
            </a:pPr>
            <a:r>
              <a:rPr sz="1200" b="0" i="0">
                <a:solidFill>
                  <a:srgbClr val="9FB3C8"/>
                </a:solidFill>
                <a:latin typeface="Calibri"/>
              </a:rPr>
              <a:t>structured output, bounded retry</a:t>
            </a:r>
          </a:p>
        </p:txBody>
      </p:sp>
      <p:sp>
        <p:nvSpPr>
          <p:cNvPr id="17" name="Rounded Rectangle 16"/>
          <p:cNvSpPr/>
          <p:nvPr/>
        </p:nvSpPr>
        <p:spPr>
          <a:xfrm>
            <a:off x="8732520" y="3108960"/>
            <a:ext cx="2907792" cy="868680"/>
          </a:xfrm>
          <a:prstGeom prst="roundRect">
            <a:avLst>
              <a:gd name="adj" fmla="val 8421"/>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400" b="1" i="0">
                <a:solidFill>
                  <a:srgbClr val="4DA3F0"/>
                </a:solidFill>
                <a:latin typeface="Calibri"/>
              </a:rPr>
              <a:t>Google Search grounding</a:t>
            </a:r>
          </a:p>
          <a:p>
            <a:pPr algn="ctr">
              <a:spcAft>
                <a:spcPts val="0"/>
              </a:spcAft>
            </a:pPr>
            <a:r>
              <a:rPr sz="1200" b="0" i="0">
                <a:solidFill>
                  <a:srgbClr val="9FB3C8"/>
                </a:solidFill>
                <a:latin typeface="Calibri"/>
              </a:rPr>
              <a:t>specs and alternatives</a:t>
            </a:r>
          </a:p>
        </p:txBody>
      </p:sp>
      <p:cxnSp>
        <p:nvCxnSpPr>
          <p:cNvPr id="18" name="Connector 17"/>
          <p:cNvCxnSpPr/>
          <p:nvPr/>
        </p:nvCxnSpPr>
        <p:spPr>
          <a:xfrm flipV="1">
            <a:off x="8110727" y="2331720"/>
            <a:ext cx="603505" cy="320040"/>
          </a:xfrm>
          <a:prstGeom prst="line">
            <a:avLst/>
          </a:prstGeom>
          <a:ln w="31750">
            <a:solidFill>
              <a:srgbClr val="4DA3F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110727" y="2743200"/>
            <a:ext cx="603505" cy="640080"/>
          </a:xfrm>
          <a:prstGeom prst="line">
            <a:avLst/>
          </a:prstGeom>
          <a:ln w="25400">
            <a:solidFill>
              <a:srgbClr val="4DA3F0"/>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017520" y="4983480"/>
            <a:ext cx="5074920" cy="868680"/>
          </a:xfrm>
          <a:prstGeom prst="roundRect">
            <a:avLst>
              <a:gd name="adj" fmla="val 8421"/>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F2B84B"/>
                </a:solidFill>
                <a:latin typeface="Calibri"/>
              </a:rPr>
              <a:t>Firestore (in-memory fallback)</a:t>
            </a:r>
          </a:p>
          <a:p>
            <a:pPr algn="ctr">
              <a:spcAft>
                <a:spcPts val="0"/>
              </a:spcAft>
            </a:pPr>
            <a:r>
              <a:rPr sz="1200" b="0" i="0">
                <a:solidFill>
                  <a:srgbClr val="9FB3C8"/>
                </a:solidFill>
                <a:latin typeface="Calibri"/>
              </a:rPr>
              <a:t>templates, snags, alternatives, incentives, hash-chained audit</a:t>
            </a:r>
          </a:p>
        </p:txBody>
      </p:sp>
      <p:cxnSp>
        <p:nvCxnSpPr>
          <p:cNvPr id="21" name="Connector 20"/>
          <p:cNvCxnSpPr/>
          <p:nvPr/>
        </p:nvCxnSpPr>
        <p:spPr>
          <a:xfrm>
            <a:off x="5550408" y="4818888"/>
            <a:ext cx="0" cy="146304"/>
          </a:xfrm>
          <a:prstGeom prst="line">
            <a:avLst/>
          </a:prstGeom>
          <a:ln w="31750">
            <a:solidFill>
              <a:srgbClr val="F2B84B"/>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732520" y="4160520"/>
            <a:ext cx="2907792" cy="1691640"/>
          </a:xfrm>
          <a:prstGeom prst="roundRect">
            <a:avLst>
              <a:gd name="adj" fmla="val 4324"/>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200" b="1" i="0">
                <a:solidFill>
                  <a:srgbClr val="3DDC97"/>
                </a:solidFill>
                <a:latin typeface="Calibri"/>
              </a:rPr>
              <a:t>Rule</a:t>
            </a:r>
          </a:p>
          <a:p>
            <a:pPr algn="l">
              <a:spcAft>
                <a:spcPts val="0"/>
              </a:spcAft>
            </a:pPr>
            <a:r>
              <a:rPr sz="1300" b="0" i="0">
                <a:solidFill>
                  <a:srgbClr val="F0F4F8"/>
                </a:solidFill>
                <a:latin typeface="Calibri"/>
              </a:rPr>
              <a:t>Gemini never computes a number. It drafts, looks up and explains. The engine validates and calculates.</a:t>
            </a:r>
          </a:p>
        </p:txBody>
      </p:sp>
      <p:sp>
        <p:nvSpPr>
          <p:cNvPr id="23" name="TextBox 22"/>
          <p:cNvSpPr txBox="1"/>
          <p:nvPr/>
        </p:nvSpPr>
        <p:spPr>
          <a:xfrm>
            <a:off x="548640" y="3749039"/>
            <a:ext cx="2103120" cy="118872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Works without a Gemini key: generic templates and curated alternatives.</a:t>
            </a:r>
          </a:p>
        </p:txBody>
      </p:sp>
      <p:sp>
        <p:nvSpPr>
          <p:cNvPr id="24" name="Rounded Rectangle 23"/>
          <p:cNvSpPr/>
          <p:nvPr/>
        </p:nvSpPr>
        <p:spPr>
          <a:xfrm>
            <a:off x="548640" y="5870448"/>
            <a:ext cx="11091672" cy="502920"/>
          </a:xfrm>
          <a:prstGeom prst="roundRect">
            <a:avLst>
              <a:gd name="adj" fmla="val 14545"/>
            </a:avLst>
          </a:prstGeom>
          <a:noFill/>
          <a:ln w="12700">
            <a:solidFill>
              <a:srgbClr val="F2B84B"/>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200" b="1" i="0">
                <a:solidFill>
                  <a:srgbClr val="F2B84B"/>
                </a:solidFill>
                <a:latin typeface="Calibri"/>
              </a:rPr>
              <a:t>Specified in the full design, not in the demo path: </a:t>
            </a:r>
            <a:r>
              <a:rPr sz="1200" b="0" i="0">
                <a:solidFill>
                  <a:srgbClr val="9FB3C8"/>
                </a:solidFill>
                <a:latin typeface="Calibri"/>
              </a:rPr>
              <a:t>Vertex AI Agent Engine, BigQuery, Vertex AI Search, Pub/Sub, Cloud Storage. Java reference engine runs separately.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Technical depth: generate once per model, serve everyone</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TECHNICAL MERIT</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docs/system-architecture.md and prototype/app/cache_once.py. Cross-replica lease is specified but not yet built.</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12</a:t>
            </a:r>
          </a:p>
        </p:txBody>
      </p:sp>
      <p:sp>
        <p:nvSpPr>
          <p:cNvPr id="7" name="Rounded Rectangle 6"/>
          <p:cNvSpPr/>
          <p:nvPr/>
        </p:nvSpPr>
        <p:spPr>
          <a:xfrm>
            <a:off x="548640" y="1691640"/>
            <a:ext cx="1691640" cy="1600200"/>
          </a:xfrm>
          <a:prstGeom prst="roundRect">
            <a:avLst>
              <a:gd name="adj" fmla="val 3428"/>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0080" y="178308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9" name="TextBox 8"/>
          <p:cNvSpPr txBox="1"/>
          <p:nvPr/>
        </p:nvSpPr>
        <p:spPr>
          <a:xfrm>
            <a:off x="621792" y="2194560"/>
            <a:ext cx="1545336" cy="45720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Read store</a:t>
            </a:r>
          </a:p>
        </p:txBody>
      </p:sp>
      <p:sp>
        <p:nvSpPr>
          <p:cNvPr id="10" name="TextBox 9"/>
          <p:cNvSpPr txBox="1"/>
          <p:nvPr/>
        </p:nvSpPr>
        <p:spPr>
          <a:xfrm>
            <a:off x="621792" y="2651760"/>
            <a:ext cx="1545336" cy="5943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hit returns now</a:t>
            </a:r>
          </a:p>
        </p:txBody>
      </p:sp>
      <p:cxnSp>
        <p:nvCxnSpPr>
          <p:cNvPr id="11" name="Connector 10"/>
          <p:cNvCxnSpPr/>
          <p:nvPr/>
        </p:nvCxnSpPr>
        <p:spPr>
          <a:xfrm>
            <a:off x="2249424" y="2487168"/>
            <a:ext cx="170078"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28646" y="1691640"/>
            <a:ext cx="1691640" cy="1600200"/>
          </a:xfrm>
          <a:prstGeom prst="roundRect">
            <a:avLst>
              <a:gd name="adj" fmla="val 3428"/>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520086" y="1783080"/>
            <a:ext cx="347472" cy="347472"/>
          </a:xfrm>
          <a:prstGeom prst="roundRect">
            <a:avLst>
              <a:gd name="adj" fmla="val 50000"/>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14" name="TextBox 13"/>
          <p:cNvSpPr txBox="1"/>
          <p:nvPr/>
        </p:nvSpPr>
        <p:spPr>
          <a:xfrm>
            <a:off x="2501798" y="2194560"/>
            <a:ext cx="1545336" cy="45720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Join flight</a:t>
            </a:r>
          </a:p>
        </p:txBody>
      </p:sp>
      <p:sp>
        <p:nvSpPr>
          <p:cNvPr id="15" name="TextBox 14"/>
          <p:cNvSpPr txBox="1"/>
          <p:nvPr/>
        </p:nvSpPr>
        <p:spPr>
          <a:xfrm>
            <a:off x="2501798" y="2651760"/>
            <a:ext cx="1545336" cy="5943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one leader per key</a:t>
            </a:r>
          </a:p>
        </p:txBody>
      </p:sp>
      <p:cxnSp>
        <p:nvCxnSpPr>
          <p:cNvPr id="16" name="Connector 15"/>
          <p:cNvCxnSpPr/>
          <p:nvPr/>
        </p:nvCxnSpPr>
        <p:spPr>
          <a:xfrm>
            <a:off x="4129430" y="2487168"/>
            <a:ext cx="170078"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08652" y="1691640"/>
            <a:ext cx="1691640" cy="1600200"/>
          </a:xfrm>
          <a:prstGeom prst="roundRect">
            <a:avLst>
              <a:gd name="adj" fmla="val 3428"/>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400092" y="1783080"/>
            <a:ext cx="347472" cy="347472"/>
          </a:xfrm>
          <a:prstGeom prst="roundRect">
            <a:avLst>
              <a:gd name="adj" fmla="val 50000"/>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19" name="TextBox 18"/>
          <p:cNvSpPr txBox="1"/>
          <p:nvPr/>
        </p:nvSpPr>
        <p:spPr>
          <a:xfrm>
            <a:off x="4381804" y="2194560"/>
            <a:ext cx="1545336" cy="45720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Re-read</a:t>
            </a:r>
          </a:p>
        </p:txBody>
      </p:sp>
      <p:sp>
        <p:nvSpPr>
          <p:cNvPr id="20" name="TextBox 19"/>
          <p:cNvSpPr txBox="1"/>
          <p:nvPr/>
        </p:nvSpPr>
        <p:spPr>
          <a:xfrm>
            <a:off x="4381804" y="2651760"/>
            <a:ext cx="1545336" cy="5943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double-checked read</a:t>
            </a:r>
          </a:p>
        </p:txBody>
      </p:sp>
      <p:cxnSp>
        <p:nvCxnSpPr>
          <p:cNvPr id="21" name="Connector 20"/>
          <p:cNvCxnSpPr/>
          <p:nvPr/>
        </p:nvCxnSpPr>
        <p:spPr>
          <a:xfrm>
            <a:off x="6009436" y="2487168"/>
            <a:ext cx="170079"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88659" y="1691640"/>
            <a:ext cx="1691640" cy="1600200"/>
          </a:xfrm>
          <a:prstGeom prst="roundRect">
            <a:avLst>
              <a:gd name="adj" fmla="val 3428"/>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280099" y="1783080"/>
            <a:ext cx="347472" cy="347472"/>
          </a:xfrm>
          <a:prstGeom prst="roundRect">
            <a:avLst>
              <a:gd name="adj" fmla="val 50000"/>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4</a:t>
            </a:r>
          </a:p>
        </p:txBody>
      </p:sp>
      <p:sp>
        <p:nvSpPr>
          <p:cNvPr id="24" name="TextBox 23"/>
          <p:cNvSpPr txBox="1"/>
          <p:nvPr/>
        </p:nvSpPr>
        <p:spPr>
          <a:xfrm>
            <a:off x="6261811" y="2194560"/>
            <a:ext cx="1545336" cy="45720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Call Gemini</a:t>
            </a:r>
          </a:p>
        </p:txBody>
      </p:sp>
      <p:sp>
        <p:nvSpPr>
          <p:cNvPr id="25" name="TextBox 24"/>
          <p:cNvSpPr txBox="1"/>
          <p:nvPr/>
        </p:nvSpPr>
        <p:spPr>
          <a:xfrm>
            <a:off x="6261811" y="2651760"/>
            <a:ext cx="1545336" cy="5943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max 3 tries, 10 rules</a:t>
            </a:r>
          </a:p>
        </p:txBody>
      </p:sp>
      <p:cxnSp>
        <p:nvCxnSpPr>
          <p:cNvPr id="26" name="Connector 25"/>
          <p:cNvCxnSpPr/>
          <p:nvPr/>
        </p:nvCxnSpPr>
        <p:spPr>
          <a:xfrm>
            <a:off x="7889443" y="2487168"/>
            <a:ext cx="170078"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068665" y="1691640"/>
            <a:ext cx="1691640" cy="1600200"/>
          </a:xfrm>
          <a:prstGeom prst="roundRect">
            <a:avLst>
              <a:gd name="adj" fmla="val 3428"/>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160105" y="178308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5</a:t>
            </a:r>
          </a:p>
        </p:txBody>
      </p:sp>
      <p:sp>
        <p:nvSpPr>
          <p:cNvPr id="29" name="TextBox 28"/>
          <p:cNvSpPr txBox="1"/>
          <p:nvPr/>
        </p:nvSpPr>
        <p:spPr>
          <a:xfrm>
            <a:off x="8141817" y="2194560"/>
            <a:ext cx="1545336" cy="45720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create_if_absent</a:t>
            </a:r>
          </a:p>
        </p:txBody>
      </p:sp>
      <p:sp>
        <p:nvSpPr>
          <p:cNvPr id="30" name="TextBox 29"/>
          <p:cNvSpPr txBox="1"/>
          <p:nvPr/>
        </p:nvSpPr>
        <p:spPr>
          <a:xfrm>
            <a:off x="8141817" y="2651760"/>
            <a:ext cx="1545336" cy="5943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loser discards</a:t>
            </a:r>
          </a:p>
        </p:txBody>
      </p:sp>
      <p:cxnSp>
        <p:nvCxnSpPr>
          <p:cNvPr id="31" name="Connector 30"/>
          <p:cNvCxnSpPr/>
          <p:nvPr/>
        </p:nvCxnSpPr>
        <p:spPr>
          <a:xfrm>
            <a:off x="9769449" y="2487168"/>
            <a:ext cx="170079"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948672" y="1691640"/>
            <a:ext cx="1691640" cy="1600200"/>
          </a:xfrm>
          <a:prstGeom prst="roundRect">
            <a:avLst>
              <a:gd name="adj" fmla="val 3428"/>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10040112" y="178308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6</a:t>
            </a:r>
          </a:p>
        </p:txBody>
      </p:sp>
      <p:sp>
        <p:nvSpPr>
          <p:cNvPr id="34" name="TextBox 33"/>
          <p:cNvSpPr txBox="1"/>
          <p:nvPr/>
        </p:nvSpPr>
        <p:spPr>
          <a:xfrm>
            <a:off x="10021824" y="2194560"/>
            <a:ext cx="1545336" cy="45720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Return</a:t>
            </a:r>
          </a:p>
        </p:txBody>
      </p:sp>
      <p:sp>
        <p:nvSpPr>
          <p:cNvPr id="35" name="TextBox 34"/>
          <p:cNvSpPr txBox="1"/>
          <p:nvPr/>
        </p:nvSpPr>
        <p:spPr>
          <a:xfrm>
            <a:off x="10021824" y="2651760"/>
            <a:ext cx="1545336" cy="5943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generated or cache-hit</a:t>
            </a:r>
          </a:p>
        </p:txBody>
      </p:sp>
      <p:sp>
        <p:nvSpPr>
          <p:cNvPr id="36" name="Rounded Rectangle 35"/>
          <p:cNvSpPr/>
          <p:nvPr/>
        </p:nvSpPr>
        <p:spPr>
          <a:xfrm>
            <a:off x="6188659" y="3611880"/>
            <a:ext cx="3571646" cy="731520"/>
          </a:xfrm>
          <a:prstGeom prst="roundRect">
            <a:avLst>
              <a:gd name="adj" fmla="val 10000"/>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F2B84B"/>
                </a:solidFill>
                <a:latin typeface="Calibri"/>
              </a:rPr>
              <a:t>Gemini off, slow or invalid</a:t>
            </a:r>
          </a:p>
          <a:p>
            <a:pPr algn="ctr">
              <a:spcAft>
                <a:spcPts val="0"/>
              </a:spcAft>
            </a:pPr>
            <a:r>
              <a:rPr sz="1200" b="0" i="0">
                <a:solidFill>
                  <a:srgbClr val="F0F4F8"/>
                </a:solidFill>
                <a:latin typeface="Calibri"/>
              </a:rPr>
              <a:t>deterministic fallback template</a:t>
            </a:r>
          </a:p>
        </p:txBody>
      </p:sp>
      <p:cxnSp>
        <p:nvCxnSpPr>
          <p:cNvPr id="37" name="Connector 36"/>
          <p:cNvCxnSpPr/>
          <p:nvPr/>
        </p:nvCxnSpPr>
        <p:spPr>
          <a:xfrm>
            <a:off x="7034479" y="3310128"/>
            <a:ext cx="0" cy="283464"/>
          </a:xfrm>
          <a:prstGeom prst="line">
            <a:avLst/>
          </a:prstGeom>
          <a:ln w="25400">
            <a:solidFill>
              <a:srgbClr val="F2B84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948672" y="3611880"/>
            <a:ext cx="1691640" cy="731520"/>
          </a:xfrm>
          <a:prstGeom prst="roundRect">
            <a:avLst>
              <a:gd name="adj" fmla="val 10000"/>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400" b="1" i="0">
                <a:solidFill>
                  <a:srgbClr val="FF7A7A"/>
                </a:solidFill>
                <a:latin typeface="Calibri"/>
              </a:rPr>
              <a:t>never stored</a:t>
            </a:r>
          </a:p>
        </p:txBody>
      </p:sp>
      <p:cxnSp>
        <p:nvCxnSpPr>
          <p:cNvPr id="39" name="Connector 38"/>
          <p:cNvCxnSpPr/>
          <p:nvPr/>
        </p:nvCxnSpPr>
        <p:spPr>
          <a:xfrm>
            <a:off x="9760305" y="3977639"/>
            <a:ext cx="170079" cy="0"/>
          </a:xfrm>
          <a:prstGeom prst="line">
            <a:avLst/>
          </a:prstGeom>
          <a:ln w="25400">
            <a:solidFill>
              <a:srgbClr val="FF7A7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548640" y="4572000"/>
            <a:ext cx="2697480"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8368" y="4617720"/>
            <a:ext cx="2468880" cy="320040"/>
          </a:xfrm>
          <a:prstGeom prst="rect">
            <a:avLst/>
          </a:prstGeom>
          <a:noFill/>
        </p:spPr>
        <p:txBody>
          <a:bodyPr wrap="square" lIns="45720" tIns="27432" rIns="45720" bIns="27432" anchor="t">
            <a:spAutoFit/>
          </a:bodyPr>
          <a:lstStyle/>
          <a:p>
            <a:pPr algn="l">
              <a:spcAft>
                <a:spcPts val="0"/>
              </a:spcAft>
            </a:pPr>
            <a:r>
              <a:rPr sz="1400" b="1" i="0">
                <a:solidFill>
                  <a:srgbClr val="3DDC97"/>
                </a:solidFill>
                <a:latin typeface="Calibri"/>
              </a:rPr>
              <a:t>Double-checked read</a:t>
            </a:r>
          </a:p>
        </p:txBody>
      </p:sp>
      <p:sp>
        <p:nvSpPr>
          <p:cNvPr id="42" name="TextBox 41"/>
          <p:cNvSpPr txBox="1"/>
          <p:nvPr/>
        </p:nvSpPr>
        <p:spPr>
          <a:xfrm>
            <a:off x="658368" y="4956048"/>
            <a:ext cx="2468880" cy="68580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Never calls Gemini if a result just landed.</a:t>
            </a:r>
          </a:p>
        </p:txBody>
      </p:sp>
      <p:sp>
        <p:nvSpPr>
          <p:cNvPr id="43" name="Rounded Rectangle 42"/>
          <p:cNvSpPr/>
          <p:nvPr/>
        </p:nvSpPr>
        <p:spPr>
          <a:xfrm>
            <a:off x="3346704" y="4572000"/>
            <a:ext cx="2697480"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456432" y="4617720"/>
            <a:ext cx="2468880" cy="320040"/>
          </a:xfrm>
          <a:prstGeom prst="rect">
            <a:avLst/>
          </a:prstGeom>
          <a:noFill/>
        </p:spPr>
        <p:txBody>
          <a:bodyPr wrap="square" lIns="45720" tIns="27432" rIns="45720" bIns="27432" anchor="t">
            <a:spAutoFit/>
          </a:bodyPr>
          <a:lstStyle/>
          <a:p>
            <a:pPr algn="l">
              <a:spcAft>
                <a:spcPts val="0"/>
              </a:spcAft>
            </a:pPr>
            <a:r>
              <a:rPr sz="1400" b="1" i="0">
                <a:solidFill>
                  <a:srgbClr val="3DDC97"/>
                </a:solidFill>
                <a:latin typeface="Calibri"/>
              </a:rPr>
              <a:t>Single flight</a:t>
            </a:r>
          </a:p>
        </p:txBody>
      </p:sp>
      <p:sp>
        <p:nvSpPr>
          <p:cNvPr id="45" name="TextBox 44"/>
          <p:cNvSpPr txBox="1"/>
          <p:nvPr/>
        </p:nvSpPr>
        <p:spPr>
          <a:xfrm>
            <a:off x="3456432" y="4956048"/>
            <a:ext cx="2468880" cy="68580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Waiters share the leader's outcome, even a failure.</a:t>
            </a:r>
          </a:p>
        </p:txBody>
      </p:sp>
      <p:sp>
        <p:nvSpPr>
          <p:cNvPr id="46" name="Rounded Rectangle 45"/>
          <p:cNvSpPr/>
          <p:nvPr/>
        </p:nvSpPr>
        <p:spPr>
          <a:xfrm>
            <a:off x="6144768" y="4572000"/>
            <a:ext cx="2697480"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54496" y="4617720"/>
            <a:ext cx="2468880" cy="320040"/>
          </a:xfrm>
          <a:prstGeom prst="rect">
            <a:avLst/>
          </a:prstGeom>
          <a:noFill/>
        </p:spPr>
        <p:txBody>
          <a:bodyPr wrap="square" lIns="45720" tIns="27432" rIns="45720" bIns="27432" anchor="t">
            <a:spAutoFit/>
          </a:bodyPr>
          <a:lstStyle/>
          <a:p>
            <a:pPr algn="l">
              <a:spcAft>
                <a:spcPts val="0"/>
              </a:spcAft>
            </a:pPr>
            <a:r>
              <a:rPr sz="1400" b="1" i="0">
                <a:solidFill>
                  <a:srgbClr val="3DDC97"/>
                </a:solidFill>
                <a:latin typeface="Calibri"/>
              </a:rPr>
              <a:t>Final guard</a:t>
            </a:r>
          </a:p>
        </p:txBody>
      </p:sp>
      <p:sp>
        <p:nvSpPr>
          <p:cNvPr id="48" name="TextBox 47"/>
          <p:cNvSpPr txBox="1"/>
          <p:nvPr/>
        </p:nvSpPr>
        <p:spPr>
          <a:xfrm>
            <a:off x="6254496" y="4956048"/>
            <a:ext cx="2468880" cy="68580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create_if_absent keeps exactly one document.</a:t>
            </a:r>
          </a:p>
        </p:txBody>
      </p:sp>
      <p:sp>
        <p:nvSpPr>
          <p:cNvPr id="49" name="Rounded Rectangle 48"/>
          <p:cNvSpPr/>
          <p:nvPr/>
        </p:nvSpPr>
        <p:spPr>
          <a:xfrm>
            <a:off x="8942832" y="4572000"/>
            <a:ext cx="2697480"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052559" y="4617720"/>
            <a:ext cx="2468880" cy="320040"/>
          </a:xfrm>
          <a:prstGeom prst="rect">
            <a:avLst/>
          </a:prstGeom>
          <a:noFill/>
        </p:spPr>
        <p:txBody>
          <a:bodyPr wrap="square" lIns="45720" tIns="27432" rIns="45720" bIns="27432" anchor="t">
            <a:spAutoFit/>
          </a:bodyPr>
          <a:lstStyle/>
          <a:p>
            <a:pPr algn="l">
              <a:spcAft>
                <a:spcPts val="0"/>
              </a:spcAft>
            </a:pPr>
            <a:r>
              <a:rPr sz="1400" b="1" i="0">
                <a:solidFill>
                  <a:srgbClr val="3DDC97"/>
                </a:solidFill>
                <a:latin typeface="Calibri"/>
              </a:rPr>
              <a:t>Fail safe</a:t>
            </a:r>
          </a:p>
        </p:txBody>
      </p:sp>
      <p:sp>
        <p:nvSpPr>
          <p:cNvPr id="51" name="TextBox 50"/>
          <p:cNvSpPr txBox="1"/>
          <p:nvPr/>
        </p:nvSpPr>
        <p:spPr>
          <a:xfrm>
            <a:off x="9052559" y="4956048"/>
            <a:ext cx="2468880" cy="68580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Persist error is generated-unsaved; fallback is never cached.</a:t>
            </a:r>
          </a:p>
        </p:txBody>
      </p:sp>
      <p:sp>
        <p:nvSpPr>
          <p:cNvPr id="52" name="Rounded Rectangle 51"/>
          <p:cNvSpPr/>
          <p:nvPr/>
        </p:nvSpPr>
        <p:spPr>
          <a:xfrm>
            <a:off x="548640" y="5806440"/>
            <a:ext cx="11091672" cy="457200"/>
          </a:xfrm>
          <a:prstGeom prst="roundRect">
            <a:avLst>
              <a:gd name="adj" fmla="val 16000"/>
            </a:avLst>
          </a:prstGeom>
          <a:noFill/>
          <a:ln w="12700">
            <a:solidFill>
              <a:srgbClr val="F2B84B"/>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200" b="1" i="0">
                <a:solidFill>
                  <a:srgbClr val="F2B84B"/>
                </a:solidFill>
                <a:latin typeface="Calibri"/>
              </a:rPr>
              <a:t>Honest limit: </a:t>
            </a:r>
            <a:r>
              <a:rPr sz="1200" b="0" i="0">
                <a:solidFill>
                  <a:srgbClr val="F0F4F8"/>
                </a:solidFill>
                <a:latin typeface="Calibri"/>
              </a:rPr>
              <a:t>one stored document is guaranteed; the cross-replica lease is not built, so two replicas may both pay for a Gemini call.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Why AI, and why you can trust it: Gemini reasons, the engine calculates</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WHY AI</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docs/system-architecture.md. Gemini 2.5 Flash with structured output, bounded retry (1-5, default 3) and per-attempt timeouts.</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13</a:t>
            </a:r>
          </a:p>
        </p:txBody>
      </p:sp>
      <p:sp>
        <p:nvSpPr>
          <p:cNvPr id="7" name="Rounded Rectangle 6"/>
          <p:cNvSpPr/>
          <p:nvPr/>
        </p:nvSpPr>
        <p:spPr>
          <a:xfrm>
            <a:off x="548640" y="1645920"/>
            <a:ext cx="3611880" cy="3246120"/>
          </a:xfrm>
          <a:prstGeom prst="roundRect">
            <a:avLst>
              <a:gd name="adj" fmla="val 1690"/>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719072"/>
            <a:ext cx="3200400" cy="365760"/>
          </a:xfrm>
          <a:prstGeom prst="rect">
            <a:avLst/>
          </a:prstGeom>
          <a:noFill/>
        </p:spPr>
        <p:txBody>
          <a:bodyPr wrap="square" lIns="45720" tIns="27432" rIns="45720" bIns="27432" anchor="t">
            <a:spAutoFit/>
          </a:bodyPr>
          <a:lstStyle/>
          <a:p>
            <a:pPr algn="l">
              <a:spcAft>
                <a:spcPts val="0"/>
              </a:spcAft>
            </a:pPr>
            <a:r>
              <a:rPr sz="1300" b="1" i="0">
                <a:solidFill>
                  <a:srgbClr val="4DA3F0"/>
                </a:solidFill>
                <a:latin typeface="Calibri"/>
              </a:rPr>
              <a:t>GEMINI REASONS AND WRITES</a:t>
            </a:r>
          </a:p>
        </p:txBody>
      </p:sp>
      <p:sp>
        <p:nvSpPr>
          <p:cNvPr id="9" name="TextBox 8"/>
          <p:cNvSpPr txBox="1"/>
          <p:nvPr/>
        </p:nvSpPr>
        <p:spPr>
          <a:xfrm>
            <a:off x="731520" y="2148840"/>
            <a:ext cx="3246120" cy="2697480"/>
          </a:xfrm>
          <a:prstGeom prst="rect">
            <a:avLst/>
          </a:prstGeom>
          <a:noFill/>
        </p:spPr>
        <p:txBody>
          <a:bodyPr wrap="square" lIns="45720" tIns="27432" rIns="45720" bIns="27432" anchor="t">
            <a:spAutoFit/>
          </a:bodyPr>
          <a:lstStyle/>
          <a:p>
            <a:pPr algn="l">
              <a:spcAft>
                <a:spcPts val="600"/>
              </a:spcAft>
            </a:pPr>
            <a:r>
              <a:rPr sz="1700" b="0" i="0">
                <a:solidFill>
                  <a:srgbClr val="F0F4F8"/>
                </a:solidFill>
                <a:latin typeface="Calibri"/>
              </a:rPr>
              <a:t>Drafts the per-model template</a:t>
            </a:r>
          </a:p>
          <a:p>
            <a:pPr algn="l">
              <a:spcAft>
                <a:spcPts val="600"/>
              </a:spcAft>
            </a:pPr>
            <a:r>
              <a:rPr sz="1700" b="0" i="0">
                <a:solidFill>
                  <a:srgbClr val="F0F4F8"/>
                </a:solidFill>
                <a:latin typeface="Calibri"/>
              </a:rPr>
              <a:t>Looks up specs (Google Search)</a:t>
            </a:r>
          </a:p>
          <a:p>
            <a:pPr algn="l">
              <a:spcAft>
                <a:spcPts val="600"/>
              </a:spcAft>
            </a:pPr>
            <a:r>
              <a:rPr sz="1700" b="0" i="0">
                <a:solidFill>
                  <a:srgbClr val="F0F4F8"/>
                </a:solidFill>
                <a:latin typeface="Calibri"/>
              </a:rPr>
              <a:t>Suggests alternatives as low-high ranges</a:t>
            </a:r>
          </a:p>
          <a:p>
            <a:pPr algn="l">
              <a:spcAft>
                <a:spcPts val="0"/>
              </a:spcAft>
            </a:pPr>
            <a:r>
              <a:rPr sz="1700" b="0" i="0">
                <a:solidFill>
                  <a:srgbClr val="F0F4F8"/>
                </a:solidFill>
                <a:latin typeface="Calibri"/>
              </a:rPr>
              <a:t>Explains results in plain language</a:t>
            </a:r>
          </a:p>
        </p:txBody>
      </p:sp>
      <p:sp>
        <p:nvSpPr>
          <p:cNvPr id="10" name="Rounded Rectangle 9"/>
          <p:cNvSpPr/>
          <p:nvPr/>
        </p:nvSpPr>
        <p:spPr>
          <a:xfrm>
            <a:off x="4526280" y="1645920"/>
            <a:ext cx="2743200" cy="3246120"/>
          </a:xfrm>
          <a:prstGeom prst="roundRect">
            <a:avLst>
              <a:gd name="adj" fmla="val 2000"/>
            </a:avLst>
          </a:prstGeom>
          <a:solidFill>
            <a:srgbClr val="111820"/>
          </a:solidFill>
          <a:ln w="1905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1719072"/>
            <a:ext cx="2468880" cy="365760"/>
          </a:xfrm>
          <a:prstGeom prst="rect">
            <a:avLst/>
          </a:prstGeom>
          <a:noFill/>
        </p:spPr>
        <p:txBody>
          <a:bodyPr wrap="square" lIns="45720" tIns="27432" rIns="45720" bIns="27432" anchor="t">
            <a:spAutoFit/>
          </a:bodyPr>
          <a:lstStyle/>
          <a:p>
            <a:pPr algn="ctr">
              <a:spcAft>
                <a:spcPts val="0"/>
              </a:spcAft>
            </a:pPr>
            <a:r>
              <a:rPr sz="1300" b="1" i="0">
                <a:solidFill>
                  <a:srgbClr val="F2B84B"/>
                </a:solidFill>
                <a:latin typeface="Calibri"/>
              </a:rPr>
              <a:t>VALIDATE</a:t>
            </a:r>
          </a:p>
        </p:txBody>
      </p:sp>
      <p:sp>
        <p:nvSpPr>
          <p:cNvPr id="12" name="TextBox 11"/>
          <p:cNvSpPr txBox="1"/>
          <p:nvPr/>
        </p:nvSpPr>
        <p:spPr>
          <a:xfrm>
            <a:off x="4663440" y="2148840"/>
            <a:ext cx="2468880" cy="2697480"/>
          </a:xfrm>
          <a:prstGeom prst="rect">
            <a:avLst/>
          </a:prstGeom>
          <a:noFill/>
        </p:spPr>
        <p:txBody>
          <a:bodyPr wrap="square" lIns="45720" tIns="27432" rIns="45720" bIns="27432" anchor="t">
            <a:spAutoFit/>
          </a:bodyPr>
          <a:lstStyle/>
          <a:p>
            <a:pPr algn="ctr">
              <a:spcAft>
                <a:spcPts val="600"/>
              </a:spcAft>
            </a:pPr>
            <a:r>
              <a:rPr sz="1500" b="0" i="0">
                <a:solidFill>
                  <a:srgbClr val="F0F4F8"/>
                </a:solidFill>
                <a:latin typeface="Calibri"/>
              </a:rPr>
              <a:t>Schema and 10 template rules</a:t>
            </a:r>
          </a:p>
          <a:p>
            <a:pPr algn="ctr">
              <a:spcAft>
                <a:spcPts val="600"/>
              </a:spcAft>
            </a:pPr>
            <a:r>
              <a:rPr sz="1500" b="0" i="0">
                <a:solidFill>
                  <a:srgbClr val="F0F4F8"/>
                </a:solidFill>
                <a:latin typeface="Calibri"/>
              </a:rPr>
              <a:t>Bounds and finiteness</a:t>
            </a:r>
          </a:p>
          <a:p>
            <a:pPr algn="ctr">
              <a:spcAft>
                <a:spcPts val="600"/>
              </a:spcAft>
            </a:pPr>
            <a:r>
              <a:rPr sz="1500" b="0" i="0">
                <a:solidFill>
                  <a:srgbClr val="F0F4F8"/>
                </a:solidFill>
                <a:latin typeface="Calibri"/>
              </a:rPr>
              <a:t>Drop invalid, never clamp</a:t>
            </a:r>
          </a:p>
          <a:p>
            <a:pPr algn="ctr">
              <a:spcAft>
                <a:spcPts val="600"/>
              </a:spcAft>
            </a:pPr>
            <a:r>
              <a:rPr sz="1500" b="0" i="0">
                <a:solidFill>
                  <a:srgbClr val="F0F4F8"/>
                </a:solidFill>
                <a:latin typeface="Calibri"/>
              </a:rPr>
              <a:t>Midpoint of ranges</a:t>
            </a:r>
          </a:p>
          <a:p>
            <a:pPr algn="ctr">
              <a:spcAft>
                <a:spcPts val="0"/>
              </a:spcAft>
            </a:pPr>
            <a:r>
              <a:rPr sz="1500" b="0" i="0">
                <a:solidFill>
                  <a:srgbClr val="F0F4F8"/>
                </a:solidFill>
                <a:latin typeface="Calibri"/>
              </a:rPr>
              <a:t>Bounded retry and timeout</a:t>
            </a:r>
          </a:p>
        </p:txBody>
      </p:sp>
      <p:sp>
        <p:nvSpPr>
          <p:cNvPr id="13" name="Rounded Rectangle 12"/>
          <p:cNvSpPr/>
          <p:nvPr/>
        </p:nvSpPr>
        <p:spPr>
          <a:xfrm>
            <a:off x="8119872" y="1645920"/>
            <a:ext cx="3520440" cy="3246120"/>
          </a:xfrm>
          <a:prstGeom prst="roundRect">
            <a:avLst>
              <a:gd name="adj" fmla="val 1690"/>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02752" y="1719072"/>
            <a:ext cx="3108960" cy="365760"/>
          </a:xfrm>
          <a:prstGeom prst="rect">
            <a:avLst/>
          </a:prstGeom>
          <a:noFill/>
        </p:spPr>
        <p:txBody>
          <a:bodyPr wrap="square" lIns="45720" tIns="27432" rIns="45720" bIns="27432" anchor="t">
            <a:spAutoFit/>
          </a:bodyPr>
          <a:lstStyle/>
          <a:p>
            <a:pPr algn="l">
              <a:spcAft>
                <a:spcPts val="0"/>
              </a:spcAft>
            </a:pPr>
            <a:r>
              <a:rPr sz="1300" b="1" i="0">
                <a:solidFill>
                  <a:srgbClr val="3DDC97"/>
                </a:solidFill>
                <a:latin typeface="Calibri"/>
              </a:rPr>
              <a:t>THE ENGINE CALCULATES</a:t>
            </a:r>
          </a:p>
        </p:txBody>
      </p:sp>
      <p:sp>
        <p:nvSpPr>
          <p:cNvPr id="15" name="TextBox 14"/>
          <p:cNvSpPr txBox="1"/>
          <p:nvPr/>
        </p:nvSpPr>
        <p:spPr>
          <a:xfrm>
            <a:off x="8302752" y="2148840"/>
            <a:ext cx="3154680" cy="2697480"/>
          </a:xfrm>
          <a:prstGeom prst="rect">
            <a:avLst/>
          </a:prstGeom>
          <a:noFill/>
        </p:spPr>
        <p:txBody>
          <a:bodyPr wrap="square" lIns="45720" tIns="27432" rIns="45720" bIns="27432" anchor="t">
            <a:spAutoFit/>
          </a:bodyPr>
          <a:lstStyle/>
          <a:p>
            <a:pPr algn="l">
              <a:spcAft>
                <a:spcPts val="600"/>
              </a:spcAft>
            </a:pPr>
            <a:r>
              <a:rPr sz="1700" b="0" i="0">
                <a:solidFill>
                  <a:srgbClr val="F0F4F8"/>
                </a:solidFill>
                <a:latin typeface="Calibri"/>
              </a:rPr>
              <a:t>Health score and lifespan</a:t>
            </a:r>
          </a:p>
          <a:p>
            <a:pPr algn="l">
              <a:spcAft>
                <a:spcPts val="600"/>
              </a:spcAft>
            </a:pPr>
            <a:r>
              <a:rPr sz="1700" b="0" i="0">
                <a:solidFill>
                  <a:srgbClr val="F0F4F8"/>
                </a:solidFill>
                <a:latin typeface="Calibri"/>
              </a:rPr>
              <a:t>Pollution intensity per domain</a:t>
            </a:r>
          </a:p>
          <a:p>
            <a:pPr algn="l">
              <a:spcAft>
                <a:spcPts val="600"/>
              </a:spcAft>
            </a:pPr>
            <a:r>
              <a:rPr sz="1700" b="0" i="0">
                <a:solidFill>
                  <a:srgbClr val="F0F4F8"/>
                </a:solidFill>
                <a:latin typeface="Calibri"/>
              </a:rPr>
              <a:t>Capex, benefit, payback</a:t>
            </a:r>
          </a:p>
          <a:p>
            <a:pPr algn="l">
              <a:spcAft>
                <a:spcPts val="600"/>
              </a:spcAft>
            </a:pPr>
            <a:r>
              <a:rPr sz="1700" b="0" i="0">
                <a:solidFill>
                  <a:srgbClr val="F0F4F8"/>
                </a:solidFill>
                <a:latin typeface="Calibri"/>
              </a:rPr>
              <a:t>Incentive adjustment</a:t>
            </a:r>
          </a:p>
          <a:p>
            <a:pPr algn="l">
              <a:spcAft>
                <a:spcPts val="0"/>
              </a:spcAft>
            </a:pPr>
            <a:r>
              <a:rPr sz="1700" b="0" i="0">
                <a:solidFill>
                  <a:srgbClr val="F0F4F8"/>
                </a:solidFill>
                <a:latin typeface="Calibri"/>
              </a:rPr>
              <a:t>Gate verdict</a:t>
            </a:r>
          </a:p>
        </p:txBody>
      </p:sp>
      <p:cxnSp>
        <p:nvCxnSpPr>
          <p:cNvPr id="16" name="Connector 15"/>
          <p:cNvCxnSpPr/>
          <p:nvPr/>
        </p:nvCxnSpPr>
        <p:spPr>
          <a:xfrm>
            <a:off x="4178807" y="3246120"/>
            <a:ext cx="329185" cy="0"/>
          </a:xfrm>
          <a:prstGeom prst="line">
            <a:avLst/>
          </a:prstGeom>
          <a:ln w="38100">
            <a:solidFill>
              <a:srgbClr val="9FB3C8"/>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287768" y="3246120"/>
            <a:ext cx="813816" cy="0"/>
          </a:xfrm>
          <a:prstGeom prst="line">
            <a:avLst/>
          </a:prstGeom>
          <a:ln w="381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5120640"/>
            <a:ext cx="11091672" cy="1005840"/>
          </a:xfrm>
          <a:prstGeom prst="roundRect">
            <a:avLst>
              <a:gd name="adj" fmla="val 7272"/>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500" b="1" i="0">
                <a:solidFill>
                  <a:srgbClr val="F2B84B"/>
                </a:solidFill>
                <a:latin typeface="Calibri"/>
              </a:rPr>
              <a:t>No Gemini key? </a:t>
            </a:r>
            <a:r>
              <a:rPr sz="1500" b="0" i="0">
                <a:solidFill>
                  <a:srgbClr val="F0F4F8"/>
                </a:solidFill>
                <a:latin typeface="Calibri"/>
              </a:rPr>
              <a:t>Everything still runs: generic industry template, curated alternatives, the same engine and the same gate. Every fallback is labelled on screen.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Responsible by design: a hard veto that no confidence score can override</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TRUST AND SAFETY</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prototype/app/gate.py and docs/user-flow.md. Thresholds as built: allow &gt;= 0.80, ask &gt;= 0.60. Outputs are advisory, not certification.</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14</a:t>
            </a:r>
          </a:p>
        </p:txBody>
      </p:sp>
      <p:sp>
        <p:nvSpPr>
          <p:cNvPr id="7" name="Rounded Rectangle 6"/>
          <p:cNvSpPr/>
          <p:nvPr/>
        </p:nvSpPr>
        <p:spPr>
          <a:xfrm>
            <a:off x="548640" y="1645920"/>
            <a:ext cx="6583680" cy="1005840"/>
          </a:xfrm>
          <a:prstGeom prst="roundRect">
            <a:avLst>
              <a:gd name="adj" fmla="val 5454"/>
            </a:avLst>
          </a:prstGeom>
          <a:solidFill>
            <a:srgbClr val="3A1115"/>
          </a:solidFill>
          <a:ln w="19050">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8368" y="1975104"/>
            <a:ext cx="347472" cy="347472"/>
          </a:xfrm>
          <a:prstGeom prst="roundRect">
            <a:avLst>
              <a:gd name="adj" fmla="val 50000"/>
            </a:avLst>
          </a:prstGeom>
          <a:solidFill>
            <a:srgbClr val="FF7A7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9" name="TextBox 8"/>
          <p:cNvSpPr txBox="1"/>
          <p:nvPr/>
        </p:nvSpPr>
        <p:spPr>
          <a:xfrm>
            <a:off x="1143000" y="1700784"/>
            <a:ext cx="1828800" cy="457200"/>
          </a:xfrm>
          <a:prstGeom prst="rect">
            <a:avLst/>
          </a:prstGeom>
          <a:noFill/>
        </p:spPr>
        <p:txBody>
          <a:bodyPr wrap="square" lIns="45720" tIns="27432" rIns="45720" bIns="27432" anchor="t">
            <a:spAutoFit/>
          </a:bodyPr>
          <a:lstStyle/>
          <a:p>
            <a:pPr algn="l">
              <a:spcAft>
                <a:spcPts val="0"/>
              </a:spcAft>
            </a:pPr>
            <a:r>
              <a:rPr sz="1800" b="1" i="0">
                <a:solidFill>
                  <a:srgbClr val="FF7A7A"/>
                </a:solidFill>
                <a:latin typeface="Calibri"/>
              </a:rPr>
              <a:t>Hard veto</a:t>
            </a:r>
          </a:p>
        </p:txBody>
      </p:sp>
      <p:sp>
        <p:nvSpPr>
          <p:cNvPr id="10" name="TextBox 9"/>
          <p:cNvSpPr txBox="1"/>
          <p:nvPr/>
        </p:nvSpPr>
        <p:spPr>
          <a:xfrm>
            <a:off x="1143000" y="2103120"/>
            <a:ext cx="5852160" cy="530352"/>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Total emissions up, or pollution moved air to water?</a:t>
            </a:r>
          </a:p>
        </p:txBody>
      </p:sp>
      <p:cxnSp>
        <p:nvCxnSpPr>
          <p:cNvPr id="11" name="Connector 10"/>
          <p:cNvCxnSpPr/>
          <p:nvPr/>
        </p:nvCxnSpPr>
        <p:spPr>
          <a:xfrm>
            <a:off x="3840480" y="2651760"/>
            <a:ext cx="0" cy="109728"/>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8640" y="2761488"/>
            <a:ext cx="6583680" cy="1005840"/>
          </a:xfrm>
          <a:prstGeom prst="roundRect">
            <a:avLst>
              <a:gd name="adj" fmla="val 5454"/>
            </a:avLst>
          </a:prstGeom>
          <a:solidFill>
            <a:srgbClr val="3A2A0A"/>
          </a:solidFill>
          <a:ln w="1905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58368" y="3090672"/>
            <a:ext cx="347472" cy="347472"/>
          </a:xfrm>
          <a:prstGeom prst="roundRect">
            <a:avLst>
              <a:gd name="adj" fmla="val 5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14" name="TextBox 13"/>
          <p:cNvSpPr txBox="1"/>
          <p:nvPr/>
        </p:nvSpPr>
        <p:spPr>
          <a:xfrm>
            <a:off x="1143000" y="2816352"/>
            <a:ext cx="1828800" cy="457200"/>
          </a:xfrm>
          <a:prstGeom prst="rect">
            <a:avLst/>
          </a:prstGeom>
          <a:noFill/>
        </p:spPr>
        <p:txBody>
          <a:bodyPr wrap="square" lIns="45720" tIns="27432" rIns="45720" bIns="27432" anchor="t">
            <a:spAutoFit/>
          </a:bodyPr>
          <a:lstStyle/>
          <a:p>
            <a:pPr algn="l">
              <a:spcAft>
                <a:spcPts val="0"/>
              </a:spcAft>
            </a:pPr>
            <a:r>
              <a:rPr sz="1800" b="1" i="0">
                <a:solidFill>
                  <a:srgbClr val="F2B84B"/>
                </a:solidFill>
                <a:latin typeface="Calibri"/>
              </a:rPr>
              <a:t>Confidence</a:t>
            </a:r>
          </a:p>
        </p:txBody>
      </p:sp>
      <p:sp>
        <p:nvSpPr>
          <p:cNvPr id="15" name="TextBox 14"/>
          <p:cNvSpPr txBox="1"/>
          <p:nvPr/>
        </p:nvSpPr>
        <p:spPr>
          <a:xfrm>
            <a:off x="1143000" y="3218688"/>
            <a:ext cx="5852160" cy="530352"/>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0.80 and up: ALLOW  |  0.60 and up: ASK  |  else BLOCK</a:t>
            </a:r>
          </a:p>
        </p:txBody>
      </p:sp>
      <p:cxnSp>
        <p:nvCxnSpPr>
          <p:cNvPr id="16" name="Connector 15"/>
          <p:cNvCxnSpPr/>
          <p:nvPr/>
        </p:nvCxnSpPr>
        <p:spPr>
          <a:xfrm>
            <a:off x="3840480" y="3767328"/>
            <a:ext cx="0" cy="109728"/>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3877056"/>
            <a:ext cx="6583680" cy="1005840"/>
          </a:xfrm>
          <a:prstGeom prst="roundRect">
            <a:avLst>
              <a:gd name="adj" fmla="val 5454"/>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58368" y="4206240"/>
            <a:ext cx="347472" cy="347472"/>
          </a:xfrm>
          <a:prstGeom prst="roundRect">
            <a:avLst>
              <a:gd name="adj" fmla="val 50000"/>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19" name="TextBox 18"/>
          <p:cNvSpPr txBox="1"/>
          <p:nvPr/>
        </p:nvSpPr>
        <p:spPr>
          <a:xfrm>
            <a:off x="1143000" y="3931920"/>
            <a:ext cx="1828800" cy="457200"/>
          </a:xfrm>
          <a:prstGeom prst="rect">
            <a:avLst/>
          </a:prstGeom>
          <a:noFill/>
        </p:spPr>
        <p:txBody>
          <a:bodyPr wrap="square" lIns="45720" tIns="27432" rIns="45720" bIns="27432" anchor="t">
            <a:spAutoFit/>
          </a:bodyPr>
          <a:lstStyle/>
          <a:p>
            <a:pPr algn="l">
              <a:spcAft>
                <a:spcPts val="0"/>
              </a:spcAft>
            </a:pPr>
            <a:r>
              <a:rPr sz="1800" b="1" i="0">
                <a:solidFill>
                  <a:srgbClr val="4DA3F0"/>
                </a:solidFill>
                <a:latin typeface="Calibri"/>
              </a:rPr>
              <a:t>Trust cap</a:t>
            </a:r>
          </a:p>
        </p:txBody>
      </p:sp>
      <p:sp>
        <p:nvSpPr>
          <p:cNvPr id="20" name="TextBox 19"/>
          <p:cNvSpPr txBox="1"/>
          <p:nvPr/>
        </p:nvSpPr>
        <p:spPr>
          <a:xfrm>
            <a:off x="1143000" y="4334256"/>
            <a:ext cx="5852160" cy="530352"/>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Low data trust can only lower the verdict</a:t>
            </a:r>
          </a:p>
        </p:txBody>
      </p:sp>
      <p:cxnSp>
        <p:nvCxnSpPr>
          <p:cNvPr id="21" name="Connector 20"/>
          <p:cNvCxnSpPr/>
          <p:nvPr/>
        </p:nvCxnSpPr>
        <p:spPr>
          <a:xfrm>
            <a:off x="3840480" y="4882896"/>
            <a:ext cx="0" cy="109728"/>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48640" y="4992624"/>
            <a:ext cx="6583680" cy="1005840"/>
          </a:xfrm>
          <a:prstGeom prst="roundRect">
            <a:avLst>
              <a:gd name="adj" fmla="val 5454"/>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58368" y="5321808"/>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4</a:t>
            </a:r>
          </a:p>
        </p:txBody>
      </p:sp>
      <p:sp>
        <p:nvSpPr>
          <p:cNvPr id="24" name="TextBox 23"/>
          <p:cNvSpPr txBox="1"/>
          <p:nvPr/>
        </p:nvSpPr>
        <p:spPr>
          <a:xfrm>
            <a:off x="1143000" y="5047488"/>
            <a:ext cx="1828800" cy="457200"/>
          </a:xfrm>
          <a:prstGeom prst="rect">
            <a:avLst/>
          </a:prstGeom>
          <a:noFill/>
        </p:spPr>
        <p:txBody>
          <a:bodyPr wrap="square" lIns="45720" tIns="27432" rIns="45720" bIns="27432" anchor="t">
            <a:spAutoFit/>
          </a:bodyPr>
          <a:lstStyle/>
          <a:p>
            <a:pPr algn="l">
              <a:spcAft>
                <a:spcPts val="0"/>
              </a:spcAft>
            </a:pPr>
            <a:r>
              <a:rPr sz="1800" b="1" i="0">
                <a:solidFill>
                  <a:srgbClr val="3DDC97"/>
                </a:solidFill>
                <a:latin typeface="Calibri"/>
              </a:rPr>
              <a:t>Audit</a:t>
            </a:r>
          </a:p>
        </p:txBody>
      </p:sp>
      <p:sp>
        <p:nvSpPr>
          <p:cNvPr id="25" name="TextBox 24"/>
          <p:cNvSpPr txBox="1"/>
          <p:nvPr/>
        </p:nvSpPr>
        <p:spPr>
          <a:xfrm>
            <a:off x="1143000" y="5449824"/>
            <a:ext cx="5852160" cy="530352"/>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Hash-chained entry written before the response</a:t>
            </a:r>
          </a:p>
        </p:txBody>
      </p:sp>
      <p:sp>
        <p:nvSpPr>
          <p:cNvPr id="26" name="TextBox 25"/>
          <p:cNvSpPr txBox="1"/>
          <p:nvPr/>
        </p:nvSpPr>
        <p:spPr>
          <a:xfrm>
            <a:off x="7360920" y="1600200"/>
            <a:ext cx="4297680" cy="274320"/>
          </a:xfrm>
          <a:prstGeom prst="rect">
            <a:avLst/>
          </a:prstGeom>
          <a:noFill/>
        </p:spPr>
        <p:txBody>
          <a:bodyPr wrap="square" lIns="45720" tIns="27432" rIns="45720" bIns="27432" anchor="t">
            <a:spAutoFit/>
          </a:bodyPr>
          <a:lstStyle/>
          <a:p>
            <a:pPr algn="l">
              <a:spcAft>
                <a:spcPts val="0"/>
              </a:spcAft>
            </a:pPr>
            <a:r>
              <a:rPr sz="1100" b="1" i="0">
                <a:solidFill>
                  <a:srgbClr val="9FB3C8"/>
                </a:solidFill>
                <a:latin typeface="Calibri"/>
              </a:rPr>
              <a:t>WHAT THE USER SEES</a:t>
            </a:r>
          </a:p>
        </p:txBody>
      </p:sp>
      <p:sp>
        <p:nvSpPr>
          <p:cNvPr id="27" name="Rounded Rectangle 26"/>
          <p:cNvSpPr/>
          <p:nvPr/>
        </p:nvSpPr>
        <p:spPr>
          <a:xfrm>
            <a:off x="7360920" y="1920240"/>
            <a:ext cx="868680" cy="384048"/>
          </a:xfrm>
          <a:prstGeom prst="roundRect">
            <a:avLst>
              <a:gd name="adj" fmla="val 5000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200" b="1" i="0">
                <a:solidFill>
                  <a:srgbClr val="3DDC97"/>
                </a:solidFill>
                <a:latin typeface="Calibri"/>
              </a:rPr>
              <a:t>ALLOW</a:t>
            </a:r>
          </a:p>
        </p:txBody>
      </p:sp>
      <p:sp>
        <p:nvSpPr>
          <p:cNvPr id="28" name="TextBox 27"/>
          <p:cNvSpPr txBox="1"/>
          <p:nvPr/>
        </p:nvSpPr>
        <p:spPr>
          <a:xfrm>
            <a:off x="8366760" y="1920240"/>
            <a:ext cx="3291840" cy="384048"/>
          </a:xfrm>
          <a:prstGeom prst="rect">
            <a:avLst/>
          </a:prstGeom>
          <a:noFill/>
        </p:spPr>
        <p:txBody>
          <a:bodyPr wrap="square" lIns="45720" tIns="27432" rIns="45720" bIns="27432" anchor="ctr">
            <a:spAutoFit/>
          </a:bodyPr>
          <a:lstStyle/>
          <a:p>
            <a:pPr algn="l">
              <a:spcAft>
                <a:spcPts val="0"/>
              </a:spcAft>
            </a:pPr>
            <a:r>
              <a:rPr sz="1300" b="0" i="0">
                <a:solidFill>
                  <a:srgbClr val="F0F4F8"/>
                </a:solidFill>
                <a:latin typeface="Calibri"/>
              </a:rPr>
              <a:t>Allowed by the safety check</a:t>
            </a:r>
          </a:p>
        </p:txBody>
      </p:sp>
      <p:sp>
        <p:nvSpPr>
          <p:cNvPr id="29" name="Rounded Rectangle 28"/>
          <p:cNvSpPr/>
          <p:nvPr/>
        </p:nvSpPr>
        <p:spPr>
          <a:xfrm>
            <a:off x="7360920" y="2487168"/>
            <a:ext cx="868680" cy="384048"/>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200" b="1" i="0">
                <a:solidFill>
                  <a:srgbClr val="4DA3F0"/>
                </a:solidFill>
                <a:latin typeface="Calibri"/>
              </a:rPr>
              <a:t>ASK</a:t>
            </a:r>
          </a:p>
        </p:txBody>
      </p:sp>
      <p:sp>
        <p:nvSpPr>
          <p:cNvPr id="30" name="TextBox 29"/>
          <p:cNvSpPr txBox="1"/>
          <p:nvPr/>
        </p:nvSpPr>
        <p:spPr>
          <a:xfrm>
            <a:off x="8366760" y="2487168"/>
            <a:ext cx="3291840" cy="384048"/>
          </a:xfrm>
          <a:prstGeom prst="rect">
            <a:avLst/>
          </a:prstGeom>
          <a:noFill/>
        </p:spPr>
        <p:txBody>
          <a:bodyPr wrap="square" lIns="45720" tIns="27432" rIns="45720" bIns="27432" anchor="ctr">
            <a:spAutoFit/>
          </a:bodyPr>
          <a:lstStyle/>
          <a:p>
            <a:pPr algn="l">
              <a:spcAft>
                <a:spcPts val="0"/>
              </a:spcAft>
            </a:pPr>
            <a:r>
              <a:rPr sz="1300" b="0" i="0">
                <a:solidFill>
                  <a:srgbClr val="F0F4F8"/>
                </a:solidFill>
                <a:latin typeface="Calibri"/>
              </a:rPr>
              <a:t>Needs confirmation</a:t>
            </a:r>
          </a:p>
        </p:txBody>
      </p:sp>
      <p:sp>
        <p:nvSpPr>
          <p:cNvPr id="31" name="Rounded Rectangle 30"/>
          <p:cNvSpPr/>
          <p:nvPr/>
        </p:nvSpPr>
        <p:spPr>
          <a:xfrm>
            <a:off x="7360920" y="3054096"/>
            <a:ext cx="868680" cy="384048"/>
          </a:xfrm>
          <a:prstGeom prst="roundRect">
            <a:avLst>
              <a:gd name="adj" fmla="val 50000"/>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200" b="1" i="0">
                <a:solidFill>
                  <a:srgbClr val="FF7A7A"/>
                </a:solidFill>
                <a:latin typeface="Calibri"/>
              </a:rPr>
              <a:t>BLOCK</a:t>
            </a:r>
          </a:p>
        </p:txBody>
      </p:sp>
      <p:sp>
        <p:nvSpPr>
          <p:cNvPr id="32" name="TextBox 31"/>
          <p:cNvSpPr txBox="1"/>
          <p:nvPr/>
        </p:nvSpPr>
        <p:spPr>
          <a:xfrm>
            <a:off x="8366760" y="3054096"/>
            <a:ext cx="3291840" cy="384048"/>
          </a:xfrm>
          <a:prstGeom prst="rect">
            <a:avLst/>
          </a:prstGeom>
          <a:noFill/>
        </p:spPr>
        <p:txBody>
          <a:bodyPr wrap="square" lIns="45720" tIns="27432" rIns="45720" bIns="27432" anchor="ctr">
            <a:spAutoFit/>
          </a:bodyPr>
          <a:lstStyle/>
          <a:p>
            <a:pPr algn="l">
              <a:spcAft>
                <a:spcPts val="0"/>
              </a:spcAft>
            </a:pPr>
            <a:r>
              <a:rPr sz="1300" b="0" i="0">
                <a:solidFill>
                  <a:srgbClr val="F0F4F8"/>
                </a:solidFill>
                <a:latin typeface="Calibri"/>
              </a:rPr>
              <a:t>Blocked by the safety check</a:t>
            </a:r>
          </a:p>
        </p:txBody>
      </p:sp>
      <p:sp>
        <p:nvSpPr>
          <p:cNvPr id="33" name="TextBox 32"/>
          <p:cNvSpPr txBox="1"/>
          <p:nvPr/>
        </p:nvSpPr>
        <p:spPr>
          <a:xfrm>
            <a:off x="7360920" y="3703320"/>
            <a:ext cx="4297680" cy="274320"/>
          </a:xfrm>
          <a:prstGeom prst="rect">
            <a:avLst/>
          </a:prstGeom>
          <a:noFill/>
        </p:spPr>
        <p:txBody>
          <a:bodyPr wrap="square" lIns="45720" tIns="27432" rIns="45720" bIns="27432" anchor="t">
            <a:spAutoFit/>
          </a:bodyPr>
          <a:lstStyle/>
          <a:p>
            <a:pPr algn="l">
              <a:spcAft>
                <a:spcPts val="0"/>
              </a:spcAft>
            </a:pPr>
            <a:r>
              <a:rPr sz="1100" b="1" i="0">
                <a:solidFill>
                  <a:srgbClr val="9FB3C8"/>
                </a:solidFill>
                <a:latin typeface="Calibri"/>
              </a:rPr>
              <a:t>AROUND THE GATE</a:t>
            </a:r>
          </a:p>
        </p:txBody>
      </p:sp>
      <p:sp>
        <p:nvSpPr>
          <p:cNvPr id="34" name="TextBox 33"/>
          <p:cNvSpPr txBox="1"/>
          <p:nvPr/>
        </p:nvSpPr>
        <p:spPr>
          <a:xfrm>
            <a:off x="7360920" y="3977639"/>
            <a:ext cx="4297680" cy="2194560"/>
          </a:xfrm>
          <a:prstGeom prst="rect">
            <a:avLst/>
          </a:prstGeom>
          <a:noFill/>
        </p:spPr>
        <p:txBody>
          <a:bodyPr wrap="square" lIns="45720" tIns="27432" rIns="45720" bIns="27432" anchor="t">
            <a:spAutoFit/>
          </a:bodyPr>
          <a:lstStyle/>
          <a:p>
            <a:pPr algn="l">
              <a:spcAft>
                <a:spcPts val="400"/>
              </a:spcAft>
            </a:pPr>
            <a:r>
              <a:rPr sz="1300" b="1" i="0">
                <a:solidFill>
                  <a:srgbClr val="3DDC97"/>
                </a:solidFill>
                <a:latin typeface="Calibri"/>
              </a:rPr>
              <a:t>✓  </a:t>
            </a:r>
            <a:r>
              <a:rPr sz="1300" b="0" i="0">
                <a:solidFill>
                  <a:srgbClr val="F0F4F8"/>
                </a:solidFill>
                <a:latin typeface="Calibri"/>
              </a:rPr>
              <a:t>Labels: estimate, illustrative, not a certification</a:t>
            </a:r>
          </a:p>
          <a:p>
            <a:pPr algn="l">
              <a:spcAft>
                <a:spcPts val="400"/>
              </a:spcAft>
            </a:pPr>
            <a:r>
              <a:rPr sz="1300" b="1" i="0">
                <a:solidFill>
                  <a:srgbClr val="3DDC97"/>
                </a:solidFill>
                <a:latin typeface="Calibri"/>
              </a:rPr>
              <a:t>✓  </a:t>
            </a:r>
            <a:r>
              <a:rPr sz="1300" b="0" i="0">
                <a:solidFill>
                  <a:srgbClr val="F0F4F8"/>
                </a:solidFill>
                <a:latin typeface="Calibri"/>
              </a:rPr>
              <a:t>PII stripped from free text</a:t>
            </a:r>
          </a:p>
          <a:p>
            <a:pPr algn="l">
              <a:spcAft>
                <a:spcPts val="400"/>
              </a:spcAft>
            </a:pPr>
            <a:r>
              <a:rPr sz="1300" b="1" i="0">
                <a:solidFill>
                  <a:srgbClr val="3DDC97"/>
                </a:solidFill>
                <a:latin typeface="Calibri"/>
              </a:rPr>
              <a:t>✓  </a:t>
            </a:r>
            <a:r>
              <a:rPr sz="1300" b="0" i="0">
                <a:solidFill>
                  <a:srgbClr val="F0F4F8"/>
                </a:solidFill>
                <a:latin typeface="Calibri"/>
              </a:rPr>
              <a:t>AI options: vendor validation required</a:t>
            </a:r>
          </a:p>
          <a:p>
            <a:pPr algn="l">
              <a:spcAft>
                <a:spcPts val="400"/>
              </a:spcAft>
            </a:pPr>
            <a:r>
              <a:rPr sz="1300" b="1" i="0">
                <a:solidFill>
                  <a:srgbClr val="3DDC97"/>
                </a:solidFill>
                <a:latin typeface="Calibri"/>
              </a:rPr>
              <a:t>✓  </a:t>
            </a:r>
            <a:r>
              <a:rPr sz="1300" b="0" i="0">
                <a:solidFill>
                  <a:srgbClr val="F0F4F8"/>
                </a:solidFill>
                <a:latin typeface="Calibri"/>
              </a:rPr>
              <a:t>Demo: nothing reaches ALLOW; a human decides</a:t>
            </a:r>
          </a:p>
          <a:p>
            <a:pPr algn="l">
              <a:spcAft>
                <a:spcPts val="400"/>
              </a:spcAft>
            </a:pPr>
            <a:r>
              <a:rPr sz="1300" b="1" i="0">
                <a:solidFill>
                  <a:srgbClr val="3DDC97"/>
                </a:solidFill>
                <a:latin typeface="Calibri"/>
              </a:rPr>
              <a:t>✓  </a:t>
            </a:r>
            <a:r>
              <a:rPr sz="1300" b="0" i="0">
                <a:solidFill>
                  <a:srgbClr val="F0F4F8"/>
                </a:solidFill>
                <a:latin typeface="Calibri"/>
              </a:rPr>
              <a:t>No auth in the demo, stated on screen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Illustrative impact: one Critical kiln, and what each fix would be worth</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IMPACT (ILLUSTRATIVE)</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All figures: synthetic demo fleet, curated illustrative alternatives, demo-synthetic MSME subsidy, illustrative pollution baselines. Not a measurement, quotation or advice.</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16</a:t>
            </a:r>
          </a:p>
        </p:txBody>
      </p:sp>
      <p:sp>
        <p:nvSpPr>
          <p:cNvPr id="7" name="Rounded Rectangle 6"/>
          <p:cNvSpPr/>
          <p:nvPr/>
        </p:nvSpPr>
        <p:spPr>
          <a:xfrm>
            <a:off x="548640" y="1645920"/>
            <a:ext cx="3931920" cy="969264"/>
          </a:xfrm>
          <a:prstGeom prst="roundRect">
            <a:avLst>
              <a:gd name="adj" fmla="val 5660"/>
            </a:avLst>
          </a:prstGeom>
          <a:solidFill>
            <a:srgbClr val="111820"/>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682496"/>
            <a:ext cx="1783080" cy="896112"/>
          </a:xfrm>
          <a:prstGeom prst="rect">
            <a:avLst/>
          </a:prstGeom>
          <a:noFill/>
        </p:spPr>
        <p:txBody>
          <a:bodyPr wrap="square" lIns="45720" tIns="27432" rIns="45720" bIns="27432" anchor="ctr">
            <a:spAutoFit/>
          </a:bodyPr>
          <a:lstStyle/>
          <a:p>
            <a:pPr algn="l">
              <a:spcAft>
                <a:spcPts val="0"/>
              </a:spcAft>
            </a:pPr>
            <a:r>
              <a:rPr sz="2400" b="1" i="0">
                <a:solidFill>
                  <a:srgbClr val="FF7A7A"/>
                </a:solidFill>
                <a:latin typeface="Calibri"/>
              </a:rPr>
              <a:t>28.4 / 100</a:t>
            </a:r>
          </a:p>
        </p:txBody>
      </p:sp>
      <p:sp>
        <p:nvSpPr>
          <p:cNvPr id="9" name="TextBox 8"/>
          <p:cNvSpPr txBox="1"/>
          <p:nvPr/>
        </p:nvSpPr>
        <p:spPr>
          <a:xfrm>
            <a:off x="2468880" y="1682496"/>
            <a:ext cx="1920240" cy="896112"/>
          </a:xfrm>
          <a:prstGeom prst="rect">
            <a:avLst/>
          </a:prstGeom>
          <a:noFill/>
        </p:spPr>
        <p:txBody>
          <a:bodyPr wrap="square" lIns="45720" tIns="27432" rIns="45720" bIns="27432" anchor="ctr">
            <a:spAutoFit/>
          </a:bodyPr>
          <a:lstStyle/>
          <a:p>
            <a:pPr algn="l">
              <a:spcAft>
                <a:spcPts val="0"/>
              </a:spcAft>
            </a:pPr>
            <a:r>
              <a:rPr sz="1200" b="0" i="0">
                <a:solidFill>
                  <a:srgbClr val="F0F4F8"/>
                </a:solidFill>
                <a:latin typeface="Calibri"/>
              </a:rPr>
              <a:t>health: Critical</a:t>
            </a:r>
          </a:p>
        </p:txBody>
      </p:sp>
      <p:sp>
        <p:nvSpPr>
          <p:cNvPr id="10" name="Rounded Rectangle 9"/>
          <p:cNvSpPr/>
          <p:nvPr/>
        </p:nvSpPr>
        <p:spPr>
          <a:xfrm>
            <a:off x="548640" y="2724912"/>
            <a:ext cx="3931920" cy="969264"/>
          </a:xfrm>
          <a:prstGeom prst="roundRect">
            <a:avLst>
              <a:gd name="adj" fmla="val 5660"/>
            </a:avLst>
          </a:prstGeom>
          <a:solidFill>
            <a:srgbClr val="111820"/>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761488"/>
            <a:ext cx="1783080" cy="896112"/>
          </a:xfrm>
          <a:prstGeom prst="rect">
            <a:avLst/>
          </a:prstGeom>
          <a:noFill/>
        </p:spPr>
        <p:txBody>
          <a:bodyPr wrap="square" lIns="45720" tIns="27432" rIns="45720" bIns="27432" anchor="ctr">
            <a:spAutoFit/>
          </a:bodyPr>
          <a:lstStyle/>
          <a:p>
            <a:pPr algn="l">
              <a:spcAft>
                <a:spcPts val="0"/>
              </a:spcAft>
            </a:pPr>
            <a:r>
              <a:rPr sz="2400" b="1" i="0">
                <a:solidFill>
                  <a:srgbClr val="F2B84B"/>
                </a:solidFill>
                <a:latin typeface="Calibri"/>
              </a:rPr>
              <a:t>~342 days</a:t>
            </a:r>
          </a:p>
        </p:txBody>
      </p:sp>
      <p:sp>
        <p:nvSpPr>
          <p:cNvPr id="12" name="TextBox 11"/>
          <p:cNvSpPr txBox="1"/>
          <p:nvPr/>
        </p:nvSpPr>
        <p:spPr>
          <a:xfrm>
            <a:off x="2468880" y="2761488"/>
            <a:ext cx="1920240" cy="896112"/>
          </a:xfrm>
          <a:prstGeom prst="rect">
            <a:avLst/>
          </a:prstGeom>
          <a:noFill/>
        </p:spPr>
        <p:txBody>
          <a:bodyPr wrap="square" lIns="45720" tIns="27432" rIns="45720" bIns="27432" anchor="ctr">
            <a:spAutoFit/>
          </a:bodyPr>
          <a:lstStyle/>
          <a:p>
            <a:pPr algn="l">
              <a:spcAft>
                <a:spcPts val="0"/>
              </a:spcAft>
            </a:pPr>
            <a:r>
              <a:rPr sz="1200" b="0" i="0">
                <a:solidFill>
                  <a:srgbClr val="F0F4F8"/>
                </a:solidFill>
                <a:latin typeface="Calibri"/>
              </a:rPr>
              <a:t>estimated life left</a:t>
            </a:r>
          </a:p>
        </p:txBody>
      </p:sp>
      <p:sp>
        <p:nvSpPr>
          <p:cNvPr id="13" name="Rounded Rectangle 12"/>
          <p:cNvSpPr/>
          <p:nvPr/>
        </p:nvSpPr>
        <p:spPr>
          <a:xfrm>
            <a:off x="548640" y="3803904"/>
            <a:ext cx="3931920" cy="969264"/>
          </a:xfrm>
          <a:prstGeom prst="roundRect">
            <a:avLst>
              <a:gd name="adj" fmla="val 5660"/>
            </a:avLst>
          </a:prstGeom>
          <a:solidFill>
            <a:srgbClr val="111820"/>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 y="3840480"/>
            <a:ext cx="1783080" cy="896112"/>
          </a:xfrm>
          <a:prstGeom prst="rect">
            <a:avLst/>
          </a:prstGeom>
          <a:noFill/>
        </p:spPr>
        <p:txBody>
          <a:bodyPr wrap="square" lIns="45720" tIns="27432" rIns="45720" bIns="27432" anchor="ctr">
            <a:spAutoFit/>
          </a:bodyPr>
          <a:lstStyle/>
          <a:p>
            <a:pPr algn="l">
              <a:spcAft>
                <a:spcPts val="0"/>
              </a:spcAft>
            </a:pPr>
            <a:r>
              <a:rPr sz="2400" b="1" i="0">
                <a:solidFill>
                  <a:srgbClr val="FF7A7A"/>
                </a:solidFill>
                <a:latin typeface="Calibri"/>
              </a:rPr>
              <a:t>+14.8%</a:t>
            </a:r>
          </a:p>
        </p:txBody>
      </p:sp>
      <p:sp>
        <p:nvSpPr>
          <p:cNvPr id="15" name="TextBox 14"/>
          <p:cNvSpPr txBox="1"/>
          <p:nvPr/>
        </p:nvSpPr>
        <p:spPr>
          <a:xfrm>
            <a:off x="2468880" y="3840480"/>
            <a:ext cx="1920240" cy="896112"/>
          </a:xfrm>
          <a:prstGeom prst="rect">
            <a:avLst/>
          </a:prstGeom>
          <a:noFill/>
        </p:spPr>
        <p:txBody>
          <a:bodyPr wrap="square" lIns="45720" tIns="27432" rIns="45720" bIns="27432" anchor="ctr">
            <a:spAutoFit/>
          </a:bodyPr>
          <a:lstStyle/>
          <a:p>
            <a:pPr algn="l">
              <a:spcAft>
                <a:spcPts val="0"/>
              </a:spcAft>
            </a:pPr>
            <a:r>
              <a:rPr sz="1200" b="0" i="0">
                <a:solidFill>
                  <a:srgbClr val="F0F4F8"/>
                </a:solidFill>
                <a:latin typeface="Calibri"/>
              </a:rPr>
              <a:t>effluent vs healthy reference (~118 m3/day)</a:t>
            </a:r>
          </a:p>
        </p:txBody>
      </p:sp>
      <p:sp>
        <p:nvSpPr>
          <p:cNvPr id="16" name="Rounded Rectangle 15"/>
          <p:cNvSpPr/>
          <p:nvPr/>
        </p:nvSpPr>
        <p:spPr>
          <a:xfrm>
            <a:off x="548640" y="4882896"/>
            <a:ext cx="3931920" cy="969264"/>
          </a:xfrm>
          <a:prstGeom prst="roundRect">
            <a:avLst>
              <a:gd name="adj" fmla="val 5660"/>
            </a:avLst>
          </a:prstGeom>
          <a:solidFill>
            <a:srgbClr val="111820"/>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4919472"/>
            <a:ext cx="1783080" cy="896112"/>
          </a:xfrm>
          <a:prstGeom prst="rect">
            <a:avLst/>
          </a:prstGeom>
          <a:noFill/>
        </p:spPr>
        <p:txBody>
          <a:bodyPr wrap="square" lIns="45720" tIns="27432" rIns="45720" bIns="27432" anchor="ctr">
            <a:spAutoFit/>
          </a:bodyPr>
          <a:lstStyle/>
          <a:p>
            <a:pPr algn="l">
              <a:spcAft>
                <a:spcPts val="0"/>
              </a:spcAft>
            </a:pPr>
            <a:r>
              <a:rPr sz="2400" b="1" i="0">
                <a:solidFill>
                  <a:srgbClr val="FF7A7A"/>
                </a:solidFill>
                <a:latin typeface="Calibri"/>
              </a:rPr>
              <a:t>+5.4%</a:t>
            </a:r>
          </a:p>
        </p:txBody>
      </p:sp>
      <p:sp>
        <p:nvSpPr>
          <p:cNvPr id="18" name="TextBox 17"/>
          <p:cNvSpPr txBox="1"/>
          <p:nvPr/>
        </p:nvSpPr>
        <p:spPr>
          <a:xfrm>
            <a:off x="2468880" y="4919472"/>
            <a:ext cx="1920240" cy="896112"/>
          </a:xfrm>
          <a:prstGeom prst="rect">
            <a:avLst/>
          </a:prstGeom>
          <a:noFill/>
        </p:spPr>
        <p:txBody>
          <a:bodyPr wrap="square" lIns="45720" tIns="27432" rIns="45720" bIns="27432" anchor="ctr">
            <a:spAutoFit/>
          </a:bodyPr>
          <a:lstStyle/>
          <a:p>
            <a:pPr algn="l">
              <a:spcAft>
                <a:spcPts val="0"/>
              </a:spcAft>
            </a:pPr>
            <a:r>
              <a:rPr sz="1200" b="0" i="0">
                <a:solidFill>
                  <a:srgbClr val="F0F4F8"/>
                </a:solidFill>
                <a:latin typeface="Calibri"/>
              </a:rPr>
              <a:t>CO2e vs healthy reference (~2.3 t/day)</a:t>
            </a:r>
          </a:p>
        </p:txBody>
      </p:sp>
      <p:sp>
        <p:nvSpPr>
          <p:cNvPr id="19" name="TextBox 18"/>
          <p:cNvSpPr txBox="1"/>
          <p:nvPr/>
        </p:nvSpPr>
        <p:spPr>
          <a:xfrm>
            <a:off x="4754880" y="1600200"/>
            <a:ext cx="6858000" cy="320040"/>
          </a:xfrm>
          <a:prstGeom prst="rect">
            <a:avLst/>
          </a:prstGeom>
          <a:noFill/>
        </p:spPr>
        <p:txBody>
          <a:bodyPr wrap="square" lIns="45720" tIns="27432" rIns="45720" bIns="27432" anchor="t">
            <a:spAutoFit/>
          </a:bodyPr>
          <a:lstStyle/>
          <a:p>
            <a:pPr algn="l">
              <a:spcAft>
                <a:spcPts val="0"/>
              </a:spcAft>
            </a:pPr>
            <a:r>
              <a:rPr sz="1200" b="1" i="0">
                <a:solidFill>
                  <a:srgbClr val="9FB3C8"/>
                </a:solidFill>
                <a:latin typeface="Calibri"/>
              </a:rPr>
              <a:t>PAYBACK IN YEARS, MSME, INCENTIVE-ADJUSTED (DESIGN LIFE 25 YEARS)</a:t>
            </a:r>
          </a:p>
        </p:txBody>
      </p:sp>
      <p:graphicFrame>
        <p:nvGraphicFramePr>
          <p:cNvPr id="20" name="Chart 19"/>
          <p:cNvGraphicFramePr>
            <a:graphicFrameLocks noGrp="1"/>
          </p:cNvGraphicFramePr>
          <p:nvPr/>
        </p:nvGraphicFramePr>
        <p:xfrm>
          <a:off x="4663440" y="1920240"/>
          <a:ext cx="699516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21" name="Rounded Rectangle 20"/>
          <p:cNvSpPr/>
          <p:nvPr/>
        </p:nvSpPr>
        <p:spPr>
          <a:xfrm>
            <a:off x="4754880" y="5303520"/>
            <a:ext cx="3383280" cy="822960"/>
          </a:xfrm>
          <a:prstGeom prst="roundRect">
            <a:avLst>
              <a:gd name="adj" fmla="val 8888"/>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300" b="1" i="0">
                <a:solidFill>
                  <a:srgbClr val="FF7A7A"/>
                </a:solidFill>
                <a:latin typeface="Calibri"/>
              </a:rPr>
              <a:t>Dry-stack tailings + water recycling</a:t>
            </a:r>
          </a:p>
          <a:p>
            <a:pPr algn="l">
              <a:spcAft>
                <a:spcPts val="0"/>
              </a:spcAft>
            </a:pPr>
            <a:r>
              <a:rPr sz="1300" b="0" i="0">
                <a:solidFill>
                  <a:srgbClr val="F0F4F8"/>
                </a:solidFill>
                <a:latin typeface="Calibri"/>
              </a:rPr>
              <a:t>No payback. Shown, not hidden.</a:t>
            </a:r>
          </a:p>
        </p:txBody>
      </p:sp>
      <p:sp>
        <p:nvSpPr>
          <p:cNvPr id="22" name="Rounded Rectangle 21"/>
          <p:cNvSpPr/>
          <p:nvPr/>
        </p:nvSpPr>
        <p:spPr>
          <a:xfrm>
            <a:off x="8275320" y="5303520"/>
            <a:ext cx="3364992" cy="822960"/>
          </a:xfrm>
          <a:prstGeom prst="roundRect">
            <a:avLst>
              <a:gd name="adj" fmla="val 8888"/>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300" b="1" i="0">
                <a:solidFill>
                  <a:srgbClr val="3DDC97"/>
                </a:solidFill>
                <a:latin typeface="Calibri"/>
              </a:rPr>
              <a:t>Start with dust suppression</a:t>
            </a:r>
          </a:p>
          <a:p>
            <a:pPr algn="l">
              <a:spcAft>
                <a:spcPts val="0"/>
              </a:spcAft>
            </a:pPr>
            <a:r>
              <a:rPr sz="1300" b="0" i="0">
                <a:solidFill>
                  <a:srgbClr val="F0F4F8"/>
                </a:solidFill>
                <a:latin typeface="Calibri"/>
              </a:rPr>
              <a:t>Shortest payback, lowest capex.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Where it lands: India's MSMEs and its highly polluting units</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MARKET AND BUSINESS MODEL</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Sources: PIB backgrounder 14 May 2026 (MSME counts include services and trade); Rajya Sabha Starred Q101, 15 Dec 2022. Business model is a hypothesis; no revenue claims.</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17</a:t>
            </a:r>
          </a:p>
        </p:txBody>
      </p:sp>
      <p:sp>
        <p:nvSpPr>
          <p:cNvPr id="7" name="Rounded Rectangle 6"/>
          <p:cNvSpPr/>
          <p:nvPr/>
        </p:nvSpPr>
        <p:spPr>
          <a:xfrm>
            <a:off x="548640" y="1645920"/>
            <a:ext cx="2633472" cy="2011680"/>
          </a:xfrm>
          <a:prstGeom prst="roundRect">
            <a:avLst>
              <a:gd name="adj" fmla="val 2727"/>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783080"/>
            <a:ext cx="2468880" cy="822960"/>
          </a:xfrm>
          <a:prstGeom prst="rect">
            <a:avLst/>
          </a:prstGeom>
          <a:noFill/>
        </p:spPr>
        <p:txBody>
          <a:bodyPr wrap="square" lIns="45720" tIns="27432" rIns="45720" bIns="27432" anchor="ctr">
            <a:spAutoFit/>
          </a:bodyPr>
          <a:lstStyle/>
          <a:p>
            <a:pPr algn="l">
              <a:spcAft>
                <a:spcPts val="0"/>
              </a:spcAft>
            </a:pPr>
            <a:r>
              <a:rPr sz="3400" b="1" i="0">
                <a:solidFill>
                  <a:srgbClr val="3DDC97"/>
                </a:solidFill>
                <a:latin typeface="Calibri"/>
              </a:rPr>
              <a:t>7.47 crore</a:t>
            </a:r>
          </a:p>
        </p:txBody>
      </p:sp>
      <p:sp>
        <p:nvSpPr>
          <p:cNvPr id="9" name="TextBox 8"/>
          <p:cNvSpPr txBox="1"/>
          <p:nvPr/>
        </p:nvSpPr>
        <p:spPr>
          <a:xfrm>
            <a:off x="658368" y="2651760"/>
            <a:ext cx="2423160" cy="96012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MSMEs in India (all sectors)</a:t>
            </a:r>
          </a:p>
        </p:txBody>
      </p:sp>
      <p:sp>
        <p:nvSpPr>
          <p:cNvPr id="10" name="Rounded Rectangle 9"/>
          <p:cNvSpPr/>
          <p:nvPr/>
        </p:nvSpPr>
        <p:spPr>
          <a:xfrm>
            <a:off x="3291840" y="1645920"/>
            <a:ext cx="2633472" cy="2011680"/>
          </a:xfrm>
          <a:prstGeom prst="roundRect">
            <a:avLst>
              <a:gd name="adj" fmla="val 2727"/>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83280" y="1783080"/>
            <a:ext cx="2468880" cy="822960"/>
          </a:xfrm>
          <a:prstGeom prst="rect">
            <a:avLst/>
          </a:prstGeom>
          <a:noFill/>
        </p:spPr>
        <p:txBody>
          <a:bodyPr wrap="square" lIns="45720" tIns="27432" rIns="45720" bIns="27432" anchor="ctr">
            <a:spAutoFit/>
          </a:bodyPr>
          <a:lstStyle/>
          <a:p>
            <a:pPr algn="l">
              <a:spcAft>
                <a:spcPts val="0"/>
              </a:spcAft>
            </a:pPr>
            <a:r>
              <a:rPr sz="3400" b="1" i="0">
                <a:solidFill>
                  <a:srgbClr val="3DDC97"/>
                </a:solidFill>
                <a:latin typeface="Calibri"/>
              </a:rPr>
              <a:t>35.4%</a:t>
            </a:r>
          </a:p>
        </p:txBody>
      </p:sp>
      <p:sp>
        <p:nvSpPr>
          <p:cNvPr id="12" name="TextBox 11"/>
          <p:cNvSpPr txBox="1"/>
          <p:nvPr/>
        </p:nvSpPr>
        <p:spPr>
          <a:xfrm>
            <a:off x="3401568" y="2651760"/>
            <a:ext cx="2423160" cy="960120"/>
          </a:xfrm>
          <a:prstGeom prst="rect">
            <a:avLst/>
          </a:prstGeom>
          <a:noFill/>
        </p:spPr>
        <p:txBody>
          <a:bodyPr wrap="square" lIns="45720" tIns="27432" rIns="45720" bIns="27432" anchor="t">
            <a:spAutoFit/>
          </a:bodyPr>
          <a:lstStyle/>
          <a:p>
            <a:pPr algn="l">
              <a:spcAft>
                <a:spcPts val="0"/>
              </a:spcAft>
            </a:pPr>
            <a:r>
              <a:rPr sz="1300" b="0" i="0" dirty="0">
                <a:solidFill>
                  <a:srgbClr val="F0F4F8"/>
                </a:solidFill>
                <a:latin typeface="Calibri"/>
              </a:rPr>
              <a:t>of India's manufacturing output is MSME</a:t>
            </a:r>
          </a:p>
        </p:txBody>
      </p:sp>
      <p:sp>
        <p:nvSpPr>
          <p:cNvPr id="13" name="Rounded Rectangle 12"/>
          <p:cNvSpPr/>
          <p:nvPr/>
        </p:nvSpPr>
        <p:spPr>
          <a:xfrm>
            <a:off x="548640" y="3794760"/>
            <a:ext cx="2633472" cy="2011680"/>
          </a:xfrm>
          <a:prstGeom prst="roundRect">
            <a:avLst>
              <a:gd name="adj" fmla="val 2727"/>
            </a:avLst>
          </a:prstGeom>
          <a:solidFill>
            <a:srgbClr val="111820"/>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931920"/>
            <a:ext cx="2468880" cy="822960"/>
          </a:xfrm>
          <a:prstGeom prst="rect">
            <a:avLst/>
          </a:prstGeom>
          <a:noFill/>
        </p:spPr>
        <p:txBody>
          <a:bodyPr wrap="square" lIns="45720" tIns="27432" rIns="45720" bIns="27432" anchor="ctr">
            <a:spAutoFit/>
          </a:bodyPr>
          <a:lstStyle/>
          <a:p>
            <a:pPr algn="l">
              <a:spcAft>
                <a:spcPts val="0"/>
              </a:spcAft>
            </a:pPr>
            <a:r>
              <a:rPr sz="3400" b="1" i="0">
                <a:solidFill>
                  <a:srgbClr val="F2B84B"/>
                </a:solidFill>
                <a:latin typeface="Calibri"/>
              </a:rPr>
              <a:t>4,578</a:t>
            </a:r>
          </a:p>
        </p:txBody>
      </p:sp>
      <p:sp>
        <p:nvSpPr>
          <p:cNvPr id="15" name="TextBox 14"/>
          <p:cNvSpPr txBox="1"/>
          <p:nvPr/>
        </p:nvSpPr>
        <p:spPr>
          <a:xfrm>
            <a:off x="658368" y="4800600"/>
            <a:ext cx="2423160" cy="96012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highly polluting units reported by SPCBs / PCCs (Dec 2022)</a:t>
            </a:r>
          </a:p>
        </p:txBody>
      </p:sp>
      <p:sp>
        <p:nvSpPr>
          <p:cNvPr id="16" name="Rounded Rectangle 15"/>
          <p:cNvSpPr/>
          <p:nvPr/>
        </p:nvSpPr>
        <p:spPr>
          <a:xfrm>
            <a:off x="3291840" y="3794760"/>
            <a:ext cx="2633472" cy="2011680"/>
          </a:xfrm>
          <a:prstGeom prst="roundRect">
            <a:avLst>
              <a:gd name="adj" fmla="val 2727"/>
            </a:avLst>
          </a:prstGeom>
          <a:solidFill>
            <a:srgbClr val="111820"/>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83280" y="3931920"/>
            <a:ext cx="2468880" cy="822960"/>
          </a:xfrm>
          <a:prstGeom prst="rect">
            <a:avLst/>
          </a:prstGeom>
          <a:noFill/>
        </p:spPr>
        <p:txBody>
          <a:bodyPr wrap="square" lIns="45720" tIns="27432" rIns="45720" bIns="27432" anchor="ctr">
            <a:spAutoFit/>
          </a:bodyPr>
          <a:lstStyle/>
          <a:p>
            <a:pPr algn="l">
              <a:spcAft>
                <a:spcPts val="0"/>
              </a:spcAft>
            </a:pPr>
            <a:r>
              <a:rPr sz="3400" b="1" i="0">
                <a:solidFill>
                  <a:srgbClr val="F2B84B"/>
                </a:solidFill>
                <a:latin typeface="Calibri"/>
              </a:rPr>
              <a:t>17</a:t>
            </a:r>
          </a:p>
        </p:txBody>
      </p:sp>
      <p:sp>
        <p:nvSpPr>
          <p:cNvPr id="18" name="TextBox 17"/>
          <p:cNvSpPr txBox="1"/>
          <p:nvPr/>
        </p:nvSpPr>
        <p:spPr>
          <a:xfrm>
            <a:off x="3401568" y="4800600"/>
            <a:ext cx="2423160" cy="960120"/>
          </a:xfrm>
          <a:prstGeom prst="rect">
            <a:avLst/>
          </a:prstGeom>
          <a:noFill/>
        </p:spPr>
        <p:txBody>
          <a:bodyPr wrap="square" lIns="45720" tIns="27432" rIns="45720" bIns="27432" anchor="t">
            <a:spAutoFit/>
          </a:bodyPr>
          <a:lstStyle/>
          <a:p>
            <a:pPr algn="l">
              <a:spcAft>
                <a:spcPts val="0"/>
              </a:spcAft>
            </a:pPr>
            <a:r>
              <a:rPr sz="1300" b="0" i="0" dirty="0">
                <a:solidFill>
                  <a:srgbClr val="F0F4F8"/>
                </a:solidFill>
                <a:latin typeface="Calibri"/>
              </a:rPr>
              <a:t>CPCB categories of highly polluting industry</a:t>
            </a:r>
          </a:p>
        </p:txBody>
      </p:sp>
      <p:sp>
        <p:nvSpPr>
          <p:cNvPr id="19" name="TextBox 18"/>
          <p:cNvSpPr txBox="1"/>
          <p:nvPr/>
        </p:nvSpPr>
        <p:spPr>
          <a:xfrm>
            <a:off x="6355080" y="1600200"/>
            <a:ext cx="5303520" cy="320040"/>
          </a:xfrm>
          <a:prstGeom prst="rect">
            <a:avLst/>
          </a:prstGeom>
          <a:noFill/>
        </p:spPr>
        <p:txBody>
          <a:bodyPr wrap="square" lIns="45720" tIns="27432" rIns="45720" bIns="27432" anchor="t">
            <a:spAutoFit/>
          </a:bodyPr>
          <a:lstStyle/>
          <a:p>
            <a:pPr algn="l">
              <a:spcAft>
                <a:spcPts val="0"/>
              </a:spcAft>
            </a:pPr>
            <a:r>
              <a:rPr sz="1200" b="1" i="0">
                <a:solidFill>
                  <a:srgbClr val="F2B84B"/>
                </a:solidFill>
                <a:latin typeface="Calibri"/>
              </a:rPr>
              <a:t>BUSINESS MODEL HYPOTHESES  |  NOT YET VALIDATED</a:t>
            </a:r>
          </a:p>
        </p:txBody>
      </p:sp>
      <p:sp>
        <p:nvSpPr>
          <p:cNvPr id="20" name="Rounded Rectangle 19"/>
          <p:cNvSpPr/>
          <p:nvPr/>
        </p:nvSpPr>
        <p:spPr>
          <a:xfrm>
            <a:off x="6355080" y="1965960"/>
            <a:ext cx="528523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473952" y="2075688"/>
            <a:ext cx="347472" cy="347472"/>
          </a:xfrm>
          <a:prstGeom prst="roundRect">
            <a:avLst>
              <a:gd name="adj" fmla="val 5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22" name="TextBox 21"/>
          <p:cNvSpPr txBox="1"/>
          <p:nvPr/>
        </p:nvSpPr>
        <p:spPr>
          <a:xfrm>
            <a:off x="6949440" y="2039112"/>
            <a:ext cx="4572000" cy="36576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Plant subscription</a:t>
            </a:r>
          </a:p>
        </p:txBody>
      </p:sp>
      <p:sp>
        <p:nvSpPr>
          <p:cNvPr id="23" name="TextBox 22"/>
          <p:cNvSpPr txBox="1"/>
          <p:nvPr/>
        </p:nvSpPr>
        <p:spPr>
          <a:xfrm>
            <a:off x="6949440" y="2423160"/>
            <a:ext cx="4572000" cy="603504"/>
          </a:xfrm>
          <a:prstGeom prst="rect">
            <a:avLst/>
          </a:prstGeom>
          <a:noFill/>
        </p:spPr>
        <p:txBody>
          <a:bodyPr wrap="square" lIns="45720" tIns="27432" rIns="45720" bIns="27432" anchor="t">
            <a:spAutoFit/>
          </a:bodyPr>
          <a:lstStyle/>
          <a:p>
            <a:pPr algn="l">
              <a:spcAft>
                <a:spcPts val="0"/>
              </a:spcAft>
            </a:pPr>
            <a:r>
              <a:rPr sz="1300" b="0" i="0">
                <a:solidFill>
                  <a:srgbClr val="9FB3C8"/>
                </a:solidFill>
                <a:latin typeface="Calibri"/>
              </a:rPr>
              <a:t>Priced per machine tracked. Reporter and resolver seats included.</a:t>
            </a:r>
          </a:p>
        </p:txBody>
      </p:sp>
      <p:sp>
        <p:nvSpPr>
          <p:cNvPr id="24" name="Rounded Rectangle 23"/>
          <p:cNvSpPr/>
          <p:nvPr/>
        </p:nvSpPr>
        <p:spPr>
          <a:xfrm>
            <a:off x="6355080" y="3154680"/>
            <a:ext cx="528523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473952" y="3264408"/>
            <a:ext cx="347472" cy="347472"/>
          </a:xfrm>
          <a:prstGeom prst="roundRect">
            <a:avLst>
              <a:gd name="adj" fmla="val 5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26" name="TextBox 25"/>
          <p:cNvSpPr txBox="1"/>
          <p:nvPr/>
        </p:nvSpPr>
        <p:spPr>
          <a:xfrm>
            <a:off x="6949440" y="3227832"/>
            <a:ext cx="4572000" cy="36576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Upgrade advisory</a:t>
            </a:r>
          </a:p>
        </p:txBody>
      </p:sp>
      <p:sp>
        <p:nvSpPr>
          <p:cNvPr id="27" name="TextBox 26"/>
          <p:cNvSpPr txBox="1"/>
          <p:nvPr/>
        </p:nvSpPr>
        <p:spPr>
          <a:xfrm>
            <a:off x="6949440" y="3611880"/>
            <a:ext cx="4572000" cy="603504"/>
          </a:xfrm>
          <a:prstGeom prst="rect">
            <a:avLst/>
          </a:prstGeom>
          <a:noFill/>
        </p:spPr>
        <p:txBody>
          <a:bodyPr wrap="square" lIns="45720" tIns="27432" rIns="45720" bIns="27432" anchor="t">
            <a:spAutoFit/>
          </a:bodyPr>
          <a:lstStyle/>
          <a:p>
            <a:pPr algn="l">
              <a:spcAft>
                <a:spcPts val="0"/>
              </a:spcAft>
            </a:pPr>
            <a:r>
              <a:rPr sz="1300" b="0" i="0">
                <a:solidFill>
                  <a:srgbClr val="9FB3C8"/>
                </a:solidFill>
                <a:latin typeface="Calibri"/>
              </a:rPr>
              <a:t>Turn gated, incentive-adjusted plans into funded projects with partners.</a:t>
            </a:r>
          </a:p>
        </p:txBody>
      </p:sp>
      <p:sp>
        <p:nvSpPr>
          <p:cNvPr id="28" name="Rounded Rectangle 27"/>
          <p:cNvSpPr/>
          <p:nvPr/>
        </p:nvSpPr>
        <p:spPr>
          <a:xfrm>
            <a:off x="6355080" y="4343400"/>
            <a:ext cx="528523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473952" y="4453128"/>
            <a:ext cx="347472" cy="347472"/>
          </a:xfrm>
          <a:prstGeom prst="roundRect">
            <a:avLst>
              <a:gd name="adj" fmla="val 5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30" name="TextBox 29"/>
          <p:cNvSpPr txBox="1"/>
          <p:nvPr/>
        </p:nvSpPr>
        <p:spPr>
          <a:xfrm>
            <a:off x="6949440" y="4416552"/>
            <a:ext cx="4572000" cy="36576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Vendor and financier partnerships</a:t>
            </a:r>
          </a:p>
        </p:txBody>
      </p:sp>
      <p:sp>
        <p:nvSpPr>
          <p:cNvPr id="31" name="TextBox 30"/>
          <p:cNvSpPr txBox="1"/>
          <p:nvPr/>
        </p:nvSpPr>
        <p:spPr>
          <a:xfrm>
            <a:off x="6949440" y="4800600"/>
            <a:ext cx="4572000" cy="603504"/>
          </a:xfrm>
          <a:prstGeom prst="rect">
            <a:avLst/>
          </a:prstGeom>
          <a:noFill/>
        </p:spPr>
        <p:txBody>
          <a:bodyPr wrap="square" lIns="45720" tIns="27432" rIns="45720" bIns="27432" anchor="t">
            <a:spAutoFit/>
          </a:bodyPr>
          <a:lstStyle/>
          <a:p>
            <a:pPr algn="l">
              <a:spcAft>
                <a:spcPts val="0"/>
              </a:spcAft>
            </a:pPr>
            <a:r>
              <a:rPr sz="1300" b="0" i="0" dirty="0">
                <a:solidFill>
                  <a:srgbClr val="9FB3C8"/>
                </a:solidFill>
                <a:latin typeface="Calibri"/>
              </a:rPr>
              <a:t>Greener-equipment suppliers and green-finance lenders pay for qualified leads.</a:t>
            </a:r>
          </a:p>
        </p:txBody>
      </p:sp>
      <p:sp>
        <p:nvSpPr>
          <p:cNvPr id="32" name="Rounded Rectangle 31"/>
          <p:cNvSpPr/>
          <p:nvPr/>
        </p:nvSpPr>
        <p:spPr>
          <a:xfrm>
            <a:off x="6355080" y="5577840"/>
            <a:ext cx="5285232" cy="548640"/>
          </a:xfrm>
          <a:prstGeom prst="roundRect">
            <a:avLst>
              <a:gd name="adj" fmla="val 13333"/>
            </a:avLst>
          </a:prstGeom>
          <a:noFill/>
          <a:ln w="12700">
            <a:solidFill>
              <a:srgbClr val="F2B84B"/>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dirty="0">
                <a:solidFill>
                  <a:srgbClr val="F2B84B"/>
                </a:solidFill>
                <a:latin typeface="Calibri"/>
              </a:rPr>
              <a:t>No market-size or revenue figure is claimed beyond the sourced counts.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Roadmap: what is built, what is next, and what we have not claimed</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ROADMAP</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prototype/README.md and docs/system-architecture.md. Test result from a local pytest run on 2026-10-18: 151 passed.</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18</a:t>
            </a:r>
          </a:p>
        </p:txBody>
      </p:sp>
      <p:sp>
        <p:nvSpPr>
          <p:cNvPr id="7" name="Rounded Rectangle 6"/>
          <p:cNvSpPr/>
          <p:nvPr/>
        </p:nvSpPr>
        <p:spPr>
          <a:xfrm>
            <a:off x="548640" y="1645920"/>
            <a:ext cx="3593592" cy="3794760"/>
          </a:xfrm>
          <a:prstGeom prst="roundRect">
            <a:avLst>
              <a:gd name="adj" fmla="val 1526"/>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719072"/>
            <a:ext cx="3200400" cy="365760"/>
          </a:xfrm>
          <a:prstGeom prst="rect">
            <a:avLst/>
          </a:prstGeom>
          <a:noFill/>
        </p:spPr>
        <p:txBody>
          <a:bodyPr wrap="square" lIns="45720" tIns="27432" rIns="45720" bIns="27432" anchor="t">
            <a:spAutoFit/>
          </a:bodyPr>
          <a:lstStyle/>
          <a:p>
            <a:pPr algn="l">
              <a:spcAft>
                <a:spcPts val="0"/>
              </a:spcAft>
            </a:pPr>
            <a:r>
              <a:rPr sz="1600" b="1" i="0">
                <a:solidFill>
                  <a:srgbClr val="3DDC97"/>
                </a:solidFill>
                <a:latin typeface="Calibri"/>
              </a:rPr>
              <a:t>DONE</a:t>
            </a:r>
          </a:p>
        </p:txBody>
      </p:sp>
      <p:sp>
        <p:nvSpPr>
          <p:cNvPr id="9" name="TextBox 8"/>
          <p:cNvSpPr txBox="1"/>
          <p:nvPr/>
        </p:nvSpPr>
        <p:spPr>
          <a:xfrm>
            <a:off x="731520" y="2148840"/>
            <a:ext cx="3246120" cy="3246120"/>
          </a:xfrm>
          <a:prstGeom prst="rect">
            <a:avLst/>
          </a:prstGeom>
          <a:noFill/>
        </p:spPr>
        <p:txBody>
          <a:bodyPr wrap="square" lIns="45720" tIns="27432" rIns="45720" bIns="27432" anchor="t">
            <a:spAutoFit/>
          </a:bodyPr>
          <a:lstStyle/>
          <a:p>
            <a:pPr algn="l">
              <a:spcAft>
                <a:spcPts val="900"/>
              </a:spcAft>
            </a:pPr>
            <a:r>
              <a:rPr sz="1600" b="1" i="0">
                <a:solidFill>
                  <a:srgbClr val="3DDC97"/>
                </a:solidFill>
                <a:latin typeface="Calibri"/>
              </a:rPr>
              <a:t>• </a:t>
            </a:r>
            <a:r>
              <a:rPr sz="1600" b="0" i="0">
                <a:solidFill>
                  <a:srgbClr val="F0F4F8"/>
                </a:solidFill>
                <a:latin typeface="Calibri"/>
              </a:rPr>
              <a:t>4 industries, 20-model sample catalogue</a:t>
            </a:r>
          </a:p>
          <a:p>
            <a:pPr algn="l">
              <a:spcAft>
                <a:spcPts val="900"/>
              </a:spcAft>
            </a:pPr>
            <a:r>
              <a:rPr sz="1600" b="1" i="0">
                <a:solidFill>
                  <a:srgbClr val="3DDC97"/>
                </a:solidFill>
                <a:latin typeface="Calibri"/>
              </a:rPr>
              <a:t>• </a:t>
            </a:r>
            <a:r>
              <a:rPr sz="1600" b="0" i="0">
                <a:solidFill>
                  <a:srgbClr val="F0F4F8"/>
                </a:solidFill>
                <a:latin typeface="Calibri"/>
              </a:rPr>
              <a:t>AI template, cache-once (single process)</a:t>
            </a:r>
          </a:p>
          <a:p>
            <a:pPr algn="l">
              <a:spcAft>
                <a:spcPts val="900"/>
              </a:spcAft>
            </a:pPr>
            <a:r>
              <a:rPr sz="1600" b="1" i="0">
                <a:solidFill>
                  <a:srgbClr val="3DDC97"/>
                </a:solidFill>
                <a:latin typeface="Calibri"/>
              </a:rPr>
              <a:t>• </a:t>
            </a:r>
            <a:r>
              <a:rPr sz="1600" b="0" i="0">
                <a:solidFill>
                  <a:srgbClr val="F0F4F8"/>
                </a:solidFill>
                <a:latin typeface="Calibri"/>
              </a:rPr>
              <a:t>Reporter and Resolver workflow</a:t>
            </a:r>
          </a:p>
          <a:p>
            <a:pPr algn="l">
              <a:spcAft>
                <a:spcPts val="900"/>
              </a:spcAft>
            </a:pPr>
            <a:r>
              <a:rPr sz="1600" b="1" i="0">
                <a:solidFill>
                  <a:srgbClr val="3DDC97"/>
                </a:solidFill>
                <a:latin typeface="Calibri"/>
              </a:rPr>
              <a:t>• </a:t>
            </a:r>
            <a:r>
              <a:rPr sz="1600" b="0" i="0">
                <a:solidFill>
                  <a:srgbClr val="F0F4F8"/>
                </a:solidFill>
                <a:latin typeface="Calibri"/>
              </a:rPr>
              <a:t>Health, lifespan, pollution engine</a:t>
            </a:r>
          </a:p>
          <a:p>
            <a:pPr algn="l">
              <a:spcAft>
                <a:spcPts val="900"/>
              </a:spcAft>
            </a:pPr>
            <a:r>
              <a:rPr sz="1600" b="1" i="0">
                <a:solidFill>
                  <a:srgbClr val="3DDC97"/>
                </a:solidFill>
                <a:latin typeface="Calibri"/>
              </a:rPr>
              <a:t>• </a:t>
            </a:r>
            <a:r>
              <a:rPr sz="1600" b="0" i="0">
                <a:solidFill>
                  <a:srgbClr val="F0F4F8"/>
                </a:solidFill>
                <a:latin typeface="Calibri"/>
              </a:rPr>
              <a:t>Alternatives, incentives, Decision Gate</a:t>
            </a:r>
          </a:p>
          <a:p>
            <a:pPr algn="l">
              <a:spcAft>
                <a:spcPts val="900"/>
              </a:spcAft>
            </a:pPr>
            <a:r>
              <a:rPr sz="1600" b="1" i="0">
                <a:solidFill>
                  <a:srgbClr val="3DDC97"/>
                </a:solidFill>
                <a:latin typeface="Calibri"/>
              </a:rPr>
              <a:t>• </a:t>
            </a:r>
            <a:r>
              <a:rPr sz="1600" b="0" i="0">
                <a:solidFill>
                  <a:srgbClr val="F0F4F8"/>
                </a:solidFill>
                <a:latin typeface="Calibri"/>
              </a:rPr>
              <a:t>Hash-chained audit; 151 tests passing</a:t>
            </a:r>
          </a:p>
        </p:txBody>
      </p:sp>
      <p:sp>
        <p:nvSpPr>
          <p:cNvPr id="10" name="Rounded Rectangle 9"/>
          <p:cNvSpPr/>
          <p:nvPr/>
        </p:nvSpPr>
        <p:spPr>
          <a:xfrm>
            <a:off x="4297679" y="1645920"/>
            <a:ext cx="3593592" cy="3794760"/>
          </a:xfrm>
          <a:prstGeom prst="roundRect">
            <a:avLst>
              <a:gd name="adj" fmla="val 1526"/>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59" y="1719072"/>
            <a:ext cx="3200400" cy="365760"/>
          </a:xfrm>
          <a:prstGeom prst="rect">
            <a:avLst/>
          </a:prstGeom>
          <a:noFill/>
        </p:spPr>
        <p:txBody>
          <a:bodyPr wrap="square" lIns="45720" tIns="27432" rIns="45720" bIns="27432" anchor="t">
            <a:spAutoFit/>
          </a:bodyPr>
          <a:lstStyle/>
          <a:p>
            <a:pPr algn="l">
              <a:spcAft>
                <a:spcPts val="0"/>
              </a:spcAft>
            </a:pPr>
            <a:r>
              <a:rPr sz="1600" b="1" i="0">
                <a:solidFill>
                  <a:srgbClr val="4DA3F0"/>
                </a:solidFill>
                <a:latin typeface="Calibri"/>
              </a:rPr>
              <a:t>NEXT</a:t>
            </a:r>
          </a:p>
        </p:txBody>
      </p:sp>
      <p:sp>
        <p:nvSpPr>
          <p:cNvPr id="12" name="TextBox 11"/>
          <p:cNvSpPr txBox="1"/>
          <p:nvPr/>
        </p:nvSpPr>
        <p:spPr>
          <a:xfrm>
            <a:off x="4480559" y="2148840"/>
            <a:ext cx="3246120" cy="3246120"/>
          </a:xfrm>
          <a:prstGeom prst="rect">
            <a:avLst/>
          </a:prstGeom>
          <a:noFill/>
        </p:spPr>
        <p:txBody>
          <a:bodyPr wrap="square" lIns="45720" tIns="27432" rIns="45720" bIns="27432" anchor="t">
            <a:spAutoFit/>
          </a:bodyPr>
          <a:lstStyle/>
          <a:p>
            <a:pPr algn="l">
              <a:spcAft>
                <a:spcPts val="900"/>
              </a:spcAft>
            </a:pPr>
            <a:r>
              <a:rPr sz="1600" b="1" i="0" dirty="0">
                <a:solidFill>
                  <a:srgbClr val="4DA3F0"/>
                </a:solidFill>
                <a:latin typeface="Calibri"/>
              </a:rPr>
              <a:t>• </a:t>
            </a:r>
            <a:r>
              <a:rPr sz="1600" b="0" i="0" dirty="0">
                <a:solidFill>
                  <a:srgbClr val="F0F4F8"/>
                </a:solidFill>
                <a:latin typeface="Calibri"/>
              </a:rPr>
              <a:t>Cross-replica lease (</a:t>
            </a:r>
            <a:r>
              <a:rPr sz="1600" b="0" i="0" dirty="0" err="1">
                <a:solidFill>
                  <a:srgbClr val="F0F4F8"/>
                </a:solidFill>
                <a:latin typeface="Calibri"/>
              </a:rPr>
              <a:t>Firestore</a:t>
            </a:r>
            <a:r>
              <a:rPr sz="1600" b="0" i="0" dirty="0">
                <a:solidFill>
                  <a:srgbClr val="F0F4F8"/>
                </a:solidFill>
                <a:latin typeface="Calibri"/>
              </a:rPr>
              <a:t>)</a:t>
            </a:r>
          </a:p>
          <a:p>
            <a:pPr algn="l">
              <a:spcAft>
                <a:spcPts val="900"/>
              </a:spcAft>
            </a:pPr>
            <a:r>
              <a:rPr sz="1600" b="1" i="0" dirty="0">
                <a:solidFill>
                  <a:srgbClr val="4DA3F0"/>
                </a:solidFill>
                <a:latin typeface="Calibri"/>
              </a:rPr>
              <a:t>• </a:t>
            </a:r>
            <a:r>
              <a:rPr sz="1600" b="0" i="0" dirty="0">
                <a:solidFill>
                  <a:srgbClr val="F0F4F8"/>
                </a:solidFill>
                <a:latin typeface="Calibri"/>
              </a:rPr>
              <a:t>Request deadline and waiter cap</a:t>
            </a:r>
          </a:p>
          <a:p>
            <a:pPr algn="l">
              <a:spcAft>
                <a:spcPts val="900"/>
              </a:spcAft>
            </a:pPr>
            <a:r>
              <a:rPr sz="1600" b="1" i="0" dirty="0">
                <a:solidFill>
                  <a:srgbClr val="4DA3F0"/>
                </a:solidFill>
                <a:latin typeface="Calibri"/>
              </a:rPr>
              <a:t>• </a:t>
            </a:r>
            <a:r>
              <a:rPr sz="1600" b="0" i="0" dirty="0">
                <a:solidFill>
                  <a:srgbClr val="F0F4F8"/>
                </a:solidFill>
                <a:latin typeface="Calibri"/>
              </a:rPr>
              <a:t>Verify India schemes with authorities</a:t>
            </a:r>
          </a:p>
          <a:p>
            <a:pPr algn="l">
              <a:spcAft>
                <a:spcPts val="900"/>
              </a:spcAft>
            </a:pPr>
            <a:r>
              <a:rPr sz="1600" b="1" i="0" dirty="0">
                <a:solidFill>
                  <a:srgbClr val="4DA3F0"/>
                </a:solidFill>
                <a:latin typeface="Calibri"/>
              </a:rPr>
              <a:t>• </a:t>
            </a:r>
            <a:r>
              <a:rPr sz="1600" b="0" i="0" dirty="0">
                <a:solidFill>
                  <a:srgbClr val="F0F4F8"/>
                </a:solidFill>
                <a:latin typeface="Calibri"/>
              </a:rPr>
              <a:t>Real role-based access control</a:t>
            </a:r>
          </a:p>
          <a:p>
            <a:pPr algn="l">
              <a:spcAft>
                <a:spcPts val="900"/>
              </a:spcAft>
            </a:pPr>
            <a:r>
              <a:rPr sz="1600" b="1" i="0" dirty="0">
                <a:solidFill>
                  <a:srgbClr val="4DA3F0"/>
                </a:solidFill>
                <a:latin typeface="Calibri"/>
              </a:rPr>
              <a:t>• </a:t>
            </a:r>
            <a:r>
              <a:rPr sz="1600" b="0" i="0" dirty="0">
                <a:solidFill>
                  <a:srgbClr val="F0F4F8"/>
                </a:solidFill>
                <a:latin typeface="Calibri"/>
              </a:rPr>
              <a:t>Measure template depth and latency</a:t>
            </a:r>
          </a:p>
          <a:p>
            <a:pPr algn="l">
              <a:spcAft>
                <a:spcPts val="900"/>
              </a:spcAft>
            </a:pPr>
            <a:r>
              <a:rPr sz="1600" b="1" i="0" dirty="0">
                <a:solidFill>
                  <a:srgbClr val="4DA3F0"/>
                </a:solidFill>
                <a:latin typeface="Calibri"/>
              </a:rPr>
              <a:t>• </a:t>
            </a:r>
            <a:r>
              <a:rPr sz="1600" b="0" i="0" dirty="0">
                <a:solidFill>
                  <a:srgbClr val="F0F4F8"/>
                </a:solidFill>
                <a:latin typeface="Calibri"/>
              </a:rPr>
              <a:t>Show grounding citations in the UI</a:t>
            </a:r>
          </a:p>
        </p:txBody>
      </p:sp>
      <p:sp>
        <p:nvSpPr>
          <p:cNvPr id="13" name="Rounded Rectangle 12"/>
          <p:cNvSpPr/>
          <p:nvPr/>
        </p:nvSpPr>
        <p:spPr>
          <a:xfrm>
            <a:off x="8046719" y="1645920"/>
            <a:ext cx="3593592" cy="3794760"/>
          </a:xfrm>
          <a:prstGeom prst="roundRect">
            <a:avLst>
              <a:gd name="adj" fmla="val 1526"/>
            </a:avLst>
          </a:prstGeom>
          <a:solidFill>
            <a:srgbClr val="16212B"/>
          </a:solidFill>
          <a:ln w="1905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599" y="1719072"/>
            <a:ext cx="3200400" cy="36576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LATER</a:t>
            </a:r>
          </a:p>
        </p:txBody>
      </p:sp>
      <p:sp>
        <p:nvSpPr>
          <p:cNvPr id="15" name="TextBox 14"/>
          <p:cNvSpPr txBox="1"/>
          <p:nvPr/>
        </p:nvSpPr>
        <p:spPr>
          <a:xfrm>
            <a:off x="8229599" y="2148840"/>
            <a:ext cx="3246120" cy="3246120"/>
          </a:xfrm>
          <a:prstGeom prst="rect">
            <a:avLst/>
          </a:prstGeom>
          <a:noFill/>
        </p:spPr>
        <p:txBody>
          <a:bodyPr wrap="square" lIns="45720" tIns="27432" rIns="45720" bIns="27432" anchor="t">
            <a:spAutoFit/>
          </a:bodyPr>
          <a:lstStyle/>
          <a:p>
            <a:pPr algn="l">
              <a:spcAft>
                <a:spcPts val="900"/>
              </a:spcAft>
            </a:pPr>
            <a:r>
              <a:rPr sz="1600" b="1" i="0" dirty="0">
                <a:solidFill>
                  <a:srgbClr val="9FB3C8"/>
                </a:solidFill>
                <a:latin typeface="Calibri"/>
              </a:rPr>
              <a:t>• </a:t>
            </a:r>
            <a:r>
              <a:rPr sz="1600" b="0" i="0" dirty="0">
                <a:solidFill>
                  <a:srgbClr val="F0F4F8"/>
                </a:solidFill>
                <a:latin typeface="Calibri"/>
              </a:rPr>
              <a:t>Sensor ingestion (Pub/Sub, </a:t>
            </a:r>
            <a:r>
              <a:rPr sz="1600" b="0" i="0" dirty="0" err="1">
                <a:solidFill>
                  <a:srgbClr val="F0F4F8"/>
                </a:solidFill>
                <a:latin typeface="Calibri"/>
              </a:rPr>
              <a:t>BigQuery</a:t>
            </a:r>
            <a:r>
              <a:rPr sz="1600" b="0" i="0" dirty="0">
                <a:solidFill>
                  <a:srgbClr val="F0F4F8"/>
                </a:solidFill>
                <a:latin typeface="Calibri"/>
              </a:rPr>
              <a:t>)</a:t>
            </a:r>
          </a:p>
          <a:p>
            <a:pPr algn="l">
              <a:spcAft>
                <a:spcPts val="900"/>
              </a:spcAft>
            </a:pPr>
            <a:r>
              <a:rPr sz="1600" b="1" i="0" dirty="0">
                <a:solidFill>
                  <a:srgbClr val="9FB3C8"/>
                </a:solidFill>
                <a:latin typeface="Calibri"/>
              </a:rPr>
              <a:t>• </a:t>
            </a:r>
            <a:r>
              <a:rPr sz="1600" b="0" i="0" dirty="0">
                <a:solidFill>
                  <a:srgbClr val="F0F4F8"/>
                </a:solidFill>
                <a:latin typeface="Calibri"/>
              </a:rPr>
              <a:t>Regulation retrieval (Vertex AI Search)</a:t>
            </a:r>
          </a:p>
          <a:p>
            <a:pPr algn="l">
              <a:spcAft>
                <a:spcPts val="900"/>
              </a:spcAft>
            </a:pPr>
            <a:r>
              <a:rPr sz="1600" b="1" i="0" dirty="0">
                <a:solidFill>
                  <a:srgbClr val="9FB3C8"/>
                </a:solidFill>
                <a:latin typeface="Calibri"/>
              </a:rPr>
              <a:t>• </a:t>
            </a:r>
            <a:r>
              <a:rPr sz="1600" b="0" i="0" dirty="0">
                <a:solidFill>
                  <a:srgbClr val="F0F4F8"/>
                </a:solidFill>
                <a:latin typeface="Calibri"/>
              </a:rPr>
              <a:t>Agent Engine orchestration</a:t>
            </a:r>
          </a:p>
          <a:p>
            <a:pPr algn="l">
              <a:spcAft>
                <a:spcPts val="900"/>
              </a:spcAft>
            </a:pPr>
            <a:r>
              <a:rPr sz="1600" b="1" i="0" dirty="0">
                <a:solidFill>
                  <a:srgbClr val="9FB3C8"/>
                </a:solidFill>
                <a:latin typeface="Calibri"/>
              </a:rPr>
              <a:t>• </a:t>
            </a:r>
            <a:r>
              <a:rPr sz="1600" b="0" i="0" dirty="0">
                <a:solidFill>
                  <a:srgbClr val="F0F4F8"/>
                </a:solidFill>
                <a:latin typeface="Calibri"/>
              </a:rPr>
              <a:t>Integrity gate: source and baseline checks</a:t>
            </a:r>
          </a:p>
          <a:p>
            <a:pPr algn="l">
              <a:spcAft>
                <a:spcPts val="900"/>
              </a:spcAft>
            </a:pPr>
            <a:r>
              <a:rPr sz="1600" b="1" i="0" dirty="0">
                <a:solidFill>
                  <a:srgbClr val="9FB3C8"/>
                </a:solidFill>
                <a:latin typeface="Calibri"/>
              </a:rPr>
              <a:t>• </a:t>
            </a:r>
            <a:r>
              <a:rPr sz="1600" b="0" i="0" dirty="0">
                <a:solidFill>
                  <a:srgbClr val="F0F4F8"/>
                </a:solidFill>
                <a:latin typeface="Calibri"/>
              </a:rPr>
              <a:t>Supply-chain footprint passport</a:t>
            </a:r>
          </a:p>
          <a:p>
            <a:pPr algn="l">
              <a:spcAft>
                <a:spcPts val="900"/>
              </a:spcAft>
            </a:pPr>
            <a:r>
              <a:rPr sz="1600" b="1" i="0" dirty="0">
                <a:solidFill>
                  <a:srgbClr val="9FB3C8"/>
                </a:solidFill>
                <a:latin typeface="Calibri"/>
              </a:rPr>
              <a:t>• </a:t>
            </a:r>
            <a:r>
              <a:rPr sz="1600" b="0" i="0" dirty="0">
                <a:solidFill>
                  <a:srgbClr val="F0F4F8"/>
                </a:solidFill>
                <a:latin typeface="Calibri"/>
              </a:rPr>
              <a:t>Calibrate against real machine data</a:t>
            </a:r>
          </a:p>
        </p:txBody>
      </p:sp>
      <p:sp>
        <p:nvSpPr>
          <p:cNvPr id="16" name="Rounded Rectangle 15"/>
          <p:cNvSpPr/>
          <p:nvPr/>
        </p:nvSpPr>
        <p:spPr>
          <a:xfrm>
            <a:off x="548640" y="5623560"/>
            <a:ext cx="11091672" cy="548640"/>
          </a:xfrm>
          <a:prstGeom prst="roundRect">
            <a:avLst>
              <a:gd name="adj" fmla="val 13333"/>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400" b="1" i="0">
                <a:solidFill>
                  <a:srgbClr val="FF7A7A"/>
                </a:solidFill>
                <a:latin typeface="Calibri"/>
              </a:rPr>
              <a:t>Out of scope for now: </a:t>
            </a:r>
            <a:r>
              <a:rPr sz="1400" b="0" i="0">
                <a:solidFill>
                  <a:srgbClr val="F0F4F8"/>
                </a:solidFill>
                <a:latin typeface="Calibri"/>
              </a:rPr>
              <a:t>official certification and a public registry. Scores are evidence records, not certificates.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Oval 1"/>
          <p:cNvSpPr/>
          <p:nvPr/>
        </p:nvSpPr>
        <p:spPr>
          <a:xfrm>
            <a:off x="8138160" y="457200"/>
            <a:ext cx="4754880" cy="4754880"/>
          </a:xfrm>
          <a:prstGeom prst="ellipse">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595360" y="914400"/>
            <a:ext cx="3840480" cy="3840480"/>
          </a:xfrm>
          <a:prstGeom prst="ellipse">
            <a:avLst/>
          </a:prstGeom>
          <a:noFill/>
          <a:ln w="9525">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0080"/>
            <a:ext cx="5486400" cy="365760"/>
          </a:xfrm>
          <a:prstGeom prst="rect">
            <a:avLst/>
          </a:prstGeom>
          <a:noFill/>
        </p:spPr>
        <p:txBody>
          <a:bodyPr wrap="square" lIns="45720" tIns="27432" rIns="45720" bIns="27432" anchor="t">
            <a:spAutoFit/>
          </a:bodyPr>
          <a:lstStyle/>
          <a:p>
            <a:pPr algn="l">
              <a:spcAft>
                <a:spcPts val="0"/>
              </a:spcAft>
            </a:pPr>
            <a:r>
              <a:rPr sz="1400" b="1" i="0">
                <a:solidFill>
                  <a:srgbClr val="3DDC97"/>
                </a:solidFill>
                <a:latin typeface="Calibri"/>
              </a:rPr>
              <a:t>TERRAVOW</a:t>
            </a:r>
          </a:p>
        </p:txBody>
      </p:sp>
      <p:sp>
        <p:nvSpPr>
          <p:cNvPr id="5" name="TextBox 4"/>
          <p:cNvSpPr txBox="1"/>
          <p:nvPr/>
        </p:nvSpPr>
        <p:spPr>
          <a:xfrm>
            <a:off x="548640" y="1188720"/>
            <a:ext cx="8412480" cy="2651760"/>
          </a:xfrm>
          <a:prstGeom prst="rect">
            <a:avLst/>
          </a:prstGeom>
          <a:noFill/>
        </p:spPr>
        <p:txBody>
          <a:bodyPr wrap="square" lIns="45720" tIns="27432" rIns="45720" bIns="27432" anchor="t">
            <a:spAutoFit/>
          </a:bodyPr>
          <a:lstStyle/>
          <a:p>
            <a:pPr algn="l">
              <a:lnSpc>
                <a:spcPct val="100000"/>
              </a:lnSpc>
              <a:spcAft>
                <a:spcPts val="0"/>
              </a:spcAft>
            </a:pPr>
            <a:r>
              <a:rPr sz="5400" b="1" i="0">
                <a:solidFill>
                  <a:srgbClr val="F0F4F8"/>
                </a:solidFill>
                <a:latin typeface="Calibri"/>
              </a:rPr>
              <a:t>Fix the machine.</a:t>
            </a:r>
          </a:p>
          <a:p>
            <a:pPr algn="l">
              <a:lnSpc>
                <a:spcPct val="100000"/>
              </a:lnSpc>
              <a:spcAft>
                <a:spcPts val="0"/>
              </a:spcAft>
            </a:pPr>
            <a:r>
              <a:rPr sz="5400" b="1" i="0">
                <a:solidFill>
                  <a:srgbClr val="F0F4F8"/>
                </a:solidFill>
                <a:latin typeface="Calibri"/>
              </a:rPr>
              <a:t>Cut the smoke.</a:t>
            </a:r>
          </a:p>
          <a:p>
            <a:pPr algn="l">
              <a:lnSpc>
                <a:spcPct val="100000"/>
              </a:lnSpc>
              <a:spcAft>
                <a:spcPts val="0"/>
              </a:spcAft>
            </a:pPr>
            <a:r>
              <a:rPr sz="5400" b="1" i="0">
                <a:solidFill>
                  <a:srgbClr val="F0F4F8"/>
                </a:solidFill>
                <a:latin typeface="Calibri"/>
              </a:rPr>
              <a:t>Keep the growth.</a:t>
            </a:r>
          </a:p>
        </p:txBody>
      </p:sp>
      <p:sp>
        <p:nvSpPr>
          <p:cNvPr id="6" name="TextBox 5"/>
          <p:cNvSpPr txBox="1"/>
          <p:nvPr/>
        </p:nvSpPr>
        <p:spPr>
          <a:xfrm>
            <a:off x="548640" y="3840480"/>
            <a:ext cx="8229600" cy="822960"/>
          </a:xfrm>
          <a:prstGeom prst="rect">
            <a:avLst/>
          </a:prstGeom>
          <a:noFill/>
        </p:spPr>
        <p:txBody>
          <a:bodyPr wrap="square" lIns="45720" tIns="27432" rIns="45720" bIns="27432" anchor="t">
            <a:spAutoFit/>
          </a:bodyPr>
          <a:lstStyle/>
          <a:p>
            <a:pPr algn="l">
              <a:spcAft>
                <a:spcPts val="0"/>
              </a:spcAft>
            </a:pPr>
            <a:r>
              <a:rPr sz="2000" b="0" i="0">
                <a:solidFill>
                  <a:srgbClr val="3DDC97"/>
                </a:solidFill>
                <a:latin typeface="Calibri"/>
              </a:rPr>
              <a:t>Factories will keep growing. TerraVow makes sure the growth is clean.</a:t>
            </a:r>
          </a:p>
        </p:txBody>
      </p:sp>
      <p:sp>
        <p:nvSpPr>
          <p:cNvPr id="7" name="Rounded Rectangle 6"/>
          <p:cNvSpPr/>
          <p:nvPr/>
        </p:nvSpPr>
        <p:spPr>
          <a:xfrm>
            <a:off x="562087" y="4892040"/>
            <a:ext cx="2606040" cy="914400"/>
          </a:xfrm>
          <a:prstGeom prst="roundRect">
            <a:avLst>
              <a:gd name="adj" fmla="val 8000"/>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400" b="1" i="0" dirty="0">
                <a:solidFill>
                  <a:srgbClr val="3DDC97"/>
                </a:solidFill>
                <a:latin typeface="Calibri"/>
              </a:rPr>
              <a:t>Try it</a:t>
            </a:r>
          </a:p>
          <a:p>
            <a:pPr algn="ctr">
              <a:spcAft>
                <a:spcPts val="0"/>
              </a:spcAft>
            </a:pPr>
            <a:r>
              <a:rPr lang="en-IN" sz="1500" b="1" dirty="0">
                <a:solidFill>
                  <a:srgbClr val="F2B84B"/>
                </a:solidFill>
              </a:rPr>
              <a:t>https://terravow-qqd2ckoqhq-el.a.run.app/</a:t>
            </a:r>
            <a:endParaRPr sz="1500" b="1" i="0" dirty="0">
              <a:solidFill>
                <a:srgbClr val="F2B84B"/>
              </a:solidFill>
              <a:latin typeface="Calibri"/>
            </a:endParaRPr>
          </a:p>
        </p:txBody>
      </p:sp>
      <p:sp>
        <p:nvSpPr>
          <p:cNvPr id="8" name="Rounded Rectangle 7"/>
          <p:cNvSpPr/>
          <p:nvPr/>
        </p:nvSpPr>
        <p:spPr>
          <a:xfrm>
            <a:off x="3291840" y="4892040"/>
            <a:ext cx="2606040" cy="914400"/>
          </a:xfrm>
          <a:prstGeom prst="roundRect">
            <a:avLst>
              <a:gd name="adj" fmla="val 8000"/>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400" b="1" i="0" dirty="0">
                <a:solidFill>
                  <a:srgbClr val="3DDC97"/>
                </a:solidFill>
                <a:latin typeface="Calibri"/>
              </a:rPr>
              <a:t>Read it</a:t>
            </a:r>
          </a:p>
          <a:p>
            <a:pPr algn="ctr">
              <a:spcAft>
                <a:spcPts val="0"/>
              </a:spcAft>
            </a:pPr>
            <a:r>
              <a:rPr lang="en-IN" sz="1500" b="1" dirty="0">
                <a:solidFill>
                  <a:srgbClr val="F2B84B"/>
                </a:solidFill>
              </a:rPr>
              <a:t>https://</a:t>
            </a:r>
            <a:r>
              <a:rPr lang="en-IN" sz="1500" b="1" dirty="0" err="1">
                <a:solidFill>
                  <a:srgbClr val="F2B84B"/>
                </a:solidFill>
              </a:rPr>
              <a:t>github.com</a:t>
            </a:r>
            <a:r>
              <a:rPr lang="en-IN" sz="1500" b="1" dirty="0">
                <a:solidFill>
                  <a:srgbClr val="F2B84B"/>
                </a:solidFill>
              </a:rPr>
              <a:t>/</a:t>
            </a:r>
            <a:r>
              <a:rPr lang="en-IN" sz="1500" b="1" dirty="0" err="1">
                <a:solidFill>
                  <a:srgbClr val="F2B84B"/>
                </a:solidFill>
              </a:rPr>
              <a:t>rachitGupta</a:t>
            </a:r>
            <a:r>
              <a:rPr lang="en-IN" sz="1500" b="1" dirty="0">
                <a:solidFill>
                  <a:srgbClr val="F2B84B"/>
                </a:solidFill>
              </a:rPr>
              <a:t>-ai/</a:t>
            </a:r>
            <a:r>
              <a:rPr lang="en-IN" sz="1500" b="1" dirty="0" err="1">
                <a:solidFill>
                  <a:srgbClr val="F2B84B"/>
                </a:solidFill>
              </a:rPr>
              <a:t>TerraVow</a:t>
            </a:r>
            <a:endParaRPr sz="1500" b="1" i="0" dirty="0">
              <a:solidFill>
                <a:srgbClr val="F2B84B"/>
              </a:solidFill>
              <a:latin typeface="Calibri"/>
            </a:endParaRPr>
          </a:p>
        </p:txBody>
      </p:sp>
      <p:sp>
        <p:nvSpPr>
          <p:cNvPr id="9" name="Rounded Rectangle 8"/>
          <p:cNvSpPr/>
          <p:nvPr/>
        </p:nvSpPr>
        <p:spPr>
          <a:xfrm>
            <a:off x="6035040" y="4892040"/>
            <a:ext cx="2606040" cy="914400"/>
          </a:xfrm>
          <a:prstGeom prst="roundRect">
            <a:avLst>
              <a:gd name="adj" fmla="val 8000"/>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lang="en-US" sz="1400" b="1" i="0" dirty="0">
                <a:solidFill>
                  <a:srgbClr val="3DDC97"/>
                </a:solidFill>
                <a:latin typeface="Calibri"/>
              </a:rPr>
              <a:t>Demo video link</a:t>
            </a:r>
            <a:endParaRPr sz="1400" b="1" i="0" dirty="0">
              <a:solidFill>
                <a:srgbClr val="3DDC97"/>
              </a:solidFill>
              <a:latin typeface="Calibri"/>
            </a:endParaRPr>
          </a:p>
          <a:p>
            <a:pPr algn="ctr">
              <a:spcAft>
                <a:spcPts val="0"/>
              </a:spcAft>
            </a:pPr>
            <a:r>
              <a:rPr sz="1500" b="1" i="0" dirty="0">
                <a:solidFill>
                  <a:srgbClr val="F2B84B"/>
                </a:solidFill>
                <a:latin typeface="Calibri"/>
              </a:rPr>
              <a:t>[Contact]</a:t>
            </a:r>
          </a:p>
        </p:txBody>
      </p:sp>
      <p:sp>
        <p:nvSpPr>
          <p:cNvPr id="10" name="TextBox 9"/>
          <p:cNvSpPr txBox="1"/>
          <p:nvPr/>
        </p:nvSpPr>
        <p:spPr>
          <a:xfrm>
            <a:off x="548640" y="5989320"/>
            <a:ext cx="10972800" cy="457200"/>
          </a:xfrm>
          <a:prstGeom prst="rect">
            <a:avLst/>
          </a:prstGeom>
          <a:noFill/>
        </p:spPr>
        <p:txBody>
          <a:bodyPr wrap="square" lIns="45720" tIns="27432" rIns="45720" bIns="27432" anchor="t">
            <a:spAutoFit/>
          </a:bodyPr>
          <a:lstStyle/>
          <a:p>
            <a:pPr algn="l">
              <a:spcAft>
                <a:spcPts val="0"/>
              </a:spcAft>
            </a:pPr>
            <a:r>
              <a:rPr sz="1300" b="0" i="0">
                <a:solidFill>
                  <a:srgbClr val="9FB3C8"/>
                </a:solidFill>
                <a:latin typeface="Calibri"/>
              </a:rPr>
              <a:t>We are looking for: one pilot plant in a highly polluting sector  |  help verifying India scheme terms  |  your feedback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Appendix A | Component map, as built</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APPENDIX</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docs/system-architecture.md (Component Map). Simplified into layers for legibility; the full-resolution diagram is in docs/deck/assets/.</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21</a:t>
            </a:r>
          </a:p>
        </p:txBody>
      </p:sp>
      <p:sp>
        <p:nvSpPr>
          <p:cNvPr id="7" name="Rounded Rectangle 6"/>
          <p:cNvSpPr/>
          <p:nvPr/>
        </p:nvSpPr>
        <p:spPr>
          <a:xfrm>
            <a:off x="548640" y="1600200"/>
            <a:ext cx="2377440" cy="731520"/>
          </a:xfrm>
          <a:prstGeom prst="roundRect">
            <a:avLst>
              <a:gd name="adj" fmla="val 10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F0F4F8"/>
                </a:solidFill>
                <a:latin typeface="Calibri"/>
              </a:rPr>
              <a:t>Browser</a:t>
            </a:r>
          </a:p>
          <a:p>
            <a:pPr algn="ctr">
              <a:spcAft>
                <a:spcPts val="0"/>
              </a:spcAft>
            </a:pPr>
            <a:r>
              <a:rPr sz="1200" b="0" i="0">
                <a:solidFill>
                  <a:srgbClr val="9FB3C8"/>
                </a:solidFill>
                <a:latin typeface="Calibri"/>
              </a:rPr>
              <a:t>index.html + vanilla JS</a:t>
            </a:r>
          </a:p>
        </p:txBody>
      </p:sp>
      <p:cxnSp>
        <p:nvCxnSpPr>
          <p:cNvPr id="8" name="Connector 7"/>
          <p:cNvCxnSpPr/>
          <p:nvPr/>
        </p:nvCxnSpPr>
        <p:spPr>
          <a:xfrm>
            <a:off x="2944368" y="1965960"/>
            <a:ext cx="347472" cy="0"/>
          </a:xfrm>
          <a:prstGeom prst="line">
            <a:avLst/>
          </a:prstGeom>
          <a:ln w="31750">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10128" y="1600200"/>
            <a:ext cx="8321040" cy="731520"/>
          </a:xfrm>
          <a:prstGeom prst="roundRect">
            <a:avLst>
              <a:gd name="adj" fmla="val 10000"/>
            </a:avLst>
          </a:prstGeom>
          <a:solidFill>
            <a:srgbClr val="0E141B"/>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82880" tIns="27432" rIns="182880" bIns="27432" rtlCol="0" anchor="ctr"/>
          <a:lstStyle/>
          <a:p>
            <a:pPr algn="l">
              <a:spcAft>
                <a:spcPts val="0"/>
              </a:spcAft>
            </a:pPr>
            <a:r>
              <a:rPr sz="1500" b="1" i="0">
                <a:solidFill>
                  <a:srgbClr val="3DDC97"/>
                </a:solidFill>
                <a:latin typeface="Calibri"/>
              </a:rPr>
              <a:t>FastAPI  </a:t>
            </a:r>
            <a:r>
              <a:rPr sz="1300" b="0" i="0">
                <a:solidFill>
                  <a:srgbClr val="F0F4F8"/>
                </a:solidFill>
                <a:latin typeface="Calibri"/>
              </a:rPr>
              <a:t>main.py (app, startup seeding, /api/health)  +  routes_ext.py (all /api endpoints)</a:t>
            </a:r>
          </a:p>
        </p:txBody>
      </p:sp>
      <p:sp>
        <p:nvSpPr>
          <p:cNvPr id="10" name="TextBox 9"/>
          <p:cNvSpPr txBox="1"/>
          <p:nvPr/>
        </p:nvSpPr>
        <p:spPr>
          <a:xfrm>
            <a:off x="548640" y="2395728"/>
            <a:ext cx="5486400" cy="256032"/>
          </a:xfrm>
          <a:prstGeom prst="rect">
            <a:avLst/>
          </a:prstGeom>
          <a:noFill/>
        </p:spPr>
        <p:txBody>
          <a:bodyPr wrap="square" lIns="45720" tIns="27432" rIns="45720" bIns="27432" anchor="t">
            <a:spAutoFit/>
          </a:bodyPr>
          <a:lstStyle/>
          <a:p>
            <a:pPr algn="l">
              <a:spcAft>
                <a:spcPts val="0"/>
              </a:spcAft>
            </a:pPr>
            <a:r>
              <a:rPr sz="1100" b="1" i="0">
                <a:solidFill>
                  <a:srgbClr val="9FB3C8"/>
                </a:solidFill>
                <a:latin typeface="Calibri"/>
              </a:rPr>
              <a:t>DOMAIN MODULES</a:t>
            </a:r>
          </a:p>
        </p:txBody>
      </p:sp>
      <p:sp>
        <p:nvSpPr>
          <p:cNvPr id="11" name="Rounded Rectangle 10"/>
          <p:cNvSpPr/>
          <p:nvPr/>
        </p:nvSpPr>
        <p:spPr>
          <a:xfrm>
            <a:off x="548640" y="2651760"/>
            <a:ext cx="1764792" cy="1051560"/>
          </a:xfrm>
          <a:prstGeom prst="roundRect">
            <a:avLst>
              <a:gd name="adj" fmla="val 6956"/>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0F4F8"/>
                </a:solidFill>
                <a:latin typeface="Calibri"/>
              </a:rPr>
              <a:t>industries.py</a:t>
            </a:r>
          </a:p>
          <a:p>
            <a:pPr algn="ctr">
              <a:spcAft>
                <a:spcPts val="0"/>
              </a:spcAft>
            </a:pPr>
            <a:r>
              <a:rPr sz="1100" b="0" i="0">
                <a:solidFill>
                  <a:srgbClr val="9FB3C8"/>
                </a:solidFill>
                <a:latin typeface="Calibri"/>
              </a:rPr>
              <a:t>4 industries, domains, model_key</a:t>
            </a:r>
          </a:p>
        </p:txBody>
      </p:sp>
      <p:sp>
        <p:nvSpPr>
          <p:cNvPr id="12" name="Rounded Rectangle 11"/>
          <p:cNvSpPr/>
          <p:nvPr/>
        </p:nvSpPr>
        <p:spPr>
          <a:xfrm>
            <a:off x="2414016" y="2651760"/>
            <a:ext cx="1764792" cy="1051560"/>
          </a:xfrm>
          <a:prstGeom prst="roundRect">
            <a:avLst>
              <a:gd name="adj" fmla="val 6956"/>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0F4F8"/>
                </a:solidFill>
                <a:latin typeface="Calibri"/>
              </a:rPr>
              <a:t>catalogue.py</a:t>
            </a:r>
          </a:p>
          <a:p>
            <a:pPr algn="ctr">
              <a:spcAft>
                <a:spcPts val="0"/>
              </a:spcAft>
            </a:pPr>
            <a:r>
              <a:rPr sz="1100" b="0" i="0">
                <a:solidFill>
                  <a:srgbClr val="9FB3C8"/>
                </a:solidFill>
                <a:latin typeface="Calibri"/>
              </a:rPr>
              <a:t>search, manual entry</a:t>
            </a:r>
          </a:p>
        </p:txBody>
      </p:sp>
      <p:sp>
        <p:nvSpPr>
          <p:cNvPr id="13" name="Rounded Rectangle 12"/>
          <p:cNvSpPr/>
          <p:nvPr/>
        </p:nvSpPr>
        <p:spPr>
          <a:xfrm>
            <a:off x="4279392" y="2651760"/>
            <a:ext cx="1764792" cy="1051560"/>
          </a:xfrm>
          <a:prstGeom prst="roundRect">
            <a:avLst>
              <a:gd name="adj" fmla="val 6956"/>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0F4F8"/>
                </a:solidFill>
                <a:latin typeface="Calibri"/>
              </a:rPr>
              <a:t>templates.py</a:t>
            </a:r>
          </a:p>
          <a:p>
            <a:pPr algn="ctr">
              <a:spcAft>
                <a:spcPts val="0"/>
              </a:spcAft>
            </a:pPr>
            <a:r>
              <a:rPr sz="1100" b="0" i="0">
                <a:solidFill>
                  <a:srgbClr val="9FB3C8"/>
                </a:solidFill>
                <a:latin typeface="Calibri"/>
              </a:rPr>
              <a:t>validate, form schema, base templates</a:t>
            </a:r>
          </a:p>
        </p:txBody>
      </p:sp>
      <p:sp>
        <p:nvSpPr>
          <p:cNvPr id="14" name="Rounded Rectangle 13"/>
          <p:cNvSpPr/>
          <p:nvPr/>
        </p:nvSpPr>
        <p:spPr>
          <a:xfrm>
            <a:off x="6144768" y="2651760"/>
            <a:ext cx="1764792" cy="1051560"/>
          </a:xfrm>
          <a:prstGeom prst="roundRect">
            <a:avLst>
              <a:gd name="adj" fmla="val 6956"/>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0F4F8"/>
                </a:solidFill>
                <a:latin typeface="Calibri"/>
              </a:rPr>
              <a:t>snags.py</a:t>
            </a:r>
          </a:p>
          <a:p>
            <a:pPr algn="ctr">
              <a:spcAft>
                <a:spcPts val="0"/>
              </a:spcAft>
            </a:pPr>
            <a:r>
              <a:rPr sz="1100" b="0" i="0">
                <a:solidFill>
                  <a:srgbClr val="9FB3C8"/>
                </a:solidFill>
                <a:latin typeface="Calibri"/>
              </a:rPr>
              <a:t>submit, redact, transitions, queue</a:t>
            </a:r>
          </a:p>
        </p:txBody>
      </p:sp>
      <p:sp>
        <p:nvSpPr>
          <p:cNvPr id="15" name="Rounded Rectangle 14"/>
          <p:cNvSpPr/>
          <p:nvPr/>
        </p:nvSpPr>
        <p:spPr>
          <a:xfrm>
            <a:off x="8010144" y="2651760"/>
            <a:ext cx="1764792" cy="1051560"/>
          </a:xfrm>
          <a:prstGeom prst="roundRect">
            <a:avLst>
              <a:gd name="adj" fmla="val 6956"/>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0F4F8"/>
                </a:solidFill>
                <a:latin typeface="Calibri"/>
              </a:rPr>
              <a:t>sustain.py</a:t>
            </a:r>
          </a:p>
          <a:p>
            <a:pPr algn="ctr">
              <a:spcAft>
                <a:spcPts val="0"/>
              </a:spcAft>
            </a:pPr>
            <a:r>
              <a:rPr sz="1100" b="0" i="0">
                <a:solidFill>
                  <a:srgbClr val="9FB3C8"/>
                </a:solidFill>
                <a:latin typeface="Calibri"/>
              </a:rPr>
              <a:t>alternatives, incentives, gate use</a:t>
            </a:r>
          </a:p>
        </p:txBody>
      </p:sp>
      <p:sp>
        <p:nvSpPr>
          <p:cNvPr id="16" name="Rounded Rectangle 15"/>
          <p:cNvSpPr/>
          <p:nvPr/>
        </p:nvSpPr>
        <p:spPr>
          <a:xfrm>
            <a:off x="9875519" y="2651760"/>
            <a:ext cx="1764792" cy="1051560"/>
          </a:xfrm>
          <a:prstGeom prst="roundRect">
            <a:avLst>
              <a:gd name="adj" fmla="val 6956"/>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3DDC97"/>
                </a:solidFill>
                <a:latin typeface="Calibri"/>
              </a:rPr>
              <a:t>engine.py</a:t>
            </a:r>
          </a:p>
          <a:p>
            <a:pPr algn="ctr">
              <a:spcAft>
                <a:spcPts val="0"/>
              </a:spcAft>
            </a:pPr>
            <a:r>
              <a:rPr sz="1100" b="0" i="0">
                <a:solidFill>
                  <a:srgbClr val="9FB3C8"/>
                </a:solidFill>
                <a:latin typeface="Calibri"/>
              </a:rPr>
              <a:t>health, lifespan, intensity, economics</a:t>
            </a:r>
          </a:p>
        </p:txBody>
      </p:sp>
      <p:sp>
        <p:nvSpPr>
          <p:cNvPr id="17" name="TextBox 16"/>
          <p:cNvSpPr txBox="1"/>
          <p:nvPr/>
        </p:nvSpPr>
        <p:spPr>
          <a:xfrm>
            <a:off x="548640" y="3767328"/>
            <a:ext cx="5486400" cy="256032"/>
          </a:xfrm>
          <a:prstGeom prst="rect">
            <a:avLst/>
          </a:prstGeom>
          <a:noFill/>
        </p:spPr>
        <p:txBody>
          <a:bodyPr wrap="square" lIns="45720" tIns="27432" rIns="45720" bIns="27432" anchor="t">
            <a:spAutoFit/>
          </a:bodyPr>
          <a:lstStyle/>
          <a:p>
            <a:pPr algn="l">
              <a:spcAft>
                <a:spcPts val="0"/>
              </a:spcAft>
            </a:pPr>
            <a:r>
              <a:rPr sz="1100" b="1" i="0">
                <a:solidFill>
                  <a:srgbClr val="9FB3C8"/>
                </a:solidFill>
                <a:latin typeface="Calibri"/>
              </a:rPr>
              <a:t>SHARED SERVICES</a:t>
            </a:r>
          </a:p>
        </p:txBody>
      </p:sp>
      <p:sp>
        <p:nvSpPr>
          <p:cNvPr id="18" name="Rounded Rectangle 17"/>
          <p:cNvSpPr/>
          <p:nvPr/>
        </p:nvSpPr>
        <p:spPr>
          <a:xfrm>
            <a:off x="548640" y="4023360"/>
            <a:ext cx="2130552" cy="960120"/>
          </a:xfrm>
          <a:prstGeom prst="roundRect">
            <a:avLst>
              <a:gd name="adj" fmla="val 7619"/>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4DA3F0"/>
                </a:solidFill>
                <a:latin typeface="Calibri"/>
              </a:rPr>
              <a:t>cache_once.py</a:t>
            </a:r>
          </a:p>
          <a:p>
            <a:pPr algn="ctr">
              <a:spcAft>
                <a:spcPts val="0"/>
              </a:spcAft>
            </a:pPr>
            <a:r>
              <a:rPr sz="1100" b="0" i="0">
                <a:solidFill>
                  <a:srgbClr val="9FB3C8"/>
                </a:solidFill>
                <a:latin typeface="Calibri"/>
              </a:rPr>
              <a:t>Gemini at most once per key</a:t>
            </a:r>
          </a:p>
        </p:txBody>
      </p:sp>
      <p:sp>
        <p:nvSpPr>
          <p:cNvPr id="19" name="Rounded Rectangle 18"/>
          <p:cNvSpPr/>
          <p:nvPr/>
        </p:nvSpPr>
        <p:spPr>
          <a:xfrm>
            <a:off x="2788920" y="4023360"/>
            <a:ext cx="2130552" cy="960120"/>
          </a:xfrm>
          <a:prstGeom prst="roundRect">
            <a:avLst>
              <a:gd name="adj" fmla="val 7619"/>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4DA3F0"/>
                </a:solidFill>
                <a:latin typeface="Calibri"/>
              </a:rPr>
              <a:t>gemini_client.py</a:t>
            </a:r>
          </a:p>
          <a:p>
            <a:pPr algn="ctr">
              <a:spcAft>
                <a:spcPts val="0"/>
              </a:spcAft>
            </a:pPr>
            <a:r>
              <a:rPr sz="1100" b="0" i="0">
                <a:solidFill>
                  <a:srgbClr val="9FB3C8"/>
                </a:solidFill>
                <a:latin typeface="Calibri"/>
              </a:rPr>
              <a:t>template, specs, alternatives</a:t>
            </a:r>
          </a:p>
        </p:txBody>
      </p:sp>
      <p:sp>
        <p:nvSpPr>
          <p:cNvPr id="20" name="Rounded Rectangle 19"/>
          <p:cNvSpPr/>
          <p:nvPr/>
        </p:nvSpPr>
        <p:spPr>
          <a:xfrm>
            <a:off x="5029200" y="4023360"/>
            <a:ext cx="2130552" cy="960120"/>
          </a:xfrm>
          <a:prstGeom prst="roundRect">
            <a:avLst>
              <a:gd name="adj" fmla="val 7619"/>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F7A7A"/>
                </a:solidFill>
                <a:latin typeface="Calibri"/>
              </a:rPr>
              <a:t>gate.py</a:t>
            </a:r>
          </a:p>
          <a:p>
            <a:pPr algn="ctr">
              <a:spcAft>
                <a:spcPts val="0"/>
              </a:spcAft>
            </a:pPr>
            <a:r>
              <a:rPr sz="1100" b="0" i="0">
                <a:solidFill>
                  <a:srgbClr val="9FB3C8"/>
                </a:solidFill>
                <a:latin typeface="Calibri"/>
              </a:rPr>
              <a:t>hard veto, then confidence</a:t>
            </a:r>
          </a:p>
        </p:txBody>
      </p:sp>
      <p:sp>
        <p:nvSpPr>
          <p:cNvPr id="21" name="Rounded Rectangle 20"/>
          <p:cNvSpPr/>
          <p:nvPr/>
        </p:nvSpPr>
        <p:spPr>
          <a:xfrm>
            <a:off x="7269480" y="4023360"/>
            <a:ext cx="2130552" cy="960120"/>
          </a:xfrm>
          <a:prstGeom prst="roundRect">
            <a:avLst>
              <a:gd name="adj" fmla="val 7619"/>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2B84B"/>
                </a:solidFill>
                <a:latin typeface="Calibri"/>
              </a:rPr>
              <a:t>store.py</a:t>
            </a:r>
          </a:p>
          <a:p>
            <a:pPr algn="ctr">
              <a:spcAft>
                <a:spcPts val="0"/>
              </a:spcAft>
            </a:pPr>
            <a:r>
              <a:rPr sz="1100" b="0" i="0">
                <a:solidFill>
                  <a:srgbClr val="9FB3C8"/>
                </a:solidFill>
                <a:latin typeface="Calibri"/>
              </a:rPr>
              <a:t>memory or Firestore, create_if_absent</a:t>
            </a:r>
          </a:p>
        </p:txBody>
      </p:sp>
      <p:sp>
        <p:nvSpPr>
          <p:cNvPr id="22" name="Rounded Rectangle 21"/>
          <p:cNvSpPr/>
          <p:nvPr/>
        </p:nvSpPr>
        <p:spPr>
          <a:xfrm>
            <a:off x="9509760" y="4023360"/>
            <a:ext cx="2130552" cy="960120"/>
          </a:xfrm>
          <a:prstGeom prst="roundRect">
            <a:avLst>
              <a:gd name="adj" fmla="val 7619"/>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0F4F8"/>
                </a:solidFill>
                <a:latin typeface="Calibri"/>
              </a:rPr>
              <a:t>seed.py</a:t>
            </a:r>
          </a:p>
          <a:p>
            <a:pPr algn="ctr">
              <a:spcAft>
                <a:spcPts val="0"/>
              </a:spcAft>
            </a:pPr>
            <a:r>
              <a:rPr sz="1100" b="0" i="0">
                <a:solidFill>
                  <a:srgbClr val="9FB3C8"/>
                </a:solidFill>
                <a:latin typeface="Calibri"/>
              </a:rPr>
              <a:t>idempotent seeding and reset</a:t>
            </a:r>
          </a:p>
        </p:txBody>
      </p:sp>
      <p:sp>
        <p:nvSpPr>
          <p:cNvPr id="23" name="TextBox 22"/>
          <p:cNvSpPr txBox="1"/>
          <p:nvPr/>
        </p:nvSpPr>
        <p:spPr>
          <a:xfrm>
            <a:off x="548640" y="5047488"/>
            <a:ext cx="5486400" cy="256032"/>
          </a:xfrm>
          <a:prstGeom prst="rect">
            <a:avLst/>
          </a:prstGeom>
          <a:noFill/>
        </p:spPr>
        <p:txBody>
          <a:bodyPr wrap="square" lIns="45720" tIns="27432" rIns="45720" bIns="27432" anchor="t">
            <a:spAutoFit/>
          </a:bodyPr>
          <a:lstStyle/>
          <a:p>
            <a:pPr algn="l">
              <a:spcAft>
                <a:spcPts val="0"/>
              </a:spcAft>
            </a:pPr>
            <a:r>
              <a:rPr sz="1100" b="1" i="0">
                <a:solidFill>
                  <a:srgbClr val="9FB3C8"/>
                </a:solidFill>
                <a:latin typeface="Calibri"/>
              </a:rPr>
              <a:t>EXTERNAL AND STORAGE</a:t>
            </a:r>
          </a:p>
        </p:txBody>
      </p:sp>
      <p:sp>
        <p:nvSpPr>
          <p:cNvPr id="24" name="Rounded Rectangle 23"/>
          <p:cNvSpPr/>
          <p:nvPr/>
        </p:nvSpPr>
        <p:spPr>
          <a:xfrm>
            <a:off x="548640" y="5303520"/>
            <a:ext cx="4297680" cy="868680"/>
          </a:xfrm>
          <a:prstGeom prst="roundRect">
            <a:avLst>
              <a:gd name="adj" fmla="val 8421"/>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4DA3F0"/>
                </a:solidFill>
                <a:latin typeface="Calibri"/>
              </a:rPr>
              <a:t>Gemini 2.5 Flash  +  Google Search grounding</a:t>
            </a:r>
          </a:p>
          <a:p>
            <a:pPr algn="ctr">
              <a:spcAft>
                <a:spcPts val="0"/>
              </a:spcAft>
            </a:pPr>
            <a:r>
              <a:rPr sz="1100" b="0" i="0">
                <a:solidFill>
                  <a:srgbClr val="9FB3C8"/>
                </a:solidFill>
                <a:latin typeface="Calibri"/>
              </a:rPr>
              <a:t>AI Studio or Vertex AI; structured output, bounded retry</a:t>
            </a:r>
          </a:p>
        </p:txBody>
      </p:sp>
      <p:sp>
        <p:nvSpPr>
          <p:cNvPr id="25" name="Rounded Rectangle 24"/>
          <p:cNvSpPr/>
          <p:nvPr/>
        </p:nvSpPr>
        <p:spPr>
          <a:xfrm>
            <a:off x="4983479" y="5303520"/>
            <a:ext cx="6656832" cy="868680"/>
          </a:xfrm>
          <a:prstGeom prst="roundRect">
            <a:avLst>
              <a:gd name="adj" fmla="val 8421"/>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F2B84B"/>
                </a:solidFill>
                <a:latin typeface="Calibri"/>
              </a:rPr>
              <a:t>Storage: Firestore, or in-memory fallback</a:t>
            </a:r>
          </a:p>
          <a:p>
            <a:pPr algn="ctr">
              <a:spcAft>
                <a:spcPts val="0"/>
              </a:spcAft>
            </a:pPr>
            <a:r>
              <a:rPr sz="1100" b="0" i="0">
                <a:solidFill>
                  <a:srgbClr val="9FB3C8"/>
                </a:solidFill>
                <a:latin typeface="Calibri"/>
              </a:rPr>
              <a:t>industries, catalogue, templates, snag_history, snags, alternatives, incentives, seed_meta, audit (hash-chained)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Appendix B | Data model: nine collections, one audit chain</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APPENDIX</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docs/system-architecture.md. Catalogue is sample data; seeded snags and incentives are synthetic or illustrative.</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22</a:t>
            </a:r>
          </a:p>
        </p:txBody>
      </p:sp>
      <p:sp>
        <p:nvSpPr>
          <p:cNvPr id="7" name="Rounded Rectangle 6"/>
          <p:cNvSpPr/>
          <p:nvPr/>
        </p:nvSpPr>
        <p:spPr>
          <a:xfrm>
            <a:off x="548640" y="1600200"/>
            <a:ext cx="3383280" cy="1371600"/>
          </a:xfrm>
          <a:prstGeom prst="roundRect">
            <a:avLst>
              <a:gd name="adj" fmla="val 4000"/>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636776"/>
            <a:ext cx="3163824"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industries</a:t>
            </a:r>
          </a:p>
        </p:txBody>
      </p:sp>
      <p:sp>
        <p:nvSpPr>
          <p:cNvPr id="9" name="TextBox 8"/>
          <p:cNvSpPr txBox="1"/>
          <p:nvPr/>
        </p:nvSpPr>
        <p:spPr>
          <a:xfrm>
            <a:off x="658368" y="196596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id</a:t>
            </a:r>
          </a:p>
        </p:txBody>
      </p:sp>
      <p:sp>
        <p:nvSpPr>
          <p:cNvPr id="10" name="TextBox 9"/>
          <p:cNvSpPr txBox="1"/>
          <p:nvPr/>
        </p:nvSpPr>
        <p:spPr>
          <a:xfrm>
            <a:off x="658368" y="2240280"/>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4 industries, their pollution domains and default baselines. Never reset.</a:t>
            </a:r>
          </a:p>
        </p:txBody>
      </p:sp>
      <p:sp>
        <p:nvSpPr>
          <p:cNvPr id="11" name="Rounded Rectangle 10"/>
          <p:cNvSpPr/>
          <p:nvPr/>
        </p:nvSpPr>
        <p:spPr>
          <a:xfrm>
            <a:off x="4402836" y="1600200"/>
            <a:ext cx="3383280" cy="1371600"/>
          </a:xfrm>
          <a:prstGeom prst="roundRect">
            <a:avLst>
              <a:gd name="adj" fmla="val 4000"/>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12564" y="1636776"/>
            <a:ext cx="3163824"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catalogue</a:t>
            </a:r>
          </a:p>
        </p:txBody>
      </p:sp>
      <p:sp>
        <p:nvSpPr>
          <p:cNvPr id="13" name="TextBox 12"/>
          <p:cNvSpPr txBox="1"/>
          <p:nvPr/>
        </p:nvSpPr>
        <p:spPr>
          <a:xfrm>
            <a:off x="4512564" y="196596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industry--manufacturer--model</a:t>
            </a:r>
          </a:p>
        </p:txBody>
      </p:sp>
      <p:sp>
        <p:nvSpPr>
          <p:cNvPr id="14" name="TextBox 13"/>
          <p:cNvSpPr txBox="1"/>
          <p:nvPr/>
        </p:nvSpPr>
        <p:spPr>
          <a:xfrm>
            <a:off x="4512564" y="2240280"/>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20 sample models (5 per industry) plus manual entries. Illustrative economics.</a:t>
            </a:r>
          </a:p>
        </p:txBody>
      </p:sp>
      <p:sp>
        <p:nvSpPr>
          <p:cNvPr id="15" name="Rounded Rectangle 14"/>
          <p:cNvSpPr/>
          <p:nvPr/>
        </p:nvSpPr>
        <p:spPr>
          <a:xfrm>
            <a:off x="8257031" y="1600200"/>
            <a:ext cx="3383280" cy="1371600"/>
          </a:xfrm>
          <a:prstGeom prst="roundRect">
            <a:avLst>
              <a:gd name="adj" fmla="val 4000"/>
            </a:avLst>
          </a:prstGeom>
          <a:solidFill>
            <a:srgbClr val="0D2A4A"/>
          </a:solidFill>
          <a:ln w="15875">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59" y="1636776"/>
            <a:ext cx="3163824" cy="347472"/>
          </a:xfrm>
          <a:prstGeom prst="rect">
            <a:avLst/>
          </a:prstGeom>
          <a:noFill/>
        </p:spPr>
        <p:txBody>
          <a:bodyPr wrap="square" lIns="45720" tIns="27432" rIns="45720" bIns="27432" anchor="t">
            <a:spAutoFit/>
          </a:bodyPr>
          <a:lstStyle/>
          <a:p>
            <a:pPr algn="l">
              <a:spcAft>
                <a:spcPts val="0"/>
              </a:spcAft>
            </a:pPr>
            <a:r>
              <a:rPr sz="1600" b="1" i="0">
                <a:solidFill>
                  <a:srgbClr val="4DA3F0"/>
                </a:solidFill>
                <a:latin typeface="Calibri"/>
              </a:rPr>
              <a:t>templates</a:t>
            </a:r>
          </a:p>
        </p:txBody>
      </p:sp>
      <p:sp>
        <p:nvSpPr>
          <p:cNvPr id="17" name="TextBox 16"/>
          <p:cNvSpPr txBox="1"/>
          <p:nvPr/>
        </p:nvSpPr>
        <p:spPr>
          <a:xfrm>
            <a:off x="8366759" y="196596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model_key--schema version</a:t>
            </a:r>
          </a:p>
        </p:txBody>
      </p:sp>
      <p:sp>
        <p:nvSpPr>
          <p:cNvPr id="18" name="TextBox 17"/>
          <p:cNvSpPr txBox="1"/>
          <p:nvPr/>
        </p:nvSpPr>
        <p:spPr>
          <a:xfrm>
            <a:off x="8366759" y="2240280"/>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AI documents only; fallbacks are never stored. Model, time, grounding recorded.</a:t>
            </a:r>
          </a:p>
        </p:txBody>
      </p:sp>
      <p:sp>
        <p:nvSpPr>
          <p:cNvPr id="19" name="Rounded Rectangle 18"/>
          <p:cNvSpPr/>
          <p:nvPr/>
        </p:nvSpPr>
        <p:spPr>
          <a:xfrm>
            <a:off x="548640" y="3108960"/>
            <a:ext cx="3383280" cy="1371600"/>
          </a:xfrm>
          <a:prstGeom prst="roundRect">
            <a:avLst>
              <a:gd name="adj" fmla="val 4000"/>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3145536"/>
            <a:ext cx="3163824"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snag_history</a:t>
            </a:r>
          </a:p>
        </p:txBody>
      </p:sp>
      <p:sp>
        <p:nvSpPr>
          <p:cNvPr id="21" name="TextBox 20"/>
          <p:cNvSpPr txBox="1"/>
          <p:nvPr/>
        </p:nvSpPr>
        <p:spPr>
          <a:xfrm>
            <a:off x="658368" y="347472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machine_id</a:t>
            </a:r>
          </a:p>
        </p:txBody>
      </p:sp>
      <p:sp>
        <p:nvSpPr>
          <p:cNvPr id="22" name="TextBox 21"/>
          <p:cNvSpPr txBox="1"/>
          <p:nvPr/>
        </p:nvSpPr>
        <p:spPr>
          <a:xfrm>
            <a:off x="658368" y="3749039"/>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Machine header: tag, install year, model. 6 seeded fleet machines.</a:t>
            </a:r>
          </a:p>
        </p:txBody>
      </p:sp>
      <p:sp>
        <p:nvSpPr>
          <p:cNvPr id="23" name="Rounded Rectangle 22"/>
          <p:cNvSpPr/>
          <p:nvPr/>
        </p:nvSpPr>
        <p:spPr>
          <a:xfrm>
            <a:off x="4402836" y="3108960"/>
            <a:ext cx="3383280" cy="1371600"/>
          </a:xfrm>
          <a:prstGeom prst="roundRect">
            <a:avLst>
              <a:gd name="adj" fmla="val 4000"/>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12564" y="3145536"/>
            <a:ext cx="3163824"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snags</a:t>
            </a:r>
          </a:p>
        </p:txBody>
      </p:sp>
      <p:sp>
        <p:nvSpPr>
          <p:cNvPr id="25" name="TextBox 24"/>
          <p:cNvSpPr txBox="1"/>
          <p:nvPr/>
        </p:nvSpPr>
        <p:spPr>
          <a:xfrm>
            <a:off x="4512564" y="347472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SNG-12hex</a:t>
            </a:r>
          </a:p>
        </p:txBody>
      </p:sp>
      <p:sp>
        <p:nvSpPr>
          <p:cNvPr id="26" name="TextBox 25"/>
          <p:cNvSpPr txBox="1"/>
          <p:nvPr/>
        </p:nvSpPr>
        <p:spPr>
          <a:xfrm>
            <a:off x="4512564" y="3749039"/>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Status OPEN to CLOSED, append-only events, redacted answers. 7 seeded open.</a:t>
            </a:r>
          </a:p>
        </p:txBody>
      </p:sp>
      <p:sp>
        <p:nvSpPr>
          <p:cNvPr id="27" name="Rounded Rectangle 26"/>
          <p:cNvSpPr/>
          <p:nvPr/>
        </p:nvSpPr>
        <p:spPr>
          <a:xfrm>
            <a:off x="8257031" y="3108960"/>
            <a:ext cx="3383280" cy="1371600"/>
          </a:xfrm>
          <a:prstGeom prst="roundRect">
            <a:avLst>
              <a:gd name="adj" fmla="val 4000"/>
            </a:avLst>
          </a:prstGeom>
          <a:solidFill>
            <a:srgbClr val="0D2A4A"/>
          </a:solidFill>
          <a:ln w="15875">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66759" y="3145536"/>
            <a:ext cx="3163824" cy="347472"/>
          </a:xfrm>
          <a:prstGeom prst="rect">
            <a:avLst/>
          </a:prstGeom>
          <a:noFill/>
        </p:spPr>
        <p:txBody>
          <a:bodyPr wrap="square" lIns="45720" tIns="27432" rIns="45720" bIns="27432" anchor="t">
            <a:spAutoFit/>
          </a:bodyPr>
          <a:lstStyle/>
          <a:p>
            <a:pPr algn="l">
              <a:spcAft>
                <a:spcPts val="0"/>
              </a:spcAft>
            </a:pPr>
            <a:r>
              <a:rPr sz="1600" b="1" i="0">
                <a:solidFill>
                  <a:srgbClr val="4DA3F0"/>
                </a:solidFill>
                <a:latin typeface="Calibri"/>
              </a:rPr>
              <a:t>alternatives</a:t>
            </a:r>
          </a:p>
        </p:txBody>
      </p:sp>
      <p:sp>
        <p:nvSpPr>
          <p:cNvPr id="29" name="TextBox 28"/>
          <p:cNvSpPr txBox="1"/>
          <p:nvPr/>
        </p:nvSpPr>
        <p:spPr>
          <a:xfrm>
            <a:off x="8366759" y="347472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model_key--country--version</a:t>
            </a:r>
          </a:p>
        </p:txBody>
      </p:sp>
      <p:sp>
        <p:nvSpPr>
          <p:cNvPr id="30" name="TextBox 29"/>
          <p:cNvSpPr txBox="1"/>
          <p:nvPr/>
        </p:nvSpPr>
        <p:spPr>
          <a:xfrm>
            <a:off x="8366759" y="3749039"/>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AI suggestions cached per model and country. Curated fallback.</a:t>
            </a:r>
          </a:p>
        </p:txBody>
      </p:sp>
      <p:sp>
        <p:nvSpPr>
          <p:cNvPr id="31" name="Rounded Rectangle 30"/>
          <p:cNvSpPr/>
          <p:nvPr/>
        </p:nvSpPr>
        <p:spPr>
          <a:xfrm>
            <a:off x="548640" y="4617720"/>
            <a:ext cx="3383280" cy="1371600"/>
          </a:xfrm>
          <a:prstGeom prst="roundRect">
            <a:avLst>
              <a:gd name="adj" fmla="val 4000"/>
            </a:avLst>
          </a:prstGeom>
          <a:solidFill>
            <a:srgbClr val="3A2A0A"/>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8368" y="4654296"/>
            <a:ext cx="3163824" cy="347472"/>
          </a:xfrm>
          <a:prstGeom prst="rect">
            <a:avLst/>
          </a:prstGeom>
          <a:noFill/>
        </p:spPr>
        <p:txBody>
          <a:bodyPr wrap="square" lIns="45720" tIns="27432" rIns="45720" bIns="27432" anchor="t">
            <a:spAutoFit/>
          </a:bodyPr>
          <a:lstStyle/>
          <a:p>
            <a:pPr algn="l">
              <a:spcAft>
                <a:spcPts val="0"/>
              </a:spcAft>
            </a:pPr>
            <a:r>
              <a:rPr sz="1600" b="1" i="0">
                <a:solidFill>
                  <a:srgbClr val="F2B84B"/>
                </a:solidFill>
                <a:latin typeface="Calibri"/>
              </a:rPr>
              <a:t>incentives</a:t>
            </a:r>
          </a:p>
        </p:txBody>
      </p:sp>
      <p:sp>
        <p:nvSpPr>
          <p:cNvPr id="33" name="TextBox 32"/>
          <p:cNvSpPr txBox="1"/>
          <p:nvPr/>
        </p:nvSpPr>
        <p:spPr>
          <a:xfrm>
            <a:off x="658368" y="498348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country--scheme_id</a:t>
            </a:r>
          </a:p>
        </p:txBody>
      </p:sp>
      <p:sp>
        <p:nvSpPr>
          <p:cNvPr id="34" name="TextBox 33"/>
          <p:cNvSpPr txBox="1"/>
          <p:nvPr/>
        </p:nvSpPr>
        <p:spPr>
          <a:xfrm>
            <a:off x="658368" y="5257800"/>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9 seeded: 7 real-named UNVERIFIED, 2 demo-synthetic ILLUSTRATIVE.</a:t>
            </a:r>
          </a:p>
        </p:txBody>
      </p:sp>
      <p:sp>
        <p:nvSpPr>
          <p:cNvPr id="35" name="Rounded Rectangle 34"/>
          <p:cNvSpPr/>
          <p:nvPr/>
        </p:nvSpPr>
        <p:spPr>
          <a:xfrm>
            <a:off x="4402836" y="4617720"/>
            <a:ext cx="3383280" cy="1371600"/>
          </a:xfrm>
          <a:prstGeom prst="roundRect">
            <a:avLst>
              <a:gd name="adj" fmla="val 4000"/>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12564" y="4654296"/>
            <a:ext cx="3163824"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seed_meta</a:t>
            </a:r>
          </a:p>
        </p:txBody>
      </p:sp>
      <p:sp>
        <p:nvSpPr>
          <p:cNvPr id="37" name="TextBox 36"/>
          <p:cNvSpPr txBox="1"/>
          <p:nvPr/>
        </p:nvSpPr>
        <p:spPr>
          <a:xfrm>
            <a:off x="4512564" y="498348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anchor | incentives | complete</a:t>
            </a:r>
          </a:p>
        </p:txBody>
      </p:sp>
      <p:sp>
        <p:nvSpPr>
          <p:cNvPr id="38" name="TextBox 37"/>
          <p:cNvSpPr txBox="1"/>
          <p:nvPr/>
        </p:nvSpPr>
        <p:spPr>
          <a:xfrm>
            <a:off x="4512564" y="5257800"/>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Anchor date and seed version. Drives idempotent seeding and reset.</a:t>
            </a:r>
          </a:p>
        </p:txBody>
      </p:sp>
      <p:sp>
        <p:nvSpPr>
          <p:cNvPr id="39" name="Rounded Rectangle 38"/>
          <p:cNvSpPr/>
          <p:nvPr/>
        </p:nvSpPr>
        <p:spPr>
          <a:xfrm>
            <a:off x="8257031" y="4617720"/>
            <a:ext cx="3383280" cy="1371600"/>
          </a:xfrm>
          <a:prstGeom prst="roundRect">
            <a:avLst>
              <a:gd name="adj" fmla="val 4000"/>
            </a:avLst>
          </a:prstGeom>
          <a:solidFill>
            <a:srgbClr val="0F2E18"/>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366759" y="4654296"/>
            <a:ext cx="3163824" cy="347472"/>
          </a:xfrm>
          <a:prstGeom prst="rect">
            <a:avLst/>
          </a:prstGeom>
          <a:noFill/>
        </p:spPr>
        <p:txBody>
          <a:bodyPr wrap="square" lIns="45720" tIns="27432" rIns="45720" bIns="27432" anchor="t">
            <a:spAutoFit/>
          </a:bodyPr>
          <a:lstStyle/>
          <a:p>
            <a:pPr algn="l">
              <a:spcAft>
                <a:spcPts val="0"/>
              </a:spcAft>
            </a:pPr>
            <a:r>
              <a:rPr sz="1600" b="1" i="0">
                <a:solidFill>
                  <a:srgbClr val="3DDC97"/>
                </a:solidFill>
                <a:latin typeface="Calibri"/>
              </a:rPr>
              <a:t>audit</a:t>
            </a:r>
          </a:p>
        </p:txBody>
      </p:sp>
      <p:sp>
        <p:nvSpPr>
          <p:cNvPr id="41" name="TextBox 40"/>
          <p:cNvSpPr txBox="1"/>
          <p:nvPr/>
        </p:nvSpPr>
        <p:spPr>
          <a:xfrm>
            <a:off x="8366759" y="498348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AUD-timestamp-hex</a:t>
            </a:r>
          </a:p>
        </p:txBody>
      </p:sp>
      <p:sp>
        <p:nvSpPr>
          <p:cNvPr id="42" name="TextBox 41"/>
          <p:cNvSpPr txBox="1"/>
          <p:nvPr/>
        </p:nvSpPr>
        <p:spPr>
          <a:xfrm>
            <a:off x="8366759" y="5257800"/>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Append-only. entry_hash = sha256(prior hash + entry). Kept on reset.</a:t>
            </a:r>
          </a:p>
        </p:txBody>
      </p:sp>
      <p:cxnSp>
        <p:nvCxnSpPr>
          <p:cNvPr id="43" name="Connector 42"/>
          <p:cNvCxnSpPr/>
          <p:nvPr/>
        </p:nvCxnSpPr>
        <p:spPr>
          <a:xfrm>
            <a:off x="3950207" y="2286000"/>
            <a:ext cx="434340" cy="0"/>
          </a:xfrm>
          <a:prstGeom prst="line">
            <a:avLst/>
          </a:prstGeom>
          <a:ln w="28575">
            <a:solidFill>
              <a:srgbClr val="3DDC97"/>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804404" y="2286000"/>
            <a:ext cx="434340" cy="0"/>
          </a:xfrm>
          <a:prstGeom prst="line">
            <a:avLst/>
          </a:prstGeom>
          <a:ln w="28575">
            <a:solidFill>
              <a:srgbClr val="3DDC97"/>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950207" y="3794760"/>
            <a:ext cx="434340" cy="0"/>
          </a:xfrm>
          <a:prstGeom prst="line">
            <a:avLst/>
          </a:prstGeom>
          <a:ln w="28575">
            <a:solidFill>
              <a:srgbClr val="3DDC97"/>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804404" y="3794760"/>
            <a:ext cx="434340" cy="0"/>
          </a:xfrm>
          <a:prstGeom prst="line">
            <a:avLst/>
          </a:prstGeom>
          <a:ln w="28575">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48640" y="6172200"/>
            <a:ext cx="11064240" cy="228600"/>
          </a:xfrm>
          <a:prstGeom prst="rect">
            <a:avLst/>
          </a:prstGeom>
          <a:noFill/>
        </p:spPr>
        <p:txBody>
          <a:bodyPr wrap="square" lIns="45720" tIns="27432" rIns="45720" bIns="27432" anchor="t">
            <a:spAutoFit/>
          </a:bodyPr>
          <a:lstStyle/>
          <a:p>
            <a:pPr algn="l">
              <a:spcAft>
                <a:spcPts val="0"/>
              </a:spcAft>
            </a:pPr>
            <a:r>
              <a:rPr sz="1000" b="0" i="0">
                <a:solidFill>
                  <a:srgbClr val="9FB3C8"/>
                </a:solidFill>
                <a:latin typeface="Calibri"/>
              </a:rPr>
              <a:t>Arrows: foreign-key style links (industry, model_key, machine_id). Full ER diagram: docs/deck/assets/diagram_datamodel.png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Appendix C | The four user flows, step by step</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APPENDIX</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docs/user-flow.md, condensed. Blue = Gemini involved, green = deterministic engine, amber = fallback, red = safety gate. Full flowcharts in docs/deck/assets/.</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23</a:t>
            </a:r>
          </a:p>
        </p:txBody>
      </p:sp>
      <p:sp>
        <p:nvSpPr>
          <p:cNvPr id="7" name="Rounded Rectangle 6"/>
          <p:cNvSpPr/>
          <p:nvPr/>
        </p:nvSpPr>
        <p:spPr>
          <a:xfrm>
            <a:off x="548640" y="1600200"/>
            <a:ext cx="1325880" cy="1005840"/>
          </a:xfrm>
          <a:prstGeom prst="roundRect">
            <a:avLst>
              <a:gd name="adj" fmla="val 7272"/>
            </a:avLst>
          </a:prstGeom>
          <a:solidFill>
            <a:srgbClr val="111820"/>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3DDC97"/>
                </a:solidFill>
                <a:latin typeface="Calibri"/>
              </a:rPr>
              <a:t>Reporter</a:t>
            </a:r>
          </a:p>
        </p:txBody>
      </p:sp>
      <p:sp>
        <p:nvSpPr>
          <p:cNvPr id="8" name="Rounded Rectangle 7"/>
          <p:cNvSpPr/>
          <p:nvPr/>
        </p:nvSpPr>
        <p:spPr>
          <a:xfrm>
            <a:off x="2011680" y="1600200"/>
            <a:ext cx="1250115"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Pick industry</a:t>
            </a:r>
          </a:p>
        </p:txBody>
      </p:sp>
      <p:cxnSp>
        <p:nvCxnSpPr>
          <p:cNvPr id="9" name="Connector 8"/>
          <p:cNvCxnSpPr/>
          <p:nvPr/>
        </p:nvCxnSpPr>
        <p:spPr>
          <a:xfrm>
            <a:off x="3270939" y="2103120"/>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08099" y="1600200"/>
            <a:ext cx="1250115" cy="1005840"/>
          </a:xfrm>
          <a:prstGeom prst="roundRect">
            <a:avLst>
              <a:gd name="adj" fmla="val 7272"/>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Search or add model</a:t>
            </a:r>
          </a:p>
        </p:txBody>
      </p:sp>
      <p:cxnSp>
        <p:nvCxnSpPr>
          <p:cNvPr id="11" name="Connector 10"/>
          <p:cNvCxnSpPr/>
          <p:nvPr/>
        </p:nvCxnSpPr>
        <p:spPr>
          <a:xfrm>
            <a:off x="4667358" y="2103120"/>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804518" y="1600200"/>
            <a:ext cx="1250115" cy="1005840"/>
          </a:xfrm>
          <a:prstGeom prst="roundRect">
            <a:avLst>
              <a:gd name="adj" fmla="val 7272"/>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Template via cache-once</a:t>
            </a:r>
          </a:p>
        </p:txBody>
      </p:sp>
      <p:cxnSp>
        <p:nvCxnSpPr>
          <p:cNvPr id="13" name="Connector 12"/>
          <p:cNvCxnSpPr/>
          <p:nvPr/>
        </p:nvCxnSpPr>
        <p:spPr>
          <a:xfrm>
            <a:off x="6063778" y="2103120"/>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00938" y="1600200"/>
            <a:ext cx="1250115"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Pick or register machine</a:t>
            </a:r>
          </a:p>
        </p:txBody>
      </p:sp>
      <p:cxnSp>
        <p:nvCxnSpPr>
          <p:cNvPr id="15" name="Connector 14"/>
          <p:cNvCxnSpPr/>
          <p:nvPr/>
        </p:nvCxnSpPr>
        <p:spPr>
          <a:xfrm>
            <a:off x="7460197" y="2103120"/>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97357" y="1600200"/>
            <a:ext cx="1250115"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Fill dynamic form</a:t>
            </a:r>
          </a:p>
        </p:txBody>
      </p:sp>
      <p:cxnSp>
        <p:nvCxnSpPr>
          <p:cNvPr id="17" name="Connector 16"/>
          <p:cNvCxnSpPr/>
          <p:nvPr/>
        </p:nvCxnSpPr>
        <p:spPr>
          <a:xfrm>
            <a:off x="8856617" y="2103120"/>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993777" y="1600200"/>
            <a:ext cx="1250115"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Validate + redact</a:t>
            </a:r>
          </a:p>
        </p:txBody>
      </p:sp>
      <p:cxnSp>
        <p:nvCxnSpPr>
          <p:cNvPr id="19" name="Connector 18"/>
          <p:cNvCxnSpPr/>
          <p:nvPr/>
        </p:nvCxnSpPr>
        <p:spPr>
          <a:xfrm>
            <a:off x="10253036" y="2103120"/>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390196" y="1600200"/>
            <a:ext cx="1250115"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Guidance card</a:t>
            </a:r>
          </a:p>
        </p:txBody>
      </p:sp>
      <p:sp>
        <p:nvSpPr>
          <p:cNvPr id="21" name="Rounded Rectangle 20"/>
          <p:cNvSpPr/>
          <p:nvPr/>
        </p:nvSpPr>
        <p:spPr>
          <a:xfrm>
            <a:off x="548640" y="2770632"/>
            <a:ext cx="1325880" cy="1005840"/>
          </a:xfrm>
          <a:prstGeom prst="roundRect">
            <a:avLst>
              <a:gd name="adj" fmla="val 7272"/>
            </a:avLst>
          </a:prstGeom>
          <a:solidFill>
            <a:srgbClr val="111820"/>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3DDC97"/>
                </a:solidFill>
                <a:latin typeface="Calibri"/>
              </a:rPr>
              <a:t>Resolver</a:t>
            </a:r>
          </a:p>
        </p:txBody>
      </p:sp>
      <p:sp>
        <p:nvSpPr>
          <p:cNvPr id="22" name="Rounded Rectangle 21"/>
          <p:cNvSpPr/>
          <p:nvPr/>
        </p:nvSpPr>
        <p:spPr>
          <a:xfrm>
            <a:off x="2011680" y="2770632"/>
            <a:ext cx="1482852"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Severity-first queue</a:t>
            </a:r>
          </a:p>
        </p:txBody>
      </p:sp>
      <p:cxnSp>
        <p:nvCxnSpPr>
          <p:cNvPr id="23" name="Connector 22"/>
          <p:cNvCxnSpPr/>
          <p:nvPr/>
        </p:nvCxnSpPr>
        <p:spPr>
          <a:xfrm>
            <a:off x="3503676" y="3273552"/>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640836" y="2770632"/>
            <a:ext cx="1482852"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Accept: OPEN to ASSIGNED</a:t>
            </a:r>
          </a:p>
        </p:txBody>
      </p:sp>
      <p:cxnSp>
        <p:nvCxnSpPr>
          <p:cNvPr id="25" name="Connector 24"/>
          <p:cNvCxnSpPr/>
          <p:nvPr/>
        </p:nvCxnSpPr>
        <p:spPr>
          <a:xfrm>
            <a:off x="5132832" y="3273552"/>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269992" y="2770632"/>
            <a:ext cx="1482852"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Resolve: notes, downtime, cost</a:t>
            </a:r>
          </a:p>
        </p:txBody>
      </p:sp>
      <p:cxnSp>
        <p:nvCxnSpPr>
          <p:cNvPr id="27" name="Connector 26"/>
          <p:cNvCxnSpPr/>
          <p:nvPr/>
        </p:nvCxnSpPr>
        <p:spPr>
          <a:xfrm>
            <a:off x="6761988" y="3273552"/>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899148" y="2770632"/>
            <a:ext cx="1482852"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Close: RESOLVED to CLOSED</a:t>
            </a:r>
          </a:p>
        </p:txBody>
      </p:sp>
      <p:cxnSp>
        <p:nvCxnSpPr>
          <p:cNvPr id="29" name="Connector 28"/>
          <p:cNvCxnSpPr/>
          <p:nvPr/>
        </p:nvCxnSpPr>
        <p:spPr>
          <a:xfrm>
            <a:off x="8391144" y="3273552"/>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528304" y="2770632"/>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Audit entry</a:t>
            </a:r>
          </a:p>
        </p:txBody>
      </p:sp>
      <p:cxnSp>
        <p:nvCxnSpPr>
          <p:cNvPr id="31" name="Connector 30"/>
          <p:cNvCxnSpPr/>
          <p:nvPr/>
        </p:nvCxnSpPr>
        <p:spPr>
          <a:xfrm>
            <a:off x="10020300" y="3273552"/>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157460" y="2770632"/>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Health recomputed</a:t>
            </a:r>
          </a:p>
        </p:txBody>
      </p:sp>
      <p:sp>
        <p:nvSpPr>
          <p:cNvPr id="33" name="Rounded Rectangle 32"/>
          <p:cNvSpPr/>
          <p:nvPr/>
        </p:nvSpPr>
        <p:spPr>
          <a:xfrm>
            <a:off x="548640" y="3941064"/>
            <a:ext cx="1325880" cy="1005840"/>
          </a:xfrm>
          <a:prstGeom prst="roundRect">
            <a:avLst>
              <a:gd name="adj" fmla="val 7272"/>
            </a:avLst>
          </a:prstGeom>
          <a:solidFill>
            <a:srgbClr val="111820"/>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3DDC97"/>
                </a:solidFill>
                <a:latin typeface="Calibri"/>
              </a:rPr>
              <a:t>Health</a:t>
            </a:r>
          </a:p>
        </p:txBody>
      </p:sp>
      <p:sp>
        <p:nvSpPr>
          <p:cNvPr id="34" name="Rounded Rectangle 33"/>
          <p:cNvSpPr/>
          <p:nvPr/>
        </p:nvSpPr>
        <p:spPr>
          <a:xfrm>
            <a:off x="2011680" y="3941064"/>
            <a:ext cx="1482852"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Select machine</a:t>
            </a:r>
          </a:p>
        </p:txBody>
      </p:sp>
      <p:cxnSp>
        <p:nvCxnSpPr>
          <p:cNvPr id="35" name="Connector 34"/>
          <p:cNvCxnSpPr/>
          <p:nvPr/>
        </p:nvCxnSpPr>
        <p:spPr>
          <a:xfrm>
            <a:off x="3503676" y="4443984"/>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640836" y="3941064"/>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Replay snag history</a:t>
            </a:r>
          </a:p>
        </p:txBody>
      </p:sp>
      <p:cxnSp>
        <p:nvCxnSpPr>
          <p:cNvPr id="37" name="Connector 36"/>
          <p:cNvCxnSpPr/>
          <p:nvPr/>
        </p:nvCxnSpPr>
        <p:spPr>
          <a:xfrm>
            <a:off x="5132832" y="4443984"/>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269992" y="3941064"/>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Health score</a:t>
            </a:r>
          </a:p>
        </p:txBody>
      </p:sp>
      <p:cxnSp>
        <p:nvCxnSpPr>
          <p:cNvPr id="39" name="Connector 38"/>
          <p:cNvCxnSpPr/>
          <p:nvPr/>
        </p:nvCxnSpPr>
        <p:spPr>
          <a:xfrm>
            <a:off x="6761988" y="4443984"/>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899148" y="3941064"/>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Remaining lifespan</a:t>
            </a:r>
          </a:p>
        </p:txBody>
      </p:sp>
      <p:cxnSp>
        <p:nvCxnSpPr>
          <p:cNvPr id="41" name="Connector 40"/>
          <p:cNvCxnSpPr/>
          <p:nvPr/>
        </p:nvCxnSpPr>
        <p:spPr>
          <a:xfrm>
            <a:off x="8391144" y="4443984"/>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528304" y="3941064"/>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Pollution intensity</a:t>
            </a:r>
          </a:p>
        </p:txBody>
      </p:sp>
      <p:cxnSp>
        <p:nvCxnSpPr>
          <p:cNvPr id="43" name="Connector 42"/>
          <p:cNvCxnSpPr/>
          <p:nvPr/>
        </p:nvCxnSpPr>
        <p:spPr>
          <a:xfrm>
            <a:off x="10020300" y="4443984"/>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10157460" y="3941064"/>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12-point timeline</a:t>
            </a:r>
          </a:p>
        </p:txBody>
      </p:sp>
      <p:sp>
        <p:nvSpPr>
          <p:cNvPr id="45" name="Rounded Rectangle 44"/>
          <p:cNvSpPr/>
          <p:nvPr/>
        </p:nvSpPr>
        <p:spPr>
          <a:xfrm>
            <a:off x="548640" y="5111496"/>
            <a:ext cx="1325880" cy="1005840"/>
          </a:xfrm>
          <a:prstGeom prst="roundRect">
            <a:avLst>
              <a:gd name="adj" fmla="val 7272"/>
            </a:avLst>
          </a:prstGeom>
          <a:solidFill>
            <a:srgbClr val="111820"/>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3DDC97"/>
                </a:solidFill>
                <a:latin typeface="Calibri"/>
              </a:rPr>
              <a:t>Sustainability</a:t>
            </a:r>
          </a:p>
        </p:txBody>
      </p:sp>
      <p:sp>
        <p:nvSpPr>
          <p:cNvPr id="46" name="Rounded Rectangle 45"/>
          <p:cNvSpPr/>
          <p:nvPr/>
        </p:nvSpPr>
        <p:spPr>
          <a:xfrm>
            <a:off x="2011680" y="5111496"/>
            <a:ext cx="1250115"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Machine + MSME or Large</a:t>
            </a:r>
          </a:p>
        </p:txBody>
      </p:sp>
      <p:cxnSp>
        <p:nvCxnSpPr>
          <p:cNvPr id="47" name="Connector 46"/>
          <p:cNvCxnSpPr/>
          <p:nvPr/>
        </p:nvCxnSpPr>
        <p:spPr>
          <a:xfrm>
            <a:off x="3270939" y="5614416"/>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3408099" y="5111496"/>
            <a:ext cx="1250115"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Current usage</a:t>
            </a:r>
          </a:p>
        </p:txBody>
      </p:sp>
      <p:cxnSp>
        <p:nvCxnSpPr>
          <p:cNvPr id="49" name="Connector 48"/>
          <p:cNvCxnSpPr/>
          <p:nvPr/>
        </p:nvCxnSpPr>
        <p:spPr>
          <a:xfrm>
            <a:off x="4667358" y="5614416"/>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4804518" y="5111496"/>
            <a:ext cx="1250115" cy="1005840"/>
          </a:xfrm>
          <a:prstGeom prst="roundRect">
            <a:avLst>
              <a:gd name="adj" fmla="val 7272"/>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AI (cached) or curated options</a:t>
            </a:r>
          </a:p>
        </p:txBody>
      </p:sp>
      <p:cxnSp>
        <p:nvCxnSpPr>
          <p:cNvPr id="51" name="Connector 50"/>
          <p:cNvCxnSpPr/>
          <p:nvPr/>
        </p:nvCxnSpPr>
        <p:spPr>
          <a:xfrm>
            <a:off x="6063778" y="5614416"/>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6200938" y="5111496"/>
            <a:ext cx="1250115"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Economics in engine</a:t>
            </a:r>
          </a:p>
        </p:txBody>
      </p:sp>
      <p:cxnSp>
        <p:nvCxnSpPr>
          <p:cNvPr id="53" name="Connector 52"/>
          <p:cNvCxnSpPr/>
          <p:nvPr/>
        </p:nvCxnSpPr>
        <p:spPr>
          <a:xfrm>
            <a:off x="7460197" y="5614416"/>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7597357" y="5111496"/>
            <a:ext cx="1250115" cy="1005840"/>
          </a:xfrm>
          <a:prstGeom prst="roundRect">
            <a:avLst>
              <a:gd name="adj" fmla="val 7272"/>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Decision Gate</a:t>
            </a:r>
          </a:p>
        </p:txBody>
      </p:sp>
      <p:cxnSp>
        <p:nvCxnSpPr>
          <p:cNvPr id="55" name="Connector 54"/>
          <p:cNvCxnSpPr/>
          <p:nvPr/>
        </p:nvCxnSpPr>
        <p:spPr>
          <a:xfrm>
            <a:off x="8856617" y="5614416"/>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8993777" y="5111496"/>
            <a:ext cx="1250115" cy="1005840"/>
          </a:xfrm>
          <a:prstGeom prst="roundRect">
            <a:avLst>
              <a:gd name="adj" fmla="val 7272"/>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Incentives applied</a:t>
            </a:r>
          </a:p>
        </p:txBody>
      </p:sp>
      <p:cxnSp>
        <p:nvCxnSpPr>
          <p:cNvPr id="57" name="Connector 56"/>
          <p:cNvCxnSpPr/>
          <p:nvPr/>
        </p:nvCxnSpPr>
        <p:spPr>
          <a:xfrm>
            <a:off x="10253036" y="5614416"/>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10390196" y="5111496"/>
            <a:ext cx="1250115"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Adjusted payback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Appendix D | API surface</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APPENDIX</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prototype/README.md. 422 = validation, 403 = wrong role, 409 = invalid transition, 429 = cap reached.</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24</a:t>
            </a:r>
          </a:p>
        </p:txBody>
      </p:sp>
      <p:sp>
        <p:nvSpPr>
          <p:cNvPr id="7" name="Rounded Rectangle 6"/>
          <p:cNvSpPr/>
          <p:nvPr/>
        </p:nvSpPr>
        <p:spPr>
          <a:xfrm>
            <a:off x="548640" y="1600200"/>
            <a:ext cx="868680" cy="30632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1" i="0">
                <a:solidFill>
                  <a:srgbClr val="3DDC97"/>
                </a:solidFill>
                <a:latin typeface="Calibri"/>
              </a:rPr>
              <a:t>Method</a:t>
            </a:r>
          </a:p>
        </p:txBody>
      </p:sp>
      <p:sp>
        <p:nvSpPr>
          <p:cNvPr id="8" name="Rounded Rectangle 7"/>
          <p:cNvSpPr/>
          <p:nvPr/>
        </p:nvSpPr>
        <p:spPr>
          <a:xfrm>
            <a:off x="1417319" y="1600200"/>
            <a:ext cx="4206240" cy="30632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1" i="0">
                <a:solidFill>
                  <a:srgbClr val="3DDC97"/>
                </a:solidFill>
                <a:latin typeface="Calibri"/>
              </a:rPr>
              <a:t>Path</a:t>
            </a:r>
          </a:p>
        </p:txBody>
      </p:sp>
      <p:sp>
        <p:nvSpPr>
          <p:cNvPr id="9" name="Rounded Rectangle 8"/>
          <p:cNvSpPr/>
          <p:nvPr/>
        </p:nvSpPr>
        <p:spPr>
          <a:xfrm>
            <a:off x="5623559" y="1600200"/>
            <a:ext cx="6016752" cy="30632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1" i="0">
                <a:solidFill>
                  <a:srgbClr val="3DDC97"/>
                </a:solidFill>
                <a:latin typeface="Calibri"/>
              </a:rPr>
              <a:t>Purpose</a:t>
            </a:r>
          </a:p>
        </p:txBody>
      </p:sp>
      <p:sp>
        <p:nvSpPr>
          <p:cNvPr id="10" name="Rounded Rectangle 9"/>
          <p:cNvSpPr/>
          <p:nvPr/>
        </p:nvSpPr>
        <p:spPr>
          <a:xfrm>
            <a:off x="548640" y="1906524"/>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11" name="Rounded Rectangle 10"/>
          <p:cNvSpPr/>
          <p:nvPr/>
        </p:nvSpPr>
        <p:spPr>
          <a:xfrm>
            <a:off x="1417319" y="1906524"/>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/api/industries</a:t>
            </a:r>
          </a:p>
        </p:txBody>
      </p:sp>
      <p:sp>
        <p:nvSpPr>
          <p:cNvPr id="12" name="Rounded Rectangle 11"/>
          <p:cNvSpPr/>
          <p:nvPr/>
        </p:nvSpPr>
        <p:spPr>
          <a:xfrm>
            <a:off x="5623559" y="1906524"/>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Four industries and their pollution domains</a:t>
            </a:r>
          </a:p>
        </p:txBody>
      </p:sp>
      <p:sp>
        <p:nvSpPr>
          <p:cNvPr id="13" name="Rounded Rectangle 12"/>
          <p:cNvSpPr/>
          <p:nvPr/>
        </p:nvSpPr>
        <p:spPr>
          <a:xfrm>
            <a:off x="548640" y="2212848"/>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14" name="Rounded Rectangle 13"/>
          <p:cNvSpPr/>
          <p:nvPr/>
        </p:nvSpPr>
        <p:spPr>
          <a:xfrm>
            <a:off x="1417319" y="2212848"/>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/api/catalogue/search</a:t>
            </a:r>
          </a:p>
        </p:txBody>
      </p:sp>
      <p:sp>
        <p:nvSpPr>
          <p:cNvPr id="15" name="Rounded Rectangle 14"/>
          <p:cNvSpPr/>
          <p:nvPr/>
        </p:nvSpPr>
        <p:spPr>
          <a:xfrm>
            <a:off x="5623559" y="2212848"/>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Scoped, accent-insensitive search (max 10)</a:t>
            </a:r>
          </a:p>
        </p:txBody>
      </p:sp>
      <p:sp>
        <p:nvSpPr>
          <p:cNvPr id="16" name="Rounded Rectangle 15"/>
          <p:cNvSpPr/>
          <p:nvPr/>
        </p:nvSpPr>
        <p:spPr>
          <a:xfrm>
            <a:off x="548640" y="2519172"/>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17" name="Rounded Rectangle 16"/>
          <p:cNvSpPr/>
          <p:nvPr/>
        </p:nvSpPr>
        <p:spPr>
          <a:xfrm>
            <a:off x="1417319" y="2519172"/>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/api/catalogue/manual</a:t>
            </a:r>
          </a:p>
        </p:txBody>
      </p:sp>
      <p:sp>
        <p:nvSpPr>
          <p:cNvPr id="18" name="Rounded Rectangle 17"/>
          <p:cNvSpPr/>
          <p:nvPr/>
        </p:nvSpPr>
        <p:spPr>
          <a:xfrm>
            <a:off x="5623559" y="2519172"/>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Add a model; Gemini + Google Search looks up specs</a:t>
            </a:r>
          </a:p>
        </p:txBody>
      </p:sp>
      <p:sp>
        <p:nvSpPr>
          <p:cNvPr id="19" name="Rounded Rectangle 18"/>
          <p:cNvSpPr/>
          <p:nvPr/>
        </p:nvSpPr>
        <p:spPr>
          <a:xfrm>
            <a:off x="548640" y="2825496"/>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20" name="Rounded Rectangle 19"/>
          <p:cNvSpPr/>
          <p:nvPr/>
        </p:nvSpPr>
        <p:spPr>
          <a:xfrm>
            <a:off x="1417319" y="2825496"/>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/api/template/ensure</a:t>
            </a:r>
          </a:p>
        </p:txBody>
      </p:sp>
      <p:sp>
        <p:nvSpPr>
          <p:cNvPr id="21" name="Rounded Rectangle 20"/>
          <p:cNvSpPr/>
          <p:nvPr/>
        </p:nvSpPr>
        <p:spPr>
          <a:xfrm>
            <a:off x="5623559" y="2825496"/>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Cache-once get-or-generate template (Gemini only if absent)</a:t>
            </a:r>
          </a:p>
        </p:txBody>
      </p:sp>
      <p:sp>
        <p:nvSpPr>
          <p:cNvPr id="22" name="Rounded Rectangle 21"/>
          <p:cNvSpPr/>
          <p:nvPr/>
        </p:nvSpPr>
        <p:spPr>
          <a:xfrm>
            <a:off x="548640" y="3131820"/>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23" name="Rounded Rectangle 22"/>
          <p:cNvSpPr/>
          <p:nvPr/>
        </p:nvSpPr>
        <p:spPr>
          <a:xfrm>
            <a:off x="1417319" y="3131820"/>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/api/template/{key}</a:t>
            </a:r>
          </a:p>
        </p:txBody>
      </p:sp>
      <p:sp>
        <p:nvSpPr>
          <p:cNvPr id="24" name="Rounded Rectangle 23"/>
          <p:cNvSpPr/>
          <p:nvPr/>
        </p:nvSpPr>
        <p:spPr>
          <a:xfrm>
            <a:off x="5623559" y="3131820"/>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Fetch stored template; never calls Gemini</a:t>
            </a:r>
          </a:p>
        </p:txBody>
      </p:sp>
      <p:sp>
        <p:nvSpPr>
          <p:cNvPr id="25" name="Rounded Rectangle 24"/>
          <p:cNvSpPr/>
          <p:nvPr/>
        </p:nvSpPr>
        <p:spPr>
          <a:xfrm>
            <a:off x="548640" y="3438144"/>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26" name="Rounded Rectangle 25"/>
          <p:cNvSpPr/>
          <p:nvPr/>
        </p:nvSpPr>
        <p:spPr>
          <a:xfrm>
            <a:off x="1417319" y="3438144"/>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/api/instances</a:t>
            </a:r>
          </a:p>
        </p:txBody>
      </p:sp>
      <p:sp>
        <p:nvSpPr>
          <p:cNvPr id="27" name="Rounded Rectangle 26"/>
          <p:cNvSpPr/>
          <p:nvPr/>
        </p:nvSpPr>
        <p:spPr>
          <a:xfrm>
            <a:off x="5623559" y="3438144"/>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Register a machine instance</a:t>
            </a:r>
          </a:p>
        </p:txBody>
      </p:sp>
      <p:sp>
        <p:nvSpPr>
          <p:cNvPr id="28" name="Rounded Rectangle 27"/>
          <p:cNvSpPr/>
          <p:nvPr/>
        </p:nvSpPr>
        <p:spPr>
          <a:xfrm>
            <a:off x="548640" y="3744468"/>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29" name="Rounded Rectangle 28"/>
          <p:cNvSpPr/>
          <p:nvPr/>
        </p:nvSpPr>
        <p:spPr>
          <a:xfrm>
            <a:off x="1417319" y="3744468"/>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/api/snags</a:t>
            </a:r>
          </a:p>
        </p:txBody>
      </p:sp>
      <p:sp>
        <p:nvSpPr>
          <p:cNvPr id="30" name="Rounded Rectangle 29"/>
          <p:cNvSpPr/>
          <p:nvPr/>
        </p:nvSpPr>
        <p:spPr>
          <a:xfrm>
            <a:off x="5623559" y="3744468"/>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Submit snag: validated, redacted, guidance returned</a:t>
            </a:r>
          </a:p>
        </p:txBody>
      </p:sp>
      <p:sp>
        <p:nvSpPr>
          <p:cNvPr id="31" name="Rounded Rectangle 30"/>
          <p:cNvSpPr/>
          <p:nvPr/>
        </p:nvSpPr>
        <p:spPr>
          <a:xfrm>
            <a:off x="548640" y="4050791"/>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32" name="Rounded Rectangle 31"/>
          <p:cNvSpPr/>
          <p:nvPr/>
        </p:nvSpPr>
        <p:spPr>
          <a:xfrm>
            <a:off x="1417319" y="4050791"/>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/api/resolver/queue</a:t>
            </a:r>
          </a:p>
        </p:txBody>
      </p:sp>
      <p:sp>
        <p:nvSpPr>
          <p:cNvPr id="33" name="Rounded Rectangle 32"/>
          <p:cNvSpPr/>
          <p:nvPr/>
        </p:nvSpPr>
        <p:spPr>
          <a:xfrm>
            <a:off x="5623559" y="4050791"/>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Open and assigned snags, severity first</a:t>
            </a:r>
          </a:p>
        </p:txBody>
      </p:sp>
      <p:sp>
        <p:nvSpPr>
          <p:cNvPr id="34" name="Rounded Rectangle 33"/>
          <p:cNvSpPr/>
          <p:nvPr/>
        </p:nvSpPr>
        <p:spPr>
          <a:xfrm>
            <a:off x="548640" y="4357116"/>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35" name="Rounded Rectangle 34"/>
          <p:cNvSpPr/>
          <p:nvPr/>
        </p:nvSpPr>
        <p:spPr>
          <a:xfrm>
            <a:off x="1417319" y="4357116"/>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/api/snags/{id}/accept|resolve|close</a:t>
            </a:r>
          </a:p>
        </p:txBody>
      </p:sp>
      <p:sp>
        <p:nvSpPr>
          <p:cNvPr id="36" name="Rounded Rectangle 35"/>
          <p:cNvSpPr/>
          <p:nvPr/>
        </p:nvSpPr>
        <p:spPr>
          <a:xfrm>
            <a:off x="5623559" y="4357116"/>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Role-gated transitions; close recomputes health</a:t>
            </a:r>
          </a:p>
        </p:txBody>
      </p:sp>
      <p:sp>
        <p:nvSpPr>
          <p:cNvPr id="37" name="Rounded Rectangle 36"/>
          <p:cNvSpPr/>
          <p:nvPr/>
        </p:nvSpPr>
        <p:spPr>
          <a:xfrm>
            <a:off x="548640" y="4663440"/>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38" name="Rounded Rectangle 37"/>
          <p:cNvSpPr/>
          <p:nvPr/>
        </p:nvSpPr>
        <p:spPr>
          <a:xfrm>
            <a:off x="1417319" y="4663440"/>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/api/machines/{id}/health</a:t>
            </a:r>
          </a:p>
        </p:txBody>
      </p:sp>
      <p:sp>
        <p:nvSpPr>
          <p:cNvPr id="39" name="Rounded Rectangle 38"/>
          <p:cNvSpPr/>
          <p:nvPr/>
        </p:nvSpPr>
        <p:spPr>
          <a:xfrm>
            <a:off x="5623559" y="4663440"/>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Score, lifespan, pollution intensity, 12-point timeline</a:t>
            </a:r>
          </a:p>
        </p:txBody>
      </p:sp>
      <p:sp>
        <p:nvSpPr>
          <p:cNvPr id="40" name="Rounded Rectangle 39"/>
          <p:cNvSpPr/>
          <p:nvPr/>
        </p:nvSpPr>
        <p:spPr>
          <a:xfrm>
            <a:off x="548640" y="4969764"/>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41" name="Rounded Rectangle 40"/>
          <p:cNvSpPr/>
          <p:nvPr/>
        </p:nvSpPr>
        <p:spPr>
          <a:xfrm>
            <a:off x="1417319" y="4969764"/>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/api/machines/{id}/recommendations</a:t>
            </a:r>
          </a:p>
        </p:txBody>
      </p:sp>
      <p:sp>
        <p:nvSpPr>
          <p:cNvPr id="42" name="Rounded Rectangle 41"/>
          <p:cNvSpPr/>
          <p:nvPr/>
        </p:nvSpPr>
        <p:spPr>
          <a:xfrm>
            <a:off x="5623559" y="4969764"/>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Alternatives, economics, gate verdicts, incentives</a:t>
            </a:r>
          </a:p>
        </p:txBody>
      </p:sp>
      <p:sp>
        <p:nvSpPr>
          <p:cNvPr id="43" name="Rounded Rectangle 42"/>
          <p:cNvSpPr/>
          <p:nvPr/>
        </p:nvSpPr>
        <p:spPr>
          <a:xfrm>
            <a:off x="548640" y="5276088"/>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44" name="Rounded Rectangle 43"/>
          <p:cNvSpPr/>
          <p:nvPr/>
        </p:nvSpPr>
        <p:spPr>
          <a:xfrm>
            <a:off x="1417319" y="5276088"/>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/api/incentives</a:t>
            </a:r>
          </a:p>
        </p:txBody>
      </p:sp>
      <p:sp>
        <p:nvSpPr>
          <p:cNvPr id="45" name="Rounded Rectangle 44"/>
          <p:cNvSpPr/>
          <p:nvPr/>
        </p:nvSpPr>
        <p:spPr>
          <a:xfrm>
            <a:off x="5623559" y="5276088"/>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India schemes by industry and enterprise size</a:t>
            </a:r>
          </a:p>
        </p:txBody>
      </p:sp>
      <p:sp>
        <p:nvSpPr>
          <p:cNvPr id="46" name="Rounded Rectangle 45"/>
          <p:cNvSpPr/>
          <p:nvPr/>
        </p:nvSpPr>
        <p:spPr>
          <a:xfrm>
            <a:off x="548640" y="5582412"/>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47" name="Rounded Rectangle 46"/>
          <p:cNvSpPr/>
          <p:nvPr/>
        </p:nvSpPr>
        <p:spPr>
          <a:xfrm>
            <a:off x="1417319" y="5582412"/>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/api/health  |  /api/registry</a:t>
            </a:r>
          </a:p>
        </p:txBody>
      </p:sp>
      <p:sp>
        <p:nvSpPr>
          <p:cNvPr id="48" name="Rounded Rectangle 47"/>
          <p:cNvSpPr/>
          <p:nvPr/>
        </p:nvSpPr>
        <p:spPr>
          <a:xfrm>
            <a:off x="5623559" y="5582412"/>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Service status  |  audit hash-chain integrity</a:t>
            </a:r>
          </a:p>
        </p:txBody>
      </p:sp>
      <p:sp>
        <p:nvSpPr>
          <p:cNvPr id="49" name="Rounded Rectangle 48"/>
          <p:cNvSpPr/>
          <p:nvPr/>
        </p:nvSpPr>
        <p:spPr>
          <a:xfrm>
            <a:off x="548640" y="5888736"/>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50" name="Rounded Rectangle 49"/>
          <p:cNvSpPr/>
          <p:nvPr/>
        </p:nvSpPr>
        <p:spPr>
          <a:xfrm>
            <a:off x="1417319" y="5888736"/>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/api/demo/reset</a:t>
            </a:r>
          </a:p>
        </p:txBody>
      </p:sp>
      <p:sp>
        <p:nvSpPr>
          <p:cNvPr id="51" name="Rounded Rectangle 50"/>
          <p:cNvSpPr/>
          <p:nvPr/>
        </p:nvSpPr>
        <p:spPr>
          <a:xfrm>
            <a:off x="5623559" y="5888736"/>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Restore seeds, keep audit and cached templates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Appendix E | Risks and honest limitations</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APPENDIX</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prototype/README.md, docs/product-features.md, docs/competitive-landscape.md.</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25</a:t>
            </a:r>
          </a:p>
        </p:txBody>
      </p:sp>
      <p:sp>
        <p:nvSpPr>
          <p:cNvPr id="7" name="Rounded Rectangle 6"/>
          <p:cNvSpPr/>
          <p:nvPr/>
        </p:nvSpPr>
        <p:spPr>
          <a:xfrm>
            <a:off x="548640" y="1600200"/>
            <a:ext cx="5943600" cy="4572000"/>
          </a:xfrm>
          <a:prstGeom prst="roundRect">
            <a:avLst>
              <a:gd name="adj" fmla="val 1200"/>
            </a:avLst>
          </a:prstGeom>
          <a:solidFill>
            <a:srgbClr val="111820"/>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486400" cy="320040"/>
          </a:xfrm>
          <a:prstGeom prst="rect">
            <a:avLst/>
          </a:prstGeom>
          <a:noFill/>
        </p:spPr>
        <p:txBody>
          <a:bodyPr wrap="square" lIns="45720" tIns="27432" rIns="45720" bIns="27432" anchor="t">
            <a:spAutoFit/>
          </a:bodyPr>
          <a:lstStyle/>
          <a:p>
            <a:pPr algn="l">
              <a:spcAft>
                <a:spcPts val="0"/>
              </a:spcAft>
            </a:pPr>
            <a:r>
              <a:rPr sz="1200" b="1" i="0">
                <a:solidFill>
                  <a:srgbClr val="F2B84B"/>
                </a:solidFill>
                <a:latin typeface="Calibri"/>
              </a:rPr>
              <a:t>LIMITATIONS OF THE PROTOTYPE</a:t>
            </a:r>
          </a:p>
        </p:txBody>
      </p:sp>
      <p:sp>
        <p:nvSpPr>
          <p:cNvPr id="9" name="TextBox 8"/>
          <p:cNvSpPr txBox="1"/>
          <p:nvPr/>
        </p:nvSpPr>
        <p:spPr>
          <a:xfrm>
            <a:off x="731520" y="2011680"/>
            <a:ext cx="5577840" cy="4114800"/>
          </a:xfrm>
          <a:prstGeom prst="rect">
            <a:avLst/>
          </a:prstGeom>
          <a:noFill/>
        </p:spPr>
        <p:txBody>
          <a:bodyPr wrap="square" lIns="45720" tIns="27432" rIns="45720" bIns="27432" anchor="t">
            <a:spAutoFit/>
          </a:bodyPr>
          <a:lstStyle/>
          <a:p>
            <a:pPr algn="l">
              <a:spcAft>
                <a:spcPts val="900"/>
              </a:spcAft>
            </a:pPr>
            <a:r>
              <a:rPr sz="1500" b="1" i="0">
                <a:solidFill>
                  <a:srgbClr val="F2B84B"/>
                </a:solidFill>
                <a:latin typeface="Calibri"/>
              </a:rPr>
              <a:t>• </a:t>
            </a:r>
            <a:r>
              <a:rPr sz="1500" b="0" i="0">
                <a:solidFill>
                  <a:srgbClr val="F0F4F8"/>
                </a:solidFill>
                <a:latin typeface="Calibri"/>
              </a:rPr>
              <a:t>Health, intensity, economics use illustrative assumptions; not calibrated on real machines</a:t>
            </a:r>
          </a:p>
          <a:p>
            <a:pPr algn="l">
              <a:spcAft>
                <a:spcPts val="900"/>
              </a:spcAft>
            </a:pPr>
            <a:r>
              <a:rPr sz="1500" b="1" i="0">
                <a:solidFill>
                  <a:srgbClr val="F2B84B"/>
                </a:solidFill>
                <a:latin typeface="Calibri"/>
              </a:rPr>
              <a:t>• </a:t>
            </a:r>
            <a:r>
              <a:rPr sz="1500" b="0" i="0">
                <a:solidFill>
                  <a:srgbClr val="F0F4F8"/>
                </a:solidFill>
                <a:latin typeface="Calibri"/>
              </a:rPr>
              <a:t>Catalogue is 20 sample models; seeded snag histories are synthetic</a:t>
            </a:r>
          </a:p>
          <a:p>
            <a:pPr algn="l">
              <a:spcAft>
                <a:spcPts val="900"/>
              </a:spcAft>
            </a:pPr>
            <a:r>
              <a:rPr sz="1500" b="1" i="0">
                <a:solidFill>
                  <a:srgbClr val="F2B84B"/>
                </a:solidFill>
                <a:latin typeface="Calibri"/>
              </a:rPr>
              <a:t>• </a:t>
            </a:r>
            <a:r>
              <a:rPr sz="1500" b="0" i="0">
                <a:solidFill>
                  <a:srgbClr val="F0F4F8"/>
                </a:solidFill>
                <a:latin typeface="Calibri"/>
              </a:rPr>
              <a:t>India incentives mostly UNVERIFIED; quantified subsidies are demo-synthetic</a:t>
            </a:r>
          </a:p>
          <a:p>
            <a:pPr algn="l">
              <a:spcAft>
                <a:spcPts val="900"/>
              </a:spcAft>
            </a:pPr>
            <a:r>
              <a:rPr sz="1500" b="1" i="0">
                <a:solidFill>
                  <a:srgbClr val="F2B84B"/>
                </a:solidFill>
                <a:latin typeface="Calibri"/>
              </a:rPr>
              <a:t>• </a:t>
            </a:r>
            <a:r>
              <a:rPr sz="1500" b="0" i="0">
                <a:solidFill>
                  <a:srgbClr val="F0F4F8"/>
                </a:solidFill>
                <a:latin typeface="Calibri"/>
              </a:rPr>
              <a:t>No authentication; role switch is workflow guidance</a:t>
            </a:r>
          </a:p>
          <a:p>
            <a:pPr algn="l">
              <a:spcAft>
                <a:spcPts val="900"/>
              </a:spcAft>
            </a:pPr>
            <a:r>
              <a:rPr sz="1500" b="1" i="0">
                <a:solidFill>
                  <a:srgbClr val="F2B84B"/>
                </a:solidFill>
                <a:latin typeface="Calibri"/>
              </a:rPr>
              <a:t>• </a:t>
            </a:r>
            <a:r>
              <a:rPr sz="1500" b="0" i="0">
                <a:solidFill>
                  <a:srgbClr val="F0F4F8"/>
                </a:solidFill>
                <a:latin typeface="Calibri"/>
              </a:rPr>
              <a:t>Cache-once is single-process safe; cross-replica lease not built</a:t>
            </a:r>
          </a:p>
          <a:p>
            <a:pPr algn="l">
              <a:spcAft>
                <a:spcPts val="900"/>
              </a:spcAft>
            </a:pPr>
            <a:r>
              <a:rPr sz="1500" b="1" i="0">
                <a:solidFill>
                  <a:srgbClr val="F2B84B"/>
                </a:solidFill>
                <a:latin typeface="Calibri"/>
              </a:rPr>
              <a:t>• </a:t>
            </a:r>
            <a:r>
              <a:rPr sz="1500" b="0" i="0">
                <a:solidFill>
                  <a:srgbClr val="F0F4F8"/>
                </a:solidFill>
                <a:latin typeface="Calibri"/>
              </a:rPr>
              <a:t>Cached AI alternatives never expire; latency not yet measured live</a:t>
            </a:r>
          </a:p>
          <a:p>
            <a:pPr algn="l">
              <a:spcAft>
                <a:spcPts val="900"/>
              </a:spcAft>
            </a:pPr>
            <a:r>
              <a:rPr sz="1500" b="1" i="0">
                <a:solidFill>
                  <a:srgbClr val="F2B84B"/>
                </a:solidFill>
                <a:latin typeface="Calibri"/>
              </a:rPr>
              <a:t>• </a:t>
            </a:r>
            <a:r>
              <a:rPr sz="1500" b="0" i="0">
                <a:solidFill>
                  <a:srgbClr val="F0F4F8"/>
                </a:solidFill>
                <a:latin typeface="Calibri"/>
              </a:rPr>
              <a:t>Java reference engine is separate from the Python demo path</a:t>
            </a:r>
          </a:p>
          <a:p>
            <a:pPr algn="l">
              <a:spcAft>
                <a:spcPts val="900"/>
              </a:spcAft>
            </a:pPr>
            <a:r>
              <a:rPr sz="1500" b="1" i="0">
                <a:solidFill>
                  <a:srgbClr val="F2B84B"/>
                </a:solidFill>
                <a:latin typeface="Calibri"/>
              </a:rPr>
              <a:t>• </a:t>
            </a:r>
            <a:r>
              <a:rPr sz="1500" b="0" i="0">
                <a:solidFill>
                  <a:srgbClr val="F0F4F8"/>
                </a:solidFill>
                <a:latin typeface="Calibri"/>
              </a:rPr>
              <a:t>Not an official certification; outputs need qualified-engineer review</a:t>
            </a:r>
          </a:p>
        </p:txBody>
      </p:sp>
      <p:sp>
        <p:nvSpPr>
          <p:cNvPr id="10" name="Rounded Rectangle 9"/>
          <p:cNvSpPr/>
          <p:nvPr/>
        </p:nvSpPr>
        <p:spPr>
          <a:xfrm>
            <a:off x="6675120" y="1600200"/>
            <a:ext cx="4965192" cy="1417320"/>
          </a:xfrm>
          <a:prstGeom prst="roundRect">
            <a:avLst>
              <a:gd name="adj" fmla="val 387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12280" y="1673352"/>
            <a:ext cx="4709160" cy="365760"/>
          </a:xfrm>
          <a:prstGeom prst="rect">
            <a:avLst/>
          </a:prstGeom>
          <a:noFill/>
        </p:spPr>
        <p:txBody>
          <a:bodyPr wrap="square" lIns="45720" tIns="27432" rIns="45720" bIns="27432" anchor="t">
            <a:spAutoFit/>
          </a:bodyPr>
          <a:lstStyle/>
          <a:p>
            <a:pPr algn="l">
              <a:spcAft>
                <a:spcPts val="0"/>
              </a:spcAft>
            </a:pPr>
            <a:r>
              <a:rPr sz="1500" b="1" i="0">
                <a:solidFill>
                  <a:srgbClr val="FF7A7A"/>
                </a:solidFill>
                <a:latin typeface="Calibri"/>
              </a:rPr>
              <a:t>Incumbents add emissions modules</a:t>
            </a:r>
          </a:p>
        </p:txBody>
      </p:sp>
      <p:sp>
        <p:nvSpPr>
          <p:cNvPr id="12" name="TextBox 11"/>
          <p:cNvSpPr txBox="1"/>
          <p:nvPr/>
        </p:nvSpPr>
        <p:spPr>
          <a:xfrm>
            <a:off x="6812280" y="2057400"/>
            <a:ext cx="4709160"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MITIGATION</a:t>
            </a:r>
          </a:p>
        </p:txBody>
      </p:sp>
      <p:sp>
        <p:nvSpPr>
          <p:cNvPr id="13" name="TextBox 12"/>
          <p:cNvSpPr txBox="1"/>
          <p:nvPr/>
        </p:nvSpPr>
        <p:spPr>
          <a:xfrm>
            <a:off x="6812280" y="2313432"/>
            <a:ext cx="4709160" cy="68580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Win on the joined-up flow, the safety veto and India incentive logic.</a:t>
            </a:r>
          </a:p>
        </p:txBody>
      </p:sp>
      <p:sp>
        <p:nvSpPr>
          <p:cNvPr id="14" name="Rounded Rectangle 13"/>
          <p:cNvSpPr/>
          <p:nvPr/>
        </p:nvSpPr>
        <p:spPr>
          <a:xfrm>
            <a:off x="6675120" y="3136391"/>
            <a:ext cx="4965192" cy="1417320"/>
          </a:xfrm>
          <a:prstGeom prst="roundRect">
            <a:avLst>
              <a:gd name="adj" fmla="val 387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12280" y="3209544"/>
            <a:ext cx="4709160" cy="365760"/>
          </a:xfrm>
          <a:prstGeom prst="rect">
            <a:avLst/>
          </a:prstGeom>
          <a:noFill/>
        </p:spPr>
        <p:txBody>
          <a:bodyPr wrap="square" lIns="45720" tIns="27432" rIns="45720" bIns="27432" anchor="t">
            <a:spAutoFit/>
          </a:bodyPr>
          <a:lstStyle/>
          <a:p>
            <a:pPr algn="l">
              <a:spcAft>
                <a:spcPts val="0"/>
              </a:spcAft>
            </a:pPr>
            <a:r>
              <a:rPr sz="1500" b="1" i="0">
                <a:solidFill>
                  <a:srgbClr val="FF7A7A"/>
                </a:solidFill>
                <a:latin typeface="Calibri"/>
              </a:rPr>
              <a:t>Cold start on real data</a:t>
            </a:r>
          </a:p>
        </p:txBody>
      </p:sp>
      <p:sp>
        <p:nvSpPr>
          <p:cNvPr id="16" name="TextBox 15"/>
          <p:cNvSpPr txBox="1"/>
          <p:nvPr/>
        </p:nvSpPr>
        <p:spPr>
          <a:xfrm>
            <a:off x="6812280" y="3593591"/>
            <a:ext cx="4709160"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MITIGATION</a:t>
            </a:r>
          </a:p>
        </p:txBody>
      </p:sp>
      <p:sp>
        <p:nvSpPr>
          <p:cNvPr id="17" name="TextBox 16"/>
          <p:cNvSpPr txBox="1"/>
          <p:nvPr/>
        </p:nvSpPr>
        <p:spPr>
          <a:xfrm>
            <a:off x="6812280" y="3849624"/>
            <a:ext cx="4709160" cy="68580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Pilot plants; start from snag logs people already keep.</a:t>
            </a:r>
          </a:p>
        </p:txBody>
      </p:sp>
      <p:sp>
        <p:nvSpPr>
          <p:cNvPr id="18" name="Rounded Rectangle 17"/>
          <p:cNvSpPr/>
          <p:nvPr/>
        </p:nvSpPr>
        <p:spPr>
          <a:xfrm>
            <a:off x="6675120" y="4672583"/>
            <a:ext cx="4965192" cy="1417320"/>
          </a:xfrm>
          <a:prstGeom prst="roundRect">
            <a:avLst>
              <a:gd name="adj" fmla="val 387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12280" y="4745736"/>
            <a:ext cx="4709160" cy="365760"/>
          </a:xfrm>
          <a:prstGeom prst="rect">
            <a:avLst/>
          </a:prstGeom>
          <a:noFill/>
        </p:spPr>
        <p:txBody>
          <a:bodyPr wrap="square" lIns="45720" tIns="27432" rIns="45720" bIns="27432" anchor="t">
            <a:spAutoFit/>
          </a:bodyPr>
          <a:lstStyle/>
          <a:p>
            <a:pPr algn="l">
              <a:spcAft>
                <a:spcPts val="0"/>
              </a:spcAft>
            </a:pPr>
            <a:r>
              <a:rPr sz="1500" b="1" i="0">
                <a:solidFill>
                  <a:srgbClr val="FF7A7A"/>
                </a:solidFill>
                <a:latin typeface="Calibri"/>
              </a:rPr>
              <a:t>Over-trust in AI output</a:t>
            </a:r>
          </a:p>
        </p:txBody>
      </p:sp>
      <p:sp>
        <p:nvSpPr>
          <p:cNvPr id="20" name="TextBox 19"/>
          <p:cNvSpPr txBox="1"/>
          <p:nvPr/>
        </p:nvSpPr>
        <p:spPr>
          <a:xfrm>
            <a:off x="6812280" y="5129783"/>
            <a:ext cx="4709160"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MITIGATION</a:t>
            </a:r>
          </a:p>
        </p:txBody>
      </p:sp>
      <p:sp>
        <p:nvSpPr>
          <p:cNvPr id="21" name="TextBox 20"/>
          <p:cNvSpPr txBox="1"/>
          <p:nvPr/>
        </p:nvSpPr>
        <p:spPr>
          <a:xfrm>
            <a:off x="6812280" y="5385816"/>
            <a:ext cx="4709160" cy="68580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Engine-only numbers, hard veto, labels, human confirmation.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8151</Words>
  <Application>Microsoft Macintosh PowerPoint</Application>
  <PresentationFormat>Widescreen</PresentationFormat>
  <Paragraphs>742</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Century Gothic</vt:lpstr>
      <vt:lpstr>Google Sans Flex</vt:lpstr>
      <vt:lpstr>Google Sans Flex Medium</vt:lpstr>
      <vt:lpstr>Google Sans Flex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Rachit Gupta (QCJ R)</cp:lastModifiedBy>
  <cp:revision>4</cp:revision>
  <dcterms:created xsi:type="dcterms:W3CDTF">2013-01-27T09:14:16Z</dcterms:created>
  <dcterms:modified xsi:type="dcterms:W3CDTF">2026-10-18T11:59:35Z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Theme:10</vt:lpwstr>
  </property>
  <property fmtid="{D5CDD505-2E9C-101B-9397-08002B2CF9AE}" pid="3" name="ClassificationContentMarkingFooterText">
    <vt:lpwstr>General</vt:lpwstr>
  </property>
  <property fmtid="{D5CDD505-2E9C-101B-9397-08002B2CF9AE}" pid="4" name="ClassificationContentMarkingHeaderLocations">
    <vt:lpwstr>Office Theme:9</vt:lpwstr>
  </property>
  <property fmtid="{D5CDD505-2E9C-101B-9397-08002B2CF9AE}" pid="5" name="ClassificationContentMarkingHeaderText">
    <vt:lpwstr>General</vt:lpwstr>
  </property>
  <property fmtid="{D5CDD505-2E9C-101B-9397-08002B2CF9AE}" pid="6" name="MSIP_Label_55818d02-8d25-4bb9-b27c-e4db64670887_Enabled">
    <vt:lpwstr>true</vt:lpwstr>
  </property>
  <property fmtid="{D5CDD505-2E9C-101B-9397-08002B2CF9AE}" pid="7" name="MSIP_Label_55818d02-8d25-4bb9-b27c-e4db64670887_SetDate">
    <vt:lpwstr>2026-10-18T11:58:22Z</vt:lpwstr>
  </property>
  <property fmtid="{D5CDD505-2E9C-101B-9397-08002B2CF9AE}" pid="8" name="MSIP_Label_55818d02-8d25-4bb9-b27c-e4db64670887_Method">
    <vt:lpwstr>Privileged</vt:lpwstr>
  </property>
  <property fmtid="{D5CDD505-2E9C-101B-9397-08002B2CF9AE}" pid="9" name="MSIP_Label_55818d02-8d25-4bb9-b27c-e4db64670887_Name">
    <vt:lpwstr>55818d02-8d25-4bb9-b27c-e4db64670887</vt:lpwstr>
  </property>
  <property fmtid="{D5CDD505-2E9C-101B-9397-08002B2CF9AE}" pid="10" name="MSIP_Label_55818d02-8d25-4bb9-b27c-e4db64670887_SiteId">
    <vt:lpwstr>a7f35688-9c00-4d5e-ba41-29f146377ab0</vt:lpwstr>
  </property>
  <property fmtid="{D5CDD505-2E9C-101B-9397-08002B2CF9AE}" pid="11" name="MSIP_Label_55818d02-8d25-4bb9-b27c-e4db64670887_ActionId">
    <vt:lpwstr>e1def07a-fa9a-49db-b2a0-942f648085d1</vt:lpwstr>
  </property>
  <property fmtid="{D5CDD505-2E9C-101B-9397-08002B2CF9AE}" pid="12" name="MSIP_Label_55818d02-8d25-4bb9-b27c-e4db64670887_ContentBits">
    <vt:lpwstr>3</vt:lpwstr>
  </property>
  <property fmtid="{D5CDD505-2E9C-101B-9397-08002B2CF9AE}" pid="13" name="MSIP_Label_55818d02-8d25-4bb9-b27c-e4db64670887_Tag">
    <vt:lpwstr>50, 0, 1, 1</vt:lpwstr>
  </property>
</Properties>
</file>